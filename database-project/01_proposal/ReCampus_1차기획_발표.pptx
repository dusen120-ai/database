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bd8b729b-2e3d-78b8-0e50-fc02c083ab12}">
          <p14:sldIdLst>
            <p14:sldId id="256"/>
          </p14:sldIdLst>
        </p14:section>
        <p14:section name="기획" id="{403bfd8f-4127-ffed-4a20-fa10318498ca}">
          <p14:sldIdLst>
            <p14:sldId id="257"/>
            <p14:sldId id="258"/>
            <p14:sldId id="259"/>
            <p14:sldId id="260"/>
          </p14:sldIdLst>
        </p14:section>
        <p14:section name="기능과 데이터" id="{bc5db6a9-e213-e4dd-296e-f17b221c969d}">
          <p14:sldIdLst>
            <p14:sldId id="261"/>
            <p14:sldId id="262"/>
            <p14:sldId id="263"/>
            <p14:sldId id="264"/>
            <p14:sldId id="265"/>
          </p14:sldIdLst>
        </p14:section>
        <p14:section name="계획" id="{8533ea79-b10f-b4b6-bd59-fa4364a4ec43}">
          <p14:sldIdLst>
            <p14:sldId id="266"/>
          </p14:sldIdLst>
        </p14:section>
        <p14:section name="마무리" id="{81dc7e07-bbfb-db2b-74ca-479ea1324ab3}">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이번 학기 데이터베이스 프로젝트로 '다시, 캠퍼스'를 기획한 이연주입니다. 다시, 캠퍼스는 같은 학교 학생들끼리 물건을 사고팔고, 무료로 나누고, 판매 금액의 일부를 기부까지 할 수 있는 캠퍼스 중고·나눔 거래 플랫폼입니다.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해결하고 싶은 문제입니다. 졸업이나 이사철이 되면 멀쩡한 물건이 대량으로 버려집니다. 기존 중고앱은 지역 단위라 같은 학교 학생을 찾기 어렵고, 전공 서적처럼 학교 안에서만 수요가 있는 물건은 거래가 잘 안 됩니다. 커뮤니티에 올라오는 나눔 글은 흩어져 있고 기록도 남지 않습니다. 마지막으로 기부나 나눔은 판매자 입장에서는 손해이기 때문에 보상이 없으면 꾸준히 참여하기 어렵습니다. 그래서 거래, 나눔, 기부를 하나의 데이터 흐름으로 연결하는 서비스를 기획했습니다.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프로젝트 주제입니다. 다시, 캠퍼스는 학교 이메일로 인증한 학생만 쓰는 교내 거래 서비스입니다. 상품을 올릴 때 일반 판매, 무료 나눔, 기부 연계 판매 중 하나를 고릅니다. 기부 연계 판매를 고르면 기부처와 기부 비율을 정하고, 거래가 끝나면 기부 내역이 자동으로 기록됩니다.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비즈니스 모델입니다. 거래가 완료되면 기부 연계 상품은 판매금에 기부 비율을 곱한 금액이 기부 내역으로 기록됩니다. 그리고 구매자 후기까지 등록되면 판매자에게 나눔 포인트가 지급됩니다. 후기 이후에 지급하는 이유는 허위 거래로 포인트를 쌓는 것을 막기 위해서입니다. 포인트는 기부액의 10퍼센트, 무료 나눔은 건당 100포인트이고, 제휴 매장 쿠폰이나 학생회 굿즈로 교환할 수 있습니다. 개인 거래 수수료는 받지 않고, 학생회나 학교 ESG 부서에 재사용량과 기부액 통계를 제공하는 방식으로 운영을 이어가려고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주요 사용자는 네 종류입니다. 물건을 처분하려는 판매자와 나눔자, 저렴한 물건이 필요한 구매자와 신입생, 신고와 기부처, 리워드를 관리하는 관리자, 그리고 기부 내역을 확인하는 기부처입니다. 같은 학생이 판매자이면서 구매자일 수 있기 때문에 회원 테이블은 하나로 두고, 역할은 거래 관계로 구분합니다.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기능은 여덟 가지입니다. 회원 인증, 상품 CRUD, 검색 필터 정렬, 찜과 채팅, 거래 확정과 기부 기록, 나눔 포인트, 후기와 신고, 그리고 통계 대시보드입니다. 이 중 주황색으로 표시한 거래 확정과 나눔 포인트가 이 서비스만의 특징이고, 다음 장에서 데이터가 어떻게 흐르는지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거래 한 건이 진행되면서 데이터가 어떻게 쌓이는지 보여드리는 장입니다. 상품 등록, 채팅 문의, 거래 확정, 후기, 포인트 적립, 리워드 교환까지 단계마다 다른 테이블에 기록됩니다. 특히 거래 확정과 리워드 교환은 여러 테이블을 동시에 바꾸기 때문에 트랜잭션으로 묶어서, 중간에 실패하면 전체를 되돌리도록 설계할 계획입니다.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테이블은 17개이고, 회원과 기준정보, 상품, 소통과 거래, 기부, 포인트 다섯 영역으로 나눴습니다. 개수를 맞추려고 만든 테이블은 없습니다. 예를 들어 상품 사진은 상품마다 개수가 달라서 별도 테이블로 분리했고, 회원과 상품의 찜, 회원과 리워드의 교환은 다대다 관계라서 중간 테이블로 풀었습니다. 1차 기획 단계라서 이후 정규화하면서 수정할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테이블 아홉 개의 관계입니다. 상품 하나는 최대 한 번만 거래되기 때문에 item과 trade는 일대 영 또는 일 관계이고, trade.item_id에 UNIQUE 제약을 겁니다. 기부는 기부 연계 상품일 때만 생기므로 trade와 donation도 일대 영 또는 일입니다. 오른쪽은 설계 포인트 세 가지입니다. 희망가와 실제 거래가를 분리했고, 기부액은 거래 시점의 값으로 저장했고, 포인트는 잔액 대신 모든 변동을 기록하는 원장 방식으로 설계했습니다.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수업에서 배운 SQL을 어떻게 활용할지 정리했습니다. 기부처별 누적 기부액은 LEFT JOIN과 GROUP BY로, 찜은 많은데 안 팔린 상품은 NOT EXISTS 서브쿼리와 HAVING으로, 포인트 랭킹은 CASE를 쓴 조건부 집계로 구합니다. 오른쪽 예시는 기부처별 누적 기부액 쿼리인데, LEFT JOIN을 써서 아직 기부를 못 받은 기부처도 0원으로 나오게 했습니다. 기획안에 있는 SQL 예시 여섯 개는 PostgreSQL에서 직접 실행해서 확인했습니다.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향후 구현 계획입니다. 지금은 1단계 기획을 마친 상태이고, 다음으로 ERD를 확정하고 정규화와 제약조건을 정한 뒤 schema.sql을 작성합니다. 이어서 샘플 데이터를 만들고, CRUD와 통계 쿼리를 구현한 다음, 웹 화면과 연동합니다. 데이터베이스는 수업 실습 환경과 같은 PostgreSQL을 쓰고, 생성형 AI 바이브코딩을 활용해서 구현할 계획입니다. 모든 결과물은 GitHub 레포지토리에서 관리합니다.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다시, 캠퍼스는 버려질 물건을 다음 학생에게 연결하고, 그 과정에서 기부와 나눔이 자연스럽게 이어지도록 하는 서비스입니다. 들어주셔서 감사합니다.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6949440" cy="457200"/>
          </a:xfrm>
          <a:prstGeom prst="rect">
            <a:avLst/>
          </a:prstGeom>
          <a:noFill/>
          <a:ln/>
        </p:spPr>
        <p:txBody>
          <a:bodyPr wrap="square" rtlCol="0"/>
          <a:lstStyle>
            <a:lvl1pPr indent="0" marL="0">
              <a:buNone/>
              <a:defRPr lang="en-US" sz="1600" b="1" dirty="0">
                <a:solidFill>
                  <a:schemeClr val="accent3"/>
                </a:solidFill>
              </a:defRPr>
            </a:lvl1pPr>
          </a:lstStyle>
          <a:p>
            <a:pPr indent="0" marL="0">
              <a:buNone/>
            </a:pPr>
            <a:endParaRPr lang="en-US" sz="1600" dirty="0"/>
          </a:p>
        </p:txBody>
      </p:sp>
      <p:sp>
        <p:nvSpPr>
          <p:cNvPr id="3" name="Text 0"/>
          <p:cNvSpPr/>
          <p:nvPr>
            <p:ph idx="101" type="title" hasCustomPrompt="1"/>
          </p:nvPr>
        </p:nvSpPr>
        <p:spPr>
          <a:xfrm>
            <a:off x="731520" y="2103120"/>
            <a:ext cx="6949440" cy="128016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731520" y="3474720"/>
            <a:ext cx="6949440" cy="109728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63040"/>
            <a:ext cx="6949440" cy="457200"/>
          </a:xfrm>
          <a:prstGeom prst="rect">
            <a:avLst/>
          </a:prstGeom>
          <a:noFill/>
          <a:ln/>
        </p:spPr>
        <p:txBody>
          <a:bodyPr wrap="square" rtlCol="0"/>
          <a:lstStyle>
            <a:lvl1pPr indent="0" marL="0">
              <a:buNone/>
              <a:defRPr lang="en-US" sz="1600" b="1" dirty="0">
                <a:solidFill>
                  <a:schemeClr val="accent3"/>
                </a:solidFill>
              </a:defRPr>
            </a:lvl1pPr>
          </a:lstStyle>
          <a:p>
            <a:pPr indent="0" marL="0">
              <a:buNone/>
            </a:pPr>
            <a:endParaRPr lang="en-US" sz="1600" dirty="0"/>
          </a:p>
        </p:txBody>
      </p:sp>
      <p:sp>
        <p:nvSpPr>
          <p:cNvPr id="3" name="Text 0"/>
          <p:cNvSpPr/>
          <p:nvPr>
            <p:ph idx="101" type="title" hasCustomPrompt="1"/>
          </p:nvPr>
        </p:nvSpPr>
        <p:spPr>
          <a:xfrm>
            <a:off x="731520" y="2011680"/>
            <a:ext cx="6949440" cy="219456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4" name="Text 0"/>
          <p:cNvSpPr/>
          <p:nvPr>
            <p:ph idx="102" type="body" hasCustomPrompt="1"/>
          </p:nvPr>
        </p:nvSpPr>
        <p:spPr>
          <a:xfrm>
            <a:off x="731520" y="4389120"/>
            <a:ext cx="6949440" cy="73152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65760"/>
          </a:xfrm>
          <a:prstGeom prst="rect">
            <a:avLst/>
          </a:prstGeom>
          <a:noFill/>
          <a:ln/>
        </p:spPr>
        <p:txBody>
          <a:bodyPr wrap="square" rtlCol="0"/>
          <a:lstStyle>
            <a:lvl1pPr indent="0" marL="0">
              <a:buNone/>
              <a:defRPr lang="en-US" sz="1400" b="1"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548640" y="685800"/>
            <a:ext cx="11064240"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B8C"/>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B8C"/>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4.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4.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6949440" cy="457200"/>
          </a:xfrm>
          <a:prstGeom prst="rect">
            <a:avLst/>
          </a:prstGeom>
          <a:noFill/>
          <a:ln/>
        </p:spPr>
        <p:txBody>
          <a:bodyPr wrap="square" lIns="0" tIns="0" rIns="0" bIns="0" rtlCol="0"/>
          <a:lstStyle/>
          <a:p>
            <a:pPr indent="0" marL="0">
              <a:buNone/>
            </a:pPr>
            <a:r>
              <a:rPr lang="en-US" sz="1600" b="1" dirty="0">
                <a:solidFill>
                  <a:schemeClr val="accent3"/>
                </a:solidFill>
              </a:rPr>
              <a:t>데이터베이스 프로젝트 · 1차 기획 발표</a:t>
            </a:r>
            <a:endParaRPr lang="en-US" sz="1600" dirty="0"/>
          </a:p>
        </p:txBody>
      </p:sp>
      <p:sp>
        <p:nvSpPr>
          <p:cNvPr id="3" name="Text 0"/>
          <p:cNvSpPr/>
          <p:nvPr>
            <p:ph idx="101" type="title" hasCustomPrompt="1"/>
          </p:nvPr>
        </p:nvSpPr>
        <p:spPr>
          <a:xfrm>
            <a:off x="731520" y="2103120"/>
            <a:ext cx="6949440" cy="1280160"/>
          </a:xfrm>
          <a:prstGeom prst="rect">
            <a:avLst/>
          </a:prstGeom>
          <a:noFill/>
          <a:ln/>
        </p:spPr>
        <p:txBody>
          <a:bodyPr wrap="square" lIns="0" tIns="0" rIns="0" bIns="0" rtlCol="0"/>
          <a:lstStyle/>
          <a:p>
            <a:pPr algn="l" indent="0" marL="0">
              <a:buNone/>
            </a:pPr>
            <a:r>
              <a:rPr lang="en-US" sz="5400" b="1" dirty="0">
                <a:solidFill>
                  <a:schemeClr val="bg1"/>
                </a:solidFill>
              </a:rPr>
              <a:t>다시, 캠퍼스</a:t>
            </a:r>
            <a:endParaRPr lang="en-US" sz="5400" dirty="0"/>
          </a:p>
        </p:txBody>
      </p:sp>
      <p:sp>
        <p:nvSpPr>
          <p:cNvPr id="4" name="Text 0"/>
          <p:cNvSpPr/>
          <p:nvPr>
            <p:ph idx="102" type="body" hasCustomPrompt="1"/>
          </p:nvPr>
        </p:nvSpPr>
        <p:spPr>
          <a:xfrm>
            <a:off x="731520" y="3474720"/>
            <a:ext cx="6949440" cy="1097280"/>
          </a:xfrm>
          <a:prstGeom prst="rect">
            <a:avLst/>
          </a:prstGeom>
          <a:noFill/>
          <a:ln/>
        </p:spPr>
        <p:txBody>
          <a:bodyPr wrap="square" lIns="0" tIns="0" rIns="0" bIns="0" rtlCol="0" anchor="t"/>
          <a:lstStyle/>
          <a:p>
            <a:pPr indent="0" marL="0">
              <a:buNone/>
            </a:pPr>
            <a:r>
              <a:rPr lang="en-US" sz="2000" b="1" dirty="0">
                <a:solidFill>
                  <a:schemeClr val="bg2"/>
                </a:solidFill>
              </a:rPr>
              <a:t>ReCampus</a:t>
            </a:r>
            <a:endParaRPr lang="en-US" sz="2000" dirty="0"/>
          </a:p>
          <a:p>
            <a:pPr indent="0" marL="0">
              <a:buNone/>
            </a:pPr>
            <a:r>
              <a:rPr lang="en-US" sz="2000" dirty="0">
                <a:solidFill>
                  <a:schemeClr val="bg2"/>
                </a:solidFill>
              </a:rPr>
              <a:t>기부 연계형 캠퍼스 중고·나눔 거래 플랫폼</a:t>
            </a:r>
            <a:endParaRPr lang="en-US" sz="2000" dirty="0"/>
          </a:p>
        </p:txBody>
      </p:sp>
      <p:sp>
        <p:nvSpPr>
          <p:cNvPr id="5" name="Text 3"/>
          <p:cNvSpPr txBox="1"/>
          <p:nvPr/>
        </p:nvSpPr>
        <p:spPr>
          <a:xfrm>
            <a:off x="731520" y="5669280"/>
            <a:ext cx="4572000" cy="365760"/>
          </a:xfrm>
          <a:prstGeom prst="rect">
            <a:avLst/>
          </a:prstGeom>
          <a:noFill/>
          <a:ln/>
        </p:spPr>
        <p:txBody>
          <a:bodyPr wrap="square" lIns="0" tIns="0" rIns="0" bIns="0" rtlCol="0" anchor="t"/>
          <a:lstStyle/>
          <a:p>
            <a:pPr indent="0" marL="0">
              <a:buNone/>
            </a:pPr>
            <a:r>
              <a:rPr lang="en-US" sz="1400" dirty="0">
                <a:solidFill>
                  <a:schemeClr val="accent3"/>
                </a:solidFill>
              </a:rPr>
              <a:t>발표자  이연주</a:t>
            </a:r>
            <a:endParaRPr lang="en-US" sz="1400" dirty="0"/>
          </a:p>
        </p:txBody>
      </p:sp>
      <p:sp>
        <p:nvSpPr>
          <p:cNvPr id="6" name="hero-circle"/>
          <p:cNvSpPr/>
          <p:nvPr/>
        </p:nvSpPr>
        <p:spPr>
          <a:xfrm>
            <a:off x="8138160" y="1463040"/>
            <a:ext cx="3291840" cy="3291840"/>
          </a:xfrm>
          <a:prstGeom prst="ellipse">
            <a:avLst/>
          </a:prstGeom>
          <a:solidFill>
            <a:srgbClr val="FFFFFF">
              <a:alpha val="8000"/>
            </a:srgbClr>
          </a:solidFill>
          <a:ln w="25400">
            <a:solidFill>
              <a:schemeClr val="accent3"/>
            </a:solidFill>
            <a:prstDash val="solid"/>
          </a:ln>
        </p:spPr>
      </p:sp>
      <p:pic>
        <p:nvPicPr>
          <p:cNvPr id="7" name="hero-icon" descr="preencoded.png">    </p:cNvPr>
          <p:cNvPicPr>
            <a:picLocks noChangeAspect="1"/>
          </p:cNvPicPr>
          <p:nvPr/>
        </p:nvPicPr>
        <p:blipFill>
          <a:blip r:embed="rId1"/>
          <a:stretch>
            <a:fillRect/>
          </a:stretch>
        </p:blipFill>
        <p:spPr>
          <a:xfrm>
            <a:off x="8869680" y="2194560"/>
            <a:ext cx="1828800" cy="1828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65760"/>
          </a:xfrm>
          <a:prstGeom prst="rect">
            <a:avLst/>
          </a:prstGeom>
          <a:noFill/>
          <a:ln/>
        </p:spPr>
        <p:txBody>
          <a:bodyPr wrap="square" lIns="0" tIns="0" rIns="0" bIns="0" rtlCol="0"/>
          <a:lstStyle/>
          <a:p>
            <a:pPr indent="0" marL="0">
              <a:buNone/>
            </a:pPr>
            <a:r>
              <a:rPr lang="en-US" sz="1400" b="1" dirty="0">
                <a:solidFill>
                  <a:schemeClr val="accent1"/>
                </a:solidFill>
              </a:rPr>
              <a:t>01  프로젝트 목적 · 해결하고자 하는 문제</a:t>
            </a:r>
            <a:endParaRPr lang="en-US" sz="1400" dirty="0"/>
          </a:p>
        </p:txBody>
      </p:sp>
      <p:sp>
        <p:nvSpPr>
          <p:cNvPr id="3" name="Text 0"/>
          <p:cNvSpPr/>
          <p:nvPr>
            <p:ph idx="101"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학기 말마다 멀쩡한 물건이 버려지고 있습니다</a:t>
            </a:r>
            <a:endParaRPr lang="en-US" sz="3000" dirty="0"/>
          </a:p>
        </p:txBody>
      </p:sp>
      <p:sp>
        <p:nvSpPr>
          <p:cNvPr id="4" name="card"/>
          <p:cNvSpPr/>
          <p:nvPr/>
        </p:nvSpPr>
        <p:spPr>
          <a:xfrm>
            <a:off x="548640" y="1691640"/>
            <a:ext cx="2606040" cy="3291840"/>
          </a:xfrm>
          <a:prstGeom prst="roundRect">
            <a:avLst>
              <a:gd name="adj" fmla="val 4211"/>
            </a:avLst>
          </a:prstGeom>
          <a:solidFill>
            <a:schemeClr val="bg2"/>
          </a:solidFill>
          <a:ln w="12700">
            <a:solidFill>
              <a:schemeClr val="bg2"/>
            </a:solidFill>
            <a:prstDash val="solid"/>
          </a:ln>
        </p:spPr>
      </p:sp>
      <p:sp>
        <p:nvSpPr>
          <p:cNvPr id="5" name="icon-circle"/>
          <p:cNvSpPr/>
          <p:nvPr/>
        </p:nvSpPr>
        <p:spPr>
          <a:xfrm>
            <a:off x="822960" y="1965960"/>
            <a:ext cx="731520" cy="731520"/>
          </a:xfrm>
          <a:prstGeom prst="ellipse">
            <a:avLst/>
          </a:prstGeom>
          <a:solidFill>
            <a:schemeClr val="accent1"/>
          </a:solidFill>
          <a:ln w="12700">
            <a:solidFill>
              <a:schemeClr val="accent1"/>
            </a:solidFill>
            <a:prstDash val="solid"/>
          </a:ln>
        </p:spPr>
      </p:sp>
      <p:pic>
        <p:nvPicPr>
          <p:cNvPr id="6" name="icon" descr="preencoded.png">    </p:cNvPr>
          <p:cNvPicPr>
            <a:picLocks noChangeAspect="1"/>
          </p:cNvPicPr>
          <p:nvPr/>
        </p:nvPicPr>
        <p:blipFill>
          <a:blip r:embed="rId1"/>
          <a:stretch>
            <a:fillRect/>
          </a:stretch>
        </p:blipFill>
        <p:spPr>
          <a:xfrm>
            <a:off x="1005840" y="2148840"/>
            <a:ext cx="365760" cy="365760"/>
          </a:xfrm>
          <a:prstGeom prst="rect">
            <a:avLst/>
          </a:prstGeom>
        </p:spPr>
      </p:pic>
      <p:sp>
        <p:nvSpPr>
          <p:cNvPr id="7" name="Text 4"/>
          <p:cNvSpPr txBox="1"/>
          <p:nvPr/>
        </p:nvSpPr>
        <p:spPr>
          <a:xfrm>
            <a:off x="822960" y="2880360"/>
            <a:ext cx="2057400" cy="411480"/>
          </a:xfrm>
          <a:prstGeom prst="rect">
            <a:avLst/>
          </a:prstGeom>
          <a:noFill/>
          <a:ln/>
        </p:spPr>
        <p:txBody>
          <a:bodyPr wrap="square" lIns="0" tIns="0" rIns="0" bIns="0" rtlCol="0" anchor="t"/>
          <a:lstStyle/>
          <a:p>
            <a:pPr indent="0" marL="0">
              <a:buNone/>
            </a:pPr>
            <a:r>
              <a:rPr lang="en-US" sz="1700" b="1" dirty="0">
                <a:solidFill>
                  <a:schemeClr val="tx1"/>
                </a:solidFill>
              </a:rPr>
              <a:t>학기 말 대량 폐기</a:t>
            </a:r>
            <a:endParaRPr lang="en-US" sz="1700" dirty="0"/>
          </a:p>
        </p:txBody>
      </p:sp>
      <p:sp>
        <p:nvSpPr>
          <p:cNvPr id="8" name="Text 5"/>
          <p:cNvSpPr txBox="1"/>
          <p:nvPr/>
        </p:nvSpPr>
        <p:spPr>
          <a:xfrm>
            <a:off x="822960" y="3337560"/>
            <a:ext cx="2057400" cy="1554480"/>
          </a:xfrm>
          <a:prstGeom prst="rect">
            <a:avLst/>
          </a:prstGeom>
          <a:noFill/>
          <a:ln/>
        </p:spPr>
        <p:txBody>
          <a:bodyPr wrap="square" lIns="0" tIns="0" rIns="0" bIns="0" rtlCol="0" anchor="t"/>
          <a:lstStyle/>
          <a:p>
            <a:pPr indent="0" marL="0">
              <a:buNone/>
            </a:pPr>
            <a:r>
              <a:rPr lang="en-US" sz="1400" dirty="0">
                <a:solidFill>
                  <a:schemeClr val="tx1"/>
                </a:solidFill>
              </a:rPr>
              <a:t>졸업·휴학·기숙사 퇴사·이사철마다 책, 가전, 가구가 한꺼번에 버려집니다.</a:t>
            </a:r>
            <a:endParaRPr lang="en-US" sz="1400" dirty="0"/>
          </a:p>
        </p:txBody>
      </p:sp>
      <p:sp>
        <p:nvSpPr>
          <p:cNvPr id="9" name="card"/>
          <p:cNvSpPr/>
          <p:nvPr/>
        </p:nvSpPr>
        <p:spPr>
          <a:xfrm>
            <a:off x="3364992" y="1691640"/>
            <a:ext cx="2606040" cy="3291840"/>
          </a:xfrm>
          <a:prstGeom prst="roundRect">
            <a:avLst>
              <a:gd name="adj" fmla="val 4211"/>
            </a:avLst>
          </a:prstGeom>
          <a:solidFill>
            <a:schemeClr val="bg2"/>
          </a:solidFill>
          <a:ln w="12700">
            <a:solidFill>
              <a:schemeClr val="bg2"/>
            </a:solidFill>
            <a:prstDash val="solid"/>
          </a:ln>
        </p:spPr>
      </p:sp>
      <p:sp>
        <p:nvSpPr>
          <p:cNvPr id="10" name="icon-circle"/>
          <p:cNvSpPr/>
          <p:nvPr/>
        </p:nvSpPr>
        <p:spPr>
          <a:xfrm>
            <a:off x="3639312" y="1965960"/>
            <a:ext cx="731520" cy="731520"/>
          </a:xfrm>
          <a:prstGeom prst="ellipse">
            <a:avLst/>
          </a:prstGeom>
          <a:solidFill>
            <a:schemeClr val="accent1"/>
          </a:solidFill>
          <a:ln w="12700">
            <a:solidFill>
              <a:schemeClr val="accent1"/>
            </a:solidFill>
            <a:prstDash val="solid"/>
          </a:ln>
        </p:spPr>
      </p:sp>
      <p:pic>
        <p:nvPicPr>
          <p:cNvPr id="11" name="icon" descr="preencoded.png">    </p:cNvPr>
          <p:cNvPicPr>
            <a:picLocks noChangeAspect="1"/>
          </p:cNvPicPr>
          <p:nvPr/>
        </p:nvPicPr>
        <p:blipFill>
          <a:blip r:embed="rId2"/>
          <a:stretch>
            <a:fillRect/>
          </a:stretch>
        </p:blipFill>
        <p:spPr>
          <a:xfrm>
            <a:off x="3822192" y="2148840"/>
            <a:ext cx="365760" cy="365760"/>
          </a:xfrm>
          <a:prstGeom prst="rect">
            <a:avLst/>
          </a:prstGeom>
        </p:spPr>
      </p:pic>
      <p:sp>
        <p:nvSpPr>
          <p:cNvPr id="12" name="Text 8"/>
          <p:cNvSpPr txBox="1"/>
          <p:nvPr/>
        </p:nvSpPr>
        <p:spPr>
          <a:xfrm>
            <a:off x="3639312" y="2880360"/>
            <a:ext cx="2057400" cy="411480"/>
          </a:xfrm>
          <a:prstGeom prst="rect">
            <a:avLst/>
          </a:prstGeom>
          <a:noFill/>
          <a:ln/>
        </p:spPr>
        <p:txBody>
          <a:bodyPr wrap="square" lIns="0" tIns="0" rIns="0" bIns="0" rtlCol="0" anchor="t"/>
          <a:lstStyle/>
          <a:p>
            <a:pPr indent="0" marL="0">
              <a:buNone/>
            </a:pPr>
            <a:r>
              <a:rPr lang="en-US" sz="1700" b="1" dirty="0">
                <a:solidFill>
                  <a:schemeClr val="tx1"/>
                </a:solidFill>
              </a:rPr>
              <a:t>기존 중고앱의 한계</a:t>
            </a:r>
            <a:endParaRPr lang="en-US" sz="1700" dirty="0"/>
          </a:p>
        </p:txBody>
      </p:sp>
      <p:sp>
        <p:nvSpPr>
          <p:cNvPr id="13" name="Text 9"/>
          <p:cNvSpPr txBox="1"/>
          <p:nvPr/>
        </p:nvSpPr>
        <p:spPr>
          <a:xfrm>
            <a:off x="3639312" y="3337560"/>
            <a:ext cx="2057400" cy="1554480"/>
          </a:xfrm>
          <a:prstGeom prst="rect">
            <a:avLst/>
          </a:prstGeom>
          <a:noFill/>
          <a:ln/>
        </p:spPr>
        <p:txBody>
          <a:bodyPr wrap="square" lIns="0" tIns="0" rIns="0" bIns="0" rtlCol="0" anchor="t"/>
          <a:lstStyle/>
          <a:p>
            <a:pPr indent="0" marL="0">
              <a:buNone/>
            </a:pPr>
            <a:r>
              <a:rPr lang="en-US" sz="1400" dirty="0">
                <a:solidFill>
                  <a:schemeClr val="tx1"/>
                </a:solidFill>
              </a:rPr>
              <a:t>지역 단위라 같은 학교 학생을 찾기 어렵고, 전공서처럼 교내 수요만 있는 물건은 거래가 안 됩니다.</a:t>
            </a:r>
            <a:endParaRPr lang="en-US" sz="1400" dirty="0"/>
          </a:p>
        </p:txBody>
      </p:sp>
      <p:sp>
        <p:nvSpPr>
          <p:cNvPr id="14" name="card"/>
          <p:cNvSpPr/>
          <p:nvPr/>
        </p:nvSpPr>
        <p:spPr>
          <a:xfrm>
            <a:off x="6181344" y="1691640"/>
            <a:ext cx="2606040" cy="3291840"/>
          </a:xfrm>
          <a:prstGeom prst="roundRect">
            <a:avLst>
              <a:gd name="adj" fmla="val 4211"/>
            </a:avLst>
          </a:prstGeom>
          <a:solidFill>
            <a:schemeClr val="bg2"/>
          </a:solidFill>
          <a:ln w="12700">
            <a:solidFill>
              <a:schemeClr val="bg2"/>
            </a:solidFill>
            <a:prstDash val="solid"/>
          </a:ln>
        </p:spPr>
      </p:sp>
      <p:sp>
        <p:nvSpPr>
          <p:cNvPr id="15" name="icon-circle"/>
          <p:cNvSpPr/>
          <p:nvPr/>
        </p:nvSpPr>
        <p:spPr>
          <a:xfrm>
            <a:off x="6455664" y="1965960"/>
            <a:ext cx="731520" cy="731520"/>
          </a:xfrm>
          <a:prstGeom prst="ellipse">
            <a:avLst/>
          </a:prstGeom>
          <a:solidFill>
            <a:schemeClr val="accent1"/>
          </a:solidFill>
          <a:ln w="12700">
            <a:solidFill>
              <a:schemeClr val="accent1"/>
            </a:solidFill>
            <a:prstDash val="solid"/>
          </a:ln>
        </p:spPr>
      </p:sp>
      <p:pic>
        <p:nvPicPr>
          <p:cNvPr id="16" name="icon" descr="preencoded.png">    </p:cNvPr>
          <p:cNvPicPr>
            <a:picLocks noChangeAspect="1"/>
          </p:cNvPicPr>
          <p:nvPr/>
        </p:nvPicPr>
        <p:blipFill>
          <a:blip r:embed="rId3"/>
          <a:stretch>
            <a:fillRect/>
          </a:stretch>
        </p:blipFill>
        <p:spPr>
          <a:xfrm>
            <a:off x="6638544" y="2148840"/>
            <a:ext cx="365760" cy="365760"/>
          </a:xfrm>
          <a:prstGeom prst="rect">
            <a:avLst/>
          </a:prstGeom>
        </p:spPr>
      </p:pic>
      <p:sp>
        <p:nvSpPr>
          <p:cNvPr id="17" name="Text 12"/>
          <p:cNvSpPr txBox="1"/>
          <p:nvPr/>
        </p:nvSpPr>
        <p:spPr>
          <a:xfrm>
            <a:off x="6455664" y="2880360"/>
            <a:ext cx="2057400" cy="411480"/>
          </a:xfrm>
          <a:prstGeom prst="rect">
            <a:avLst/>
          </a:prstGeom>
          <a:noFill/>
          <a:ln/>
        </p:spPr>
        <p:txBody>
          <a:bodyPr wrap="square" lIns="0" tIns="0" rIns="0" bIns="0" rtlCol="0" anchor="t"/>
          <a:lstStyle/>
          <a:p>
            <a:pPr indent="0" marL="0">
              <a:buNone/>
            </a:pPr>
            <a:r>
              <a:rPr lang="en-US" sz="1700" b="1" dirty="0">
                <a:solidFill>
                  <a:schemeClr val="tx1"/>
                </a:solidFill>
              </a:rPr>
              <a:t>흩어진 나눔 글</a:t>
            </a:r>
            <a:endParaRPr lang="en-US" sz="1700" dirty="0"/>
          </a:p>
        </p:txBody>
      </p:sp>
      <p:sp>
        <p:nvSpPr>
          <p:cNvPr id="18" name="Text 13"/>
          <p:cNvSpPr txBox="1"/>
          <p:nvPr/>
        </p:nvSpPr>
        <p:spPr>
          <a:xfrm>
            <a:off x="6455664" y="3337560"/>
            <a:ext cx="2057400" cy="1554480"/>
          </a:xfrm>
          <a:prstGeom prst="rect">
            <a:avLst/>
          </a:prstGeom>
          <a:noFill/>
          <a:ln/>
        </p:spPr>
        <p:txBody>
          <a:bodyPr wrap="square" lIns="0" tIns="0" rIns="0" bIns="0" rtlCol="0" anchor="t"/>
          <a:lstStyle/>
          <a:p>
            <a:pPr indent="0" marL="0">
              <a:buNone/>
            </a:pPr>
            <a:r>
              <a:rPr lang="en-US" sz="1400" dirty="0">
                <a:solidFill>
                  <a:schemeClr val="tx1"/>
                </a:solidFill>
              </a:rPr>
              <a:t>커뮤니티·단톡방의 나눔 글은 찾기 어렵고, 누가 받아 갔는지 기록이 남지 않습니다.</a:t>
            </a:r>
            <a:endParaRPr lang="en-US" sz="1400" dirty="0"/>
          </a:p>
        </p:txBody>
      </p:sp>
      <p:sp>
        <p:nvSpPr>
          <p:cNvPr id="19" name="card"/>
          <p:cNvSpPr/>
          <p:nvPr/>
        </p:nvSpPr>
        <p:spPr>
          <a:xfrm>
            <a:off x="8997696" y="1691640"/>
            <a:ext cx="2606040" cy="3291840"/>
          </a:xfrm>
          <a:prstGeom prst="roundRect">
            <a:avLst>
              <a:gd name="adj" fmla="val 4211"/>
            </a:avLst>
          </a:prstGeom>
          <a:solidFill>
            <a:schemeClr val="bg2"/>
          </a:solidFill>
          <a:ln w="12700">
            <a:solidFill>
              <a:schemeClr val="bg2"/>
            </a:solidFill>
            <a:prstDash val="solid"/>
          </a:ln>
        </p:spPr>
      </p:sp>
      <p:sp>
        <p:nvSpPr>
          <p:cNvPr id="20" name="icon-circle"/>
          <p:cNvSpPr/>
          <p:nvPr/>
        </p:nvSpPr>
        <p:spPr>
          <a:xfrm>
            <a:off x="9272016" y="1965960"/>
            <a:ext cx="731520" cy="731520"/>
          </a:xfrm>
          <a:prstGeom prst="ellipse">
            <a:avLst/>
          </a:prstGeom>
          <a:solidFill>
            <a:schemeClr val="accent2"/>
          </a:solidFill>
          <a:ln w="12700">
            <a:solidFill>
              <a:schemeClr val="accent2"/>
            </a:solidFill>
            <a:prstDash val="solid"/>
          </a:ln>
        </p:spPr>
      </p:sp>
      <p:pic>
        <p:nvPicPr>
          <p:cNvPr id="21" name="icon" descr="preencoded.png">    </p:cNvPr>
          <p:cNvPicPr>
            <a:picLocks noChangeAspect="1"/>
          </p:cNvPicPr>
          <p:nvPr/>
        </p:nvPicPr>
        <p:blipFill>
          <a:blip r:embed="rId4"/>
          <a:stretch>
            <a:fillRect/>
          </a:stretch>
        </p:blipFill>
        <p:spPr>
          <a:xfrm>
            <a:off x="9454896" y="2148840"/>
            <a:ext cx="365760" cy="365760"/>
          </a:xfrm>
          <a:prstGeom prst="rect">
            <a:avLst/>
          </a:prstGeom>
        </p:spPr>
      </p:pic>
      <p:sp>
        <p:nvSpPr>
          <p:cNvPr id="22" name="Text 16"/>
          <p:cNvSpPr txBox="1"/>
          <p:nvPr/>
        </p:nvSpPr>
        <p:spPr>
          <a:xfrm>
            <a:off x="9272016" y="2880360"/>
            <a:ext cx="2057400" cy="411480"/>
          </a:xfrm>
          <a:prstGeom prst="rect">
            <a:avLst/>
          </a:prstGeom>
          <a:noFill/>
          <a:ln/>
        </p:spPr>
        <p:txBody>
          <a:bodyPr wrap="square" lIns="0" tIns="0" rIns="0" bIns="0" rtlCol="0" anchor="t"/>
          <a:lstStyle/>
          <a:p>
            <a:pPr indent="0" marL="0">
              <a:buNone/>
            </a:pPr>
            <a:r>
              <a:rPr lang="en-US" sz="1700" b="1" dirty="0">
                <a:solidFill>
                  <a:schemeClr val="tx1"/>
                </a:solidFill>
              </a:rPr>
              <a:t>나눔 동기 부족</a:t>
            </a:r>
            <a:endParaRPr lang="en-US" sz="1700" dirty="0"/>
          </a:p>
        </p:txBody>
      </p:sp>
      <p:sp>
        <p:nvSpPr>
          <p:cNvPr id="23" name="Text 17"/>
          <p:cNvSpPr txBox="1"/>
          <p:nvPr/>
        </p:nvSpPr>
        <p:spPr>
          <a:xfrm>
            <a:off x="9272016" y="3337560"/>
            <a:ext cx="2057400" cy="1554480"/>
          </a:xfrm>
          <a:prstGeom prst="rect">
            <a:avLst/>
          </a:prstGeom>
          <a:noFill/>
          <a:ln/>
        </p:spPr>
        <p:txBody>
          <a:bodyPr wrap="square" lIns="0" tIns="0" rIns="0" bIns="0" rtlCol="0" anchor="t"/>
          <a:lstStyle/>
          <a:p>
            <a:pPr indent="0" marL="0">
              <a:buNone/>
            </a:pPr>
            <a:r>
              <a:rPr lang="en-US" sz="1400" dirty="0">
                <a:solidFill>
                  <a:schemeClr val="tx1"/>
                </a:solidFill>
              </a:rPr>
              <a:t>기부는 번거롭고, 나누는 만큼 판매자는 손해라 보상이 없으면 참여가 이어지지 않습니다.</a:t>
            </a:r>
            <a:endParaRPr lang="en-US" sz="1400" dirty="0"/>
          </a:p>
        </p:txBody>
      </p:sp>
      <p:sp>
        <p:nvSpPr>
          <p:cNvPr id="24" name="card"/>
          <p:cNvSpPr/>
          <p:nvPr/>
        </p:nvSpPr>
        <p:spPr>
          <a:xfrm>
            <a:off x="548640" y="5303520"/>
            <a:ext cx="11064240" cy="868680"/>
          </a:xfrm>
          <a:prstGeom prst="roundRect">
            <a:avLst>
              <a:gd name="adj" fmla="val 12632"/>
            </a:avLst>
          </a:prstGeom>
          <a:solidFill>
            <a:schemeClr val="tx2"/>
          </a:solidFill>
          <a:ln w="12700">
            <a:solidFill>
              <a:schemeClr val="tx2"/>
            </a:solidFill>
            <a:prstDash val="solid"/>
          </a:ln>
        </p:spPr>
      </p:sp>
      <p:sp>
        <p:nvSpPr>
          <p:cNvPr id="25" name="Text 19"/>
          <p:cNvSpPr txBox="1"/>
          <p:nvPr/>
        </p:nvSpPr>
        <p:spPr>
          <a:xfrm>
            <a:off x="868680" y="5303520"/>
            <a:ext cx="10515600" cy="868680"/>
          </a:xfrm>
          <a:prstGeom prst="rect">
            <a:avLst/>
          </a:prstGeom>
          <a:noFill/>
          <a:ln/>
        </p:spPr>
        <p:txBody>
          <a:bodyPr wrap="square" lIns="0" tIns="0" rIns="0" bIns="0" rtlCol="0" anchor="ctr"/>
          <a:lstStyle/>
          <a:p>
            <a:pPr indent="0" marL="0">
              <a:buNone/>
            </a:pPr>
            <a:r>
              <a:rPr lang="en-US" sz="1800" b="1" dirty="0">
                <a:solidFill>
                  <a:schemeClr val="accent3"/>
                </a:solidFill>
              </a:rPr>
              <a:t>해결 방향  </a:t>
            </a:r>
            <a:pPr indent="0" marL="0">
              <a:buNone/>
            </a:pPr>
            <a:r>
              <a:rPr lang="en-US" sz="1800" dirty="0">
                <a:solidFill>
                  <a:schemeClr val="bg1"/>
                </a:solidFill>
              </a:rPr>
              <a:t>학교 인증 기반 거래 + 나눔 + 기부를 하나의 데이터 흐름으로 연결합니다</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B8C"/>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65760"/>
          </a:xfrm>
          <a:prstGeom prst="rect">
            <a:avLst/>
          </a:prstGeom>
          <a:noFill/>
          <a:ln/>
        </p:spPr>
        <p:txBody>
          <a:bodyPr wrap="square" lIns="0" tIns="0" rIns="0" bIns="0" rtlCol="0"/>
          <a:lstStyle/>
          <a:p>
            <a:pPr indent="0" marL="0">
              <a:buNone/>
            </a:pPr>
            <a:r>
              <a:rPr lang="en-US" sz="1400" b="1" dirty="0">
                <a:solidFill>
                  <a:schemeClr val="accent1"/>
                </a:solidFill>
              </a:rPr>
              <a:t>02  프로젝트 주제</a:t>
            </a:r>
            <a:endParaRPr lang="en-US" sz="1400" dirty="0"/>
          </a:p>
        </p:txBody>
      </p:sp>
      <p:sp>
        <p:nvSpPr>
          <p:cNvPr id="3" name="Text 0"/>
          <p:cNvSpPr/>
          <p:nvPr>
            <p:ph idx="101"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같은 학교 학생끼리 사고, 팔고, 나누고, 기부합니다</a:t>
            </a:r>
            <a:endParaRPr lang="en-US" sz="3000" dirty="0"/>
          </a:p>
        </p:txBody>
      </p:sp>
      <p:sp>
        <p:nvSpPr>
          <p:cNvPr id="4" name="Text 2"/>
          <p:cNvSpPr txBox="1"/>
          <p:nvPr/>
        </p:nvSpPr>
        <p:spPr>
          <a:xfrm>
            <a:off x="548640" y="1508760"/>
            <a:ext cx="11064240" cy="548640"/>
          </a:xfrm>
          <a:prstGeom prst="rect">
            <a:avLst/>
          </a:prstGeom>
          <a:noFill/>
          <a:ln/>
        </p:spPr>
        <p:txBody>
          <a:bodyPr wrap="square" lIns="0" tIns="0" rIns="0" bIns="0" rtlCol="0" anchor="t"/>
          <a:lstStyle/>
          <a:p>
            <a:pPr indent="0" marL="0">
              <a:buNone/>
            </a:pPr>
            <a:r>
              <a:rPr lang="en-US" sz="1600" dirty="0">
                <a:solidFill>
                  <a:schemeClr val="tx1"/>
                </a:solidFill>
              </a:rPr>
              <a:t>학교 이메일로 인증한 회원만 이용하는 교내 거래 웹 서비스입니다. 상품을 올릴 때 세 가지 거래 방식 중 하나를 고릅니다.</a:t>
            </a:r>
            <a:endParaRPr lang="en-US" sz="1600" dirty="0"/>
          </a:p>
        </p:txBody>
      </p:sp>
      <p:sp>
        <p:nvSpPr>
          <p:cNvPr id="5" name="card"/>
          <p:cNvSpPr/>
          <p:nvPr/>
        </p:nvSpPr>
        <p:spPr>
          <a:xfrm>
            <a:off x="548640" y="2331720"/>
            <a:ext cx="3520440" cy="3566160"/>
          </a:xfrm>
          <a:prstGeom prst="roundRect">
            <a:avLst>
              <a:gd name="adj" fmla="val 3117"/>
            </a:avLst>
          </a:prstGeom>
          <a:solidFill>
            <a:schemeClr val="bg2"/>
          </a:solidFill>
          <a:ln w="12700">
            <a:solidFill>
              <a:schemeClr val="bg2"/>
            </a:solidFill>
            <a:prstDash val="solid"/>
          </a:ln>
        </p:spPr>
      </p:sp>
      <p:sp>
        <p:nvSpPr>
          <p:cNvPr id="6" name="icon-circle"/>
          <p:cNvSpPr/>
          <p:nvPr/>
        </p:nvSpPr>
        <p:spPr>
          <a:xfrm>
            <a:off x="868680" y="2651760"/>
            <a:ext cx="914400" cy="914400"/>
          </a:xfrm>
          <a:prstGeom prst="ellipse">
            <a:avLst/>
          </a:prstGeom>
          <a:solidFill>
            <a:schemeClr val="accent5"/>
          </a:solidFill>
          <a:ln w="12700">
            <a:solidFill>
              <a:schemeClr val="accent5"/>
            </a:solidFill>
            <a:prstDash val="solid"/>
          </a:ln>
        </p:spPr>
      </p:sp>
      <p:pic>
        <p:nvPicPr>
          <p:cNvPr id="7" name="icon" descr="preencoded.png">    </p:cNvPr>
          <p:cNvPicPr>
            <a:picLocks noChangeAspect="1"/>
          </p:cNvPicPr>
          <p:nvPr/>
        </p:nvPicPr>
        <p:blipFill>
          <a:blip r:embed="rId1"/>
          <a:stretch>
            <a:fillRect/>
          </a:stretch>
        </p:blipFill>
        <p:spPr>
          <a:xfrm>
            <a:off x="1097280" y="2880360"/>
            <a:ext cx="457200" cy="457200"/>
          </a:xfrm>
          <a:prstGeom prst="rect">
            <a:avLst/>
          </a:prstGeom>
        </p:spPr>
      </p:pic>
      <p:sp>
        <p:nvSpPr>
          <p:cNvPr id="8" name="Text 5"/>
          <p:cNvSpPr txBox="1"/>
          <p:nvPr/>
        </p:nvSpPr>
        <p:spPr>
          <a:xfrm>
            <a:off x="868680" y="3749040"/>
            <a:ext cx="2880360" cy="457200"/>
          </a:xfrm>
          <a:prstGeom prst="rect">
            <a:avLst/>
          </a:prstGeom>
          <a:noFill/>
          <a:ln/>
        </p:spPr>
        <p:txBody>
          <a:bodyPr wrap="square" lIns="0" tIns="0" rIns="0" bIns="0" rtlCol="0" anchor="t"/>
          <a:lstStyle/>
          <a:p>
            <a:pPr indent="0" marL="0">
              <a:buNone/>
            </a:pPr>
            <a:r>
              <a:rPr lang="en-US" sz="2200" b="1" dirty="0">
                <a:solidFill>
                  <a:schemeClr val="tx1"/>
                </a:solidFill>
              </a:rPr>
              <a:t>일반 판매</a:t>
            </a:r>
            <a:endParaRPr lang="en-US" sz="2200" dirty="0"/>
          </a:p>
        </p:txBody>
      </p:sp>
      <p:sp>
        <p:nvSpPr>
          <p:cNvPr id="9" name="Text 6"/>
          <p:cNvSpPr txBox="1"/>
          <p:nvPr/>
        </p:nvSpPr>
        <p:spPr>
          <a:xfrm>
            <a:off x="868680" y="4206240"/>
            <a:ext cx="2880360" cy="365760"/>
          </a:xfrm>
          <a:prstGeom prst="rect">
            <a:avLst/>
          </a:prstGeom>
          <a:noFill/>
          <a:ln/>
        </p:spPr>
        <p:txBody>
          <a:bodyPr wrap="square" lIns="0" tIns="0" rIns="0" bIns="0" rtlCol="0" anchor="t"/>
          <a:lstStyle/>
          <a:p>
            <a:pPr indent="0" marL="0">
              <a:buNone/>
            </a:pPr>
            <a:r>
              <a:rPr lang="en-US" sz="1500" b="1" dirty="0">
                <a:solidFill>
                  <a:schemeClr val="accent5"/>
                </a:solidFill>
              </a:rPr>
              <a:t>원하는 가격에 판매</a:t>
            </a:r>
            <a:endParaRPr lang="en-US" sz="1500" dirty="0"/>
          </a:p>
        </p:txBody>
      </p:sp>
      <p:sp>
        <p:nvSpPr>
          <p:cNvPr id="10" name="Text 7"/>
          <p:cNvSpPr txBox="1"/>
          <p:nvPr/>
        </p:nvSpPr>
        <p:spPr>
          <a:xfrm>
            <a:off x="868680" y="4663440"/>
            <a:ext cx="2880360" cy="1097280"/>
          </a:xfrm>
          <a:prstGeom prst="rect">
            <a:avLst/>
          </a:prstGeom>
          <a:noFill/>
          <a:ln/>
        </p:spPr>
        <p:txBody>
          <a:bodyPr wrap="square" lIns="0" tIns="0" rIns="0" bIns="0" rtlCol="0" anchor="t"/>
          <a:lstStyle/>
          <a:p>
            <a:pPr indent="0" marL="0">
              <a:buNone/>
            </a:pPr>
            <a:r>
              <a:rPr lang="en-US" sz="1400" dirty="0">
                <a:solidFill>
                  <a:schemeClr val="tx1"/>
                </a:solidFill>
              </a:rPr>
              <a:t>전공서, 자취 용품을 같은 학교 학생에게 교내 지정 장소에서 직접 거래</a:t>
            </a:r>
            <a:endParaRPr lang="en-US" sz="1400" dirty="0"/>
          </a:p>
        </p:txBody>
      </p:sp>
      <p:sp>
        <p:nvSpPr>
          <p:cNvPr id="11" name="card"/>
          <p:cNvSpPr/>
          <p:nvPr/>
        </p:nvSpPr>
        <p:spPr>
          <a:xfrm>
            <a:off x="4320540" y="2331720"/>
            <a:ext cx="3520440" cy="3566160"/>
          </a:xfrm>
          <a:prstGeom prst="roundRect">
            <a:avLst>
              <a:gd name="adj" fmla="val 3117"/>
            </a:avLst>
          </a:prstGeom>
          <a:solidFill>
            <a:schemeClr val="bg2"/>
          </a:solidFill>
          <a:ln w="12700">
            <a:solidFill>
              <a:schemeClr val="bg2"/>
            </a:solidFill>
            <a:prstDash val="solid"/>
          </a:ln>
        </p:spPr>
      </p:sp>
      <p:sp>
        <p:nvSpPr>
          <p:cNvPr id="12" name="icon-circle"/>
          <p:cNvSpPr/>
          <p:nvPr/>
        </p:nvSpPr>
        <p:spPr>
          <a:xfrm>
            <a:off x="4640580" y="2651760"/>
            <a:ext cx="914400" cy="914400"/>
          </a:xfrm>
          <a:prstGeom prst="ellipse">
            <a:avLst/>
          </a:prstGeom>
          <a:solidFill>
            <a:schemeClr val="accent1"/>
          </a:solidFill>
          <a:ln w="12700">
            <a:solidFill>
              <a:schemeClr val="accent1"/>
            </a:solidFill>
            <a:prstDash val="solid"/>
          </a:ln>
        </p:spPr>
      </p:sp>
      <p:pic>
        <p:nvPicPr>
          <p:cNvPr id="13" name="icon" descr="preencoded.png">    </p:cNvPr>
          <p:cNvPicPr>
            <a:picLocks noChangeAspect="1"/>
          </p:cNvPicPr>
          <p:nvPr/>
        </p:nvPicPr>
        <p:blipFill>
          <a:blip r:embed="rId2"/>
          <a:stretch>
            <a:fillRect/>
          </a:stretch>
        </p:blipFill>
        <p:spPr>
          <a:xfrm>
            <a:off x="4869180" y="2880360"/>
            <a:ext cx="457200" cy="457200"/>
          </a:xfrm>
          <a:prstGeom prst="rect">
            <a:avLst/>
          </a:prstGeom>
        </p:spPr>
      </p:pic>
      <p:sp>
        <p:nvSpPr>
          <p:cNvPr id="14" name="Text 10"/>
          <p:cNvSpPr txBox="1"/>
          <p:nvPr/>
        </p:nvSpPr>
        <p:spPr>
          <a:xfrm>
            <a:off x="4640580" y="3749040"/>
            <a:ext cx="2880360" cy="457200"/>
          </a:xfrm>
          <a:prstGeom prst="rect">
            <a:avLst/>
          </a:prstGeom>
          <a:noFill/>
          <a:ln/>
        </p:spPr>
        <p:txBody>
          <a:bodyPr wrap="square" lIns="0" tIns="0" rIns="0" bIns="0" rtlCol="0" anchor="t"/>
          <a:lstStyle/>
          <a:p>
            <a:pPr indent="0" marL="0">
              <a:buNone/>
            </a:pPr>
            <a:r>
              <a:rPr lang="en-US" sz="2200" b="1" dirty="0">
                <a:solidFill>
                  <a:schemeClr val="tx1"/>
                </a:solidFill>
              </a:rPr>
              <a:t>무료 나눔</a:t>
            </a:r>
            <a:endParaRPr lang="en-US" sz="2200" dirty="0"/>
          </a:p>
        </p:txBody>
      </p:sp>
      <p:sp>
        <p:nvSpPr>
          <p:cNvPr id="15" name="Text 11"/>
          <p:cNvSpPr txBox="1"/>
          <p:nvPr/>
        </p:nvSpPr>
        <p:spPr>
          <a:xfrm>
            <a:off x="4640580" y="4206240"/>
            <a:ext cx="2880360" cy="365760"/>
          </a:xfrm>
          <a:prstGeom prst="rect">
            <a:avLst/>
          </a:prstGeom>
          <a:noFill/>
          <a:ln/>
        </p:spPr>
        <p:txBody>
          <a:bodyPr wrap="square" lIns="0" tIns="0" rIns="0" bIns="0" rtlCol="0" anchor="t"/>
          <a:lstStyle/>
          <a:p>
            <a:pPr indent="0" marL="0">
              <a:buNone/>
            </a:pPr>
            <a:r>
              <a:rPr lang="en-US" sz="1500" b="1" dirty="0">
                <a:solidFill>
                  <a:schemeClr val="accent1"/>
                </a:solidFill>
              </a:rPr>
              <a:t>0원으로 필요한 학생에게</a:t>
            </a:r>
            <a:endParaRPr lang="en-US" sz="1500" dirty="0"/>
          </a:p>
        </p:txBody>
      </p:sp>
      <p:sp>
        <p:nvSpPr>
          <p:cNvPr id="16" name="Text 12"/>
          <p:cNvSpPr txBox="1"/>
          <p:nvPr/>
        </p:nvSpPr>
        <p:spPr>
          <a:xfrm>
            <a:off x="4640580" y="4663440"/>
            <a:ext cx="2880360" cy="1097280"/>
          </a:xfrm>
          <a:prstGeom prst="rect">
            <a:avLst/>
          </a:prstGeom>
          <a:noFill/>
          <a:ln/>
        </p:spPr>
        <p:txBody>
          <a:bodyPr wrap="square" lIns="0" tIns="0" rIns="0" bIns="0" rtlCol="0" anchor="t"/>
          <a:lstStyle/>
          <a:p>
            <a:pPr indent="0" marL="0">
              <a:buNone/>
            </a:pPr>
            <a:r>
              <a:rPr lang="en-US" sz="1400" dirty="0">
                <a:solidFill>
                  <a:schemeClr val="tx1"/>
                </a:solidFill>
              </a:rPr>
              <a:t>졸업·이사 때 처분할 물건을 신입생 등 필요한 학생에게 전달</a:t>
            </a:r>
            <a:endParaRPr lang="en-US" sz="1400" dirty="0"/>
          </a:p>
        </p:txBody>
      </p:sp>
      <p:sp>
        <p:nvSpPr>
          <p:cNvPr id="17" name="card"/>
          <p:cNvSpPr/>
          <p:nvPr/>
        </p:nvSpPr>
        <p:spPr>
          <a:xfrm>
            <a:off x="8092440" y="2331720"/>
            <a:ext cx="3520440" cy="3566160"/>
          </a:xfrm>
          <a:prstGeom prst="roundRect">
            <a:avLst>
              <a:gd name="adj" fmla="val 3117"/>
            </a:avLst>
          </a:prstGeom>
          <a:solidFill>
            <a:schemeClr val="bg2"/>
          </a:solidFill>
          <a:ln w="12700">
            <a:solidFill>
              <a:schemeClr val="bg2"/>
            </a:solidFill>
            <a:prstDash val="solid"/>
          </a:ln>
        </p:spPr>
      </p:sp>
      <p:sp>
        <p:nvSpPr>
          <p:cNvPr id="18" name="icon-circle"/>
          <p:cNvSpPr/>
          <p:nvPr/>
        </p:nvSpPr>
        <p:spPr>
          <a:xfrm>
            <a:off x="8412480" y="2651760"/>
            <a:ext cx="914400" cy="914400"/>
          </a:xfrm>
          <a:prstGeom prst="ellipse">
            <a:avLst/>
          </a:prstGeom>
          <a:solidFill>
            <a:schemeClr val="accent2"/>
          </a:solidFill>
          <a:ln w="12700">
            <a:solidFill>
              <a:schemeClr val="accent2"/>
            </a:solidFill>
            <a:prstDash val="solid"/>
          </a:ln>
        </p:spPr>
      </p:sp>
      <p:pic>
        <p:nvPicPr>
          <p:cNvPr id="19" name="icon" descr="preencoded.png">    </p:cNvPr>
          <p:cNvPicPr>
            <a:picLocks noChangeAspect="1"/>
          </p:cNvPicPr>
          <p:nvPr/>
        </p:nvPicPr>
        <p:blipFill>
          <a:blip r:embed="rId3"/>
          <a:stretch>
            <a:fillRect/>
          </a:stretch>
        </p:blipFill>
        <p:spPr>
          <a:xfrm>
            <a:off x="8641080" y="2880360"/>
            <a:ext cx="457200" cy="457200"/>
          </a:xfrm>
          <a:prstGeom prst="rect">
            <a:avLst/>
          </a:prstGeom>
        </p:spPr>
      </p:pic>
      <p:sp>
        <p:nvSpPr>
          <p:cNvPr id="20" name="Text 15"/>
          <p:cNvSpPr txBox="1"/>
          <p:nvPr/>
        </p:nvSpPr>
        <p:spPr>
          <a:xfrm>
            <a:off x="8412480" y="3749040"/>
            <a:ext cx="2880360" cy="457200"/>
          </a:xfrm>
          <a:prstGeom prst="rect">
            <a:avLst/>
          </a:prstGeom>
          <a:noFill/>
          <a:ln/>
        </p:spPr>
        <p:txBody>
          <a:bodyPr wrap="square" lIns="0" tIns="0" rIns="0" bIns="0" rtlCol="0" anchor="t"/>
          <a:lstStyle/>
          <a:p>
            <a:pPr indent="0" marL="0">
              <a:buNone/>
            </a:pPr>
            <a:r>
              <a:rPr lang="en-US" sz="2200" b="1" dirty="0">
                <a:solidFill>
                  <a:schemeClr val="tx1"/>
                </a:solidFill>
              </a:rPr>
              <a:t>기부 연계 판매</a:t>
            </a:r>
            <a:endParaRPr lang="en-US" sz="2200" dirty="0"/>
          </a:p>
        </p:txBody>
      </p:sp>
      <p:sp>
        <p:nvSpPr>
          <p:cNvPr id="21" name="Text 16"/>
          <p:cNvSpPr txBox="1"/>
          <p:nvPr/>
        </p:nvSpPr>
        <p:spPr>
          <a:xfrm>
            <a:off x="8412480" y="4206240"/>
            <a:ext cx="2880360" cy="365760"/>
          </a:xfrm>
          <a:prstGeom prst="rect">
            <a:avLst/>
          </a:prstGeom>
          <a:noFill/>
          <a:ln/>
        </p:spPr>
        <p:txBody>
          <a:bodyPr wrap="square" lIns="0" tIns="0" rIns="0" bIns="0" rtlCol="0" anchor="t"/>
          <a:lstStyle/>
          <a:p>
            <a:pPr indent="0" marL="0">
              <a:buNone/>
            </a:pPr>
            <a:r>
              <a:rPr lang="en-US" sz="1500" b="1" dirty="0">
                <a:solidFill>
                  <a:schemeClr val="accent2"/>
                </a:solidFill>
              </a:rPr>
              <a:t>판매금의 일부를 기부</a:t>
            </a:r>
            <a:endParaRPr lang="en-US" sz="1500" dirty="0"/>
          </a:p>
        </p:txBody>
      </p:sp>
      <p:sp>
        <p:nvSpPr>
          <p:cNvPr id="22" name="Text 17"/>
          <p:cNvSpPr txBox="1"/>
          <p:nvPr/>
        </p:nvSpPr>
        <p:spPr>
          <a:xfrm>
            <a:off x="8412480" y="4663440"/>
            <a:ext cx="2880360" cy="1097280"/>
          </a:xfrm>
          <a:prstGeom prst="rect">
            <a:avLst/>
          </a:prstGeom>
          <a:noFill/>
          <a:ln/>
        </p:spPr>
        <p:txBody>
          <a:bodyPr wrap="square" lIns="0" tIns="0" rIns="0" bIns="0" rtlCol="0" anchor="t"/>
          <a:lstStyle/>
          <a:p>
            <a:pPr indent="0" marL="0">
              <a:buNone/>
            </a:pPr>
            <a:r>
              <a:rPr lang="en-US" sz="1400" dirty="0">
                <a:solidFill>
                  <a:schemeClr val="tx1"/>
                </a:solidFill>
              </a:rPr>
              <a:t>판매 시 기부처와 기부 비율(%)을 선택, 거래가 끝나면 기부 내역이 자동 기록</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B8C"/>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65760"/>
          </a:xfrm>
          <a:prstGeom prst="rect">
            <a:avLst/>
          </a:prstGeom>
          <a:noFill/>
          <a:ln/>
        </p:spPr>
        <p:txBody>
          <a:bodyPr wrap="square" lIns="0" tIns="0" rIns="0" bIns="0" rtlCol="0"/>
          <a:lstStyle/>
          <a:p>
            <a:pPr indent="0" marL="0">
              <a:buNone/>
            </a:pPr>
            <a:r>
              <a:rPr lang="en-US" sz="1400" b="1" dirty="0">
                <a:solidFill>
                  <a:schemeClr val="accent1"/>
                </a:solidFill>
              </a:rPr>
              <a:t>03  비즈니스 모델</a:t>
            </a:r>
            <a:endParaRPr lang="en-US" sz="1400" dirty="0"/>
          </a:p>
        </p:txBody>
      </p:sp>
      <p:sp>
        <p:nvSpPr>
          <p:cNvPr id="3" name="Text 0"/>
          <p:cNvSpPr/>
          <p:nvPr>
            <p:ph idx="101"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나눔과 기부에 포인트로 보상해 참여가 계속되도록 합니다</a:t>
            </a:r>
            <a:endParaRPr lang="en-US" sz="3000" dirty="0"/>
          </a:p>
        </p:txBody>
      </p:sp>
      <p:sp>
        <p:nvSpPr>
          <p:cNvPr id="4" name="icon-circle"/>
          <p:cNvSpPr/>
          <p:nvPr/>
        </p:nvSpPr>
        <p:spPr>
          <a:xfrm>
            <a:off x="1280160" y="1645920"/>
            <a:ext cx="914400" cy="91440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1"/>
          <a:stretch>
            <a:fillRect/>
          </a:stretch>
        </p:blipFill>
        <p:spPr>
          <a:xfrm>
            <a:off x="1508760" y="1874520"/>
            <a:ext cx="457200" cy="457200"/>
          </a:xfrm>
          <a:prstGeom prst="rect">
            <a:avLst/>
          </a:prstGeom>
        </p:spPr>
      </p:pic>
      <p:sp>
        <p:nvSpPr>
          <p:cNvPr id="6" name="Text 3"/>
          <p:cNvSpPr txBox="1"/>
          <p:nvPr/>
        </p:nvSpPr>
        <p:spPr>
          <a:xfrm>
            <a:off x="548640" y="2697480"/>
            <a:ext cx="2377440" cy="411480"/>
          </a:xfrm>
          <a:prstGeom prst="rect">
            <a:avLst/>
          </a:prstGeom>
          <a:noFill/>
          <a:ln/>
        </p:spPr>
        <p:txBody>
          <a:bodyPr wrap="square" lIns="0" tIns="0" rIns="0" bIns="0" rtlCol="0" anchor="t"/>
          <a:lstStyle/>
          <a:p>
            <a:pPr algn="ctr" indent="0" marL="0">
              <a:buNone/>
            </a:pPr>
            <a:r>
              <a:rPr lang="en-US" sz="1800" b="1" dirty="0">
                <a:solidFill>
                  <a:schemeClr val="tx1"/>
                </a:solidFill>
              </a:rPr>
              <a:t>거래 완료</a:t>
            </a:r>
            <a:endParaRPr lang="en-US" sz="1800" dirty="0"/>
          </a:p>
        </p:txBody>
      </p:sp>
      <p:sp>
        <p:nvSpPr>
          <p:cNvPr id="7" name="Text 4"/>
          <p:cNvSpPr txBox="1"/>
          <p:nvPr/>
        </p:nvSpPr>
        <p:spPr>
          <a:xfrm>
            <a:off x="548640" y="3108960"/>
            <a:ext cx="2377440" cy="365760"/>
          </a:xfrm>
          <a:prstGeom prst="rect">
            <a:avLst/>
          </a:prstGeom>
          <a:noFill/>
          <a:ln/>
        </p:spPr>
        <p:txBody>
          <a:bodyPr wrap="square" lIns="0" tIns="0" rIns="0" bIns="0" rtlCol="0" anchor="t"/>
          <a:lstStyle/>
          <a:p>
            <a:pPr algn="ctr" indent="0" marL="0">
              <a:buNone/>
            </a:pPr>
            <a:r>
              <a:rPr lang="en-US" sz="1300" dirty="0">
                <a:solidFill>
                  <a:schemeClr val="accent5"/>
                </a:solidFill>
              </a:rPr>
              <a:t>판매·나눔·기부 연계 판매</a:t>
            </a:r>
            <a:endParaRPr lang="en-US" sz="1300" dirty="0"/>
          </a:p>
        </p:txBody>
      </p:sp>
      <p:sp>
        <p:nvSpPr>
          <p:cNvPr id="8" name="flow-arrow"/>
          <p:cNvSpPr/>
          <p:nvPr/>
        </p:nvSpPr>
        <p:spPr>
          <a:xfrm>
            <a:off x="2910840" y="1938528"/>
            <a:ext cx="548640" cy="329184"/>
          </a:xfrm>
          <a:prstGeom prst="rightArrow">
            <a:avLst/>
          </a:prstGeom>
          <a:solidFill>
            <a:schemeClr val="accent3"/>
          </a:solidFill>
          <a:ln w="12700">
            <a:solidFill>
              <a:schemeClr val="accent3"/>
            </a:solidFill>
            <a:prstDash val="solid"/>
          </a:ln>
        </p:spPr>
      </p:sp>
      <p:sp>
        <p:nvSpPr>
          <p:cNvPr id="9" name="icon-circle"/>
          <p:cNvSpPr/>
          <p:nvPr/>
        </p:nvSpPr>
        <p:spPr>
          <a:xfrm>
            <a:off x="4175760" y="1645920"/>
            <a:ext cx="914400" cy="914400"/>
          </a:xfrm>
          <a:prstGeom prst="ellipse">
            <a:avLst/>
          </a:prstGeom>
          <a:solidFill>
            <a:schemeClr val="accent2"/>
          </a:solidFill>
          <a:ln w="12700">
            <a:solidFill>
              <a:schemeClr val="accent2"/>
            </a:solidFill>
            <a:prstDash val="solid"/>
          </a:ln>
        </p:spPr>
      </p:sp>
      <p:pic>
        <p:nvPicPr>
          <p:cNvPr id="10" name="icon" descr="preencoded.png">    </p:cNvPr>
          <p:cNvPicPr>
            <a:picLocks noChangeAspect="1"/>
          </p:cNvPicPr>
          <p:nvPr/>
        </p:nvPicPr>
        <p:blipFill>
          <a:blip r:embed="rId2"/>
          <a:stretch>
            <a:fillRect/>
          </a:stretch>
        </p:blipFill>
        <p:spPr>
          <a:xfrm>
            <a:off x="4404360" y="1874520"/>
            <a:ext cx="457200" cy="457200"/>
          </a:xfrm>
          <a:prstGeom prst="rect">
            <a:avLst/>
          </a:prstGeom>
        </p:spPr>
      </p:pic>
      <p:sp>
        <p:nvSpPr>
          <p:cNvPr id="11" name="Text 7"/>
          <p:cNvSpPr txBox="1"/>
          <p:nvPr/>
        </p:nvSpPr>
        <p:spPr>
          <a:xfrm>
            <a:off x="3444240" y="2697480"/>
            <a:ext cx="2377440" cy="411480"/>
          </a:xfrm>
          <a:prstGeom prst="rect">
            <a:avLst/>
          </a:prstGeom>
          <a:noFill/>
          <a:ln/>
        </p:spPr>
        <p:txBody>
          <a:bodyPr wrap="square" lIns="0" tIns="0" rIns="0" bIns="0" rtlCol="0" anchor="t"/>
          <a:lstStyle/>
          <a:p>
            <a:pPr algn="ctr" indent="0" marL="0">
              <a:buNone/>
            </a:pPr>
            <a:r>
              <a:rPr lang="en-US" sz="1800" b="1" dirty="0">
                <a:solidFill>
                  <a:schemeClr val="tx1"/>
                </a:solidFill>
              </a:rPr>
              <a:t>기부 기록</a:t>
            </a:r>
            <a:endParaRPr lang="en-US" sz="1800" dirty="0"/>
          </a:p>
        </p:txBody>
      </p:sp>
      <p:sp>
        <p:nvSpPr>
          <p:cNvPr id="12" name="Text 8"/>
          <p:cNvSpPr txBox="1"/>
          <p:nvPr/>
        </p:nvSpPr>
        <p:spPr>
          <a:xfrm>
            <a:off x="3444240" y="3108960"/>
            <a:ext cx="2377440" cy="365760"/>
          </a:xfrm>
          <a:prstGeom prst="rect">
            <a:avLst/>
          </a:prstGeom>
          <a:noFill/>
          <a:ln/>
        </p:spPr>
        <p:txBody>
          <a:bodyPr wrap="square" lIns="0" tIns="0" rIns="0" bIns="0" rtlCol="0" anchor="t"/>
          <a:lstStyle/>
          <a:p>
            <a:pPr algn="ctr" indent="0" marL="0">
              <a:buNone/>
            </a:pPr>
            <a:r>
              <a:rPr lang="en-US" sz="1300" dirty="0">
                <a:solidFill>
                  <a:schemeClr val="accent5"/>
                </a:solidFill>
              </a:rPr>
              <a:t>판매금 × 기부 비율을 기부처로</a:t>
            </a:r>
            <a:endParaRPr lang="en-US" sz="1300" dirty="0"/>
          </a:p>
        </p:txBody>
      </p:sp>
      <p:sp>
        <p:nvSpPr>
          <p:cNvPr id="13" name="flow-arrow"/>
          <p:cNvSpPr/>
          <p:nvPr/>
        </p:nvSpPr>
        <p:spPr>
          <a:xfrm>
            <a:off x="5806440" y="1938528"/>
            <a:ext cx="548640" cy="329184"/>
          </a:xfrm>
          <a:prstGeom prst="rightArrow">
            <a:avLst/>
          </a:prstGeom>
          <a:solidFill>
            <a:schemeClr val="accent3"/>
          </a:solidFill>
          <a:ln w="12700">
            <a:solidFill>
              <a:schemeClr val="accent3"/>
            </a:solidFill>
            <a:prstDash val="solid"/>
          </a:ln>
        </p:spPr>
      </p:sp>
      <p:sp>
        <p:nvSpPr>
          <p:cNvPr id="14" name="icon-circle"/>
          <p:cNvSpPr/>
          <p:nvPr/>
        </p:nvSpPr>
        <p:spPr>
          <a:xfrm>
            <a:off x="7071360" y="1645920"/>
            <a:ext cx="914400" cy="914400"/>
          </a:xfrm>
          <a:prstGeom prst="ellipse">
            <a:avLst/>
          </a:prstGeom>
          <a:solidFill>
            <a:schemeClr val="accent1"/>
          </a:solidFill>
          <a:ln w="12700">
            <a:solidFill>
              <a:schemeClr val="accent1"/>
            </a:solidFill>
            <a:prstDash val="solid"/>
          </a:ln>
        </p:spPr>
      </p:sp>
      <p:pic>
        <p:nvPicPr>
          <p:cNvPr id="15" name="icon" descr="preencoded.png">    </p:cNvPr>
          <p:cNvPicPr>
            <a:picLocks noChangeAspect="1"/>
          </p:cNvPicPr>
          <p:nvPr/>
        </p:nvPicPr>
        <p:blipFill>
          <a:blip r:embed="rId3"/>
          <a:stretch>
            <a:fillRect/>
          </a:stretch>
        </p:blipFill>
        <p:spPr>
          <a:xfrm>
            <a:off x="7299960" y="1874520"/>
            <a:ext cx="457200" cy="457200"/>
          </a:xfrm>
          <a:prstGeom prst="rect">
            <a:avLst/>
          </a:prstGeom>
        </p:spPr>
      </p:pic>
      <p:sp>
        <p:nvSpPr>
          <p:cNvPr id="16" name="Text 11"/>
          <p:cNvSpPr txBox="1"/>
          <p:nvPr/>
        </p:nvSpPr>
        <p:spPr>
          <a:xfrm>
            <a:off x="6339840" y="2697480"/>
            <a:ext cx="2377440" cy="411480"/>
          </a:xfrm>
          <a:prstGeom prst="rect">
            <a:avLst/>
          </a:prstGeom>
          <a:noFill/>
          <a:ln/>
        </p:spPr>
        <p:txBody>
          <a:bodyPr wrap="square" lIns="0" tIns="0" rIns="0" bIns="0" rtlCol="0" anchor="t"/>
          <a:lstStyle/>
          <a:p>
            <a:pPr algn="ctr" indent="0" marL="0">
              <a:buNone/>
            </a:pPr>
            <a:r>
              <a:rPr lang="en-US" sz="1800" b="1" dirty="0">
                <a:solidFill>
                  <a:schemeClr val="tx1"/>
                </a:solidFill>
              </a:rPr>
              <a:t>포인트 적립</a:t>
            </a:r>
            <a:endParaRPr lang="en-US" sz="1800" dirty="0"/>
          </a:p>
        </p:txBody>
      </p:sp>
      <p:sp>
        <p:nvSpPr>
          <p:cNvPr id="17" name="Text 12"/>
          <p:cNvSpPr txBox="1"/>
          <p:nvPr/>
        </p:nvSpPr>
        <p:spPr>
          <a:xfrm>
            <a:off x="6339840" y="3108960"/>
            <a:ext cx="2377440" cy="365760"/>
          </a:xfrm>
          <a:prstGeom prst="rect">
            <a:avLst/>
          </a:prstGeom>
          <a:noFill/>
          <a:ln/>
        </p:spPr>
        <p:txBody>
          <a:bodyPr wrap="square" lIns="0" tIns="0" rIns="0" bIns="0" rtlCol="0" anchor="t"/>
          <a:lstStyle/>
          <a:p>
            <a:pPr algn="ctr" indent="0" marL="0">
              <a:buNone/>
            </a:pPr>
            <a:r>
              <a:rPr lang="en-US" sz="1300" dirty="0">
                <a:solidFill>
                  <a:schemeClr val="accent5"/>
                </a:solidFill>
              </a:rPr>
              <a:t>구매자 후기 등록 후 지급</a:t>
            </a:r>
            <a:endParaRPr lang="en-US" sz="1300" dirty="0"/>
          </a:p>
        </p:txBody>
      </p:sp>
      <p:sp>
        <p:nvSpPr>
          <p:cNvPr id="18" name="flow-arrow"/>
          <p:cNvSpPr/>
          <p:nvPr/>
        </p:nvSpPr>
        <p:spPr>
          <a:xfrm>
            <a:off x="8702040" y="1938528"/>
            <a:ext cx="548640" cy="329184"/>
          </a:xfrm>
          <a:prstGeom prst="rightArrow">
            <a:avLst/>
          </a:prstGeom>
          <a:solidFill>
            <a:schemeClr val="accent3"/>
          </a:solidFill>
          <a:ln w="12700">
            <a:solidFill>
              <a:schemeClr val="accent3"/>
            </a:solidFill>
            <a:prstDash val="solid"/>
          </a:ln>
        </p:spPr>
      </p:sp>
      <p:sp>
        <p:nvSpPr>
          <p:cNvPr id="19" name="icon-circle"/>
          <p:cNvSpPr/>
          <p:nvPr/>
        </p:nvSpPr>
        <p:spPr>
          <a:xfrm>
            <a:off x="9966960" y="1645920"/>
            <a:ext cx="914400" cy="914400"/>
          </a:xfrm>
          <a:prstGeom prst="ellipse">
            <a:avLst/>
          </a:prstGeom>
          <a:solidFill>
            <a:schemeClr val="accent1"/>
          </a:solidFill>
          <a:ln w="12700">
            <a:solidFill>
              <a:schemeClr val="accent1"/>
            </a:solidFill>
            <a:prstDash val="solid"/>
          </a:ln>
        </p:spPr>
      </p:sp>
      <p:pic>
        <p:nvPicPr>
          <p:cNvPr id="20" name="icon" descr="preencoded.png">    </p:cNvPr>
          <p:cNvPicPr>
            <a:picLocks noChangeAspect="1"/>
          </p:cNvPicPr>
          <p:nvPr/>
        </p:nvPicPr>
        <p:blipFill>
          <a:blip r:embed="rId4"/>
          <a:stretch>
            <a:fillRect/>
          </a:stretch>
        </p:blipFill>
        <p:spPr>
          <a:xfrm>
            <a:off x="10195560" y="1874520"/>
            <a:ext cx="457200" cy="457200"/>
          </a:xfrm>
          <a:prstGeom prst="rect">
            <a:avLst/>
          </a:prstGeom>
        </p:spPr>
      </p:pic>
      <p:sp>
        <p:nvSpPr>
          <p:cNvPr id="21" name="Text 15"/>
          <p:cNvSpPr txBox="1"/>
          <p:nvPr/>
        </p:nvSpPr>
        <p:spPr>
          <a:xfrm>
            <a:off x="9235440" y="2697480"/>
            <a:ext cx="2377440" cy="411480"/>
          </a:xfrm>
          <a:prstGeom prst="rect">
            <a:avLst/>
          </a:prstGeom>
          <a:noFill/>
          <a:ln/>
        </p:spPr>
        <p:txBody>
          <a:bodyPr wrap="square" lIns="0" tIns="0" rIns="0" bIns="0" rtlCol="0" anchor="t"/>
          <a:lstStyle/>
          <a:p>
            <a:pPr algn="ctr" indent="0" marL="0">
              <a:buNone/>
            </a:pPr>
            <a:r>
              <a:rPr lang="en-US" sz="1800" b="1" dirty="0">
                <a:solidFill>
                  <a:schemeClr val="tx1"/>
                </a:solidFill>
              </a:rPr>
              <a:t>리워드 교환</a:t>
            </a:r>
            <a:endParaRPr lang="en-US" sz="1800" dirty="0"/>
          </a:p>
        </p:txBody>
      </p:sp>
      <p:sp>
        <p:nvSpPr>
          <p:cNvPr id="22" name="Text 16"/>
          <p:cNvSpPr txBox="1"/>
          <p:nvPr/>
        </p:nvSpPr>
        <p:spPr>
          <a:xfrm>
            <a:off x="9235440" y="3108960"/>
            <a:ext cx="2377440" cy="365760"/>
          </a:xfrm>
          <a:prstGeom prst="rect">
            <a:avLst/>
          </a:prstGeom>
          <a:noFill/>
          <a:ln/>
        </p:spPr>
        <p:txBody>
          <a:bodyPr wrap="square" lIns="0" tIns="0" rIns="0" bIns="0" rtlCol="0" anchor="t"/>
          <a:lstStyle/>
          <a:p>
            <a:pPr algn="ctr" indent="0" marL="0">
              <a:buNone/>
            </a:pPr>
            <a:r>
              <a:rPr lang="en-US" sz="1300" dirty="0">
                <a:solidFill>
                  <a:schemeClr val="accent5"/>
                </a:solidFill>
              </a:rPr>
              <a:t>제휴 매장 쿠폰·학생회 굿즈</a:t>
            </a:r>
            <a:endParaRPr lang="en-US" sz="1300" dirty="0"/>
          </a:p>
        </p:txBody>
      </p:sp>
      <p:sp>
        <p:nvSpPr>
          <p:cNvPr id="23" name="card"/>
          <p:cNvSpPr/>
          <p:nvPr/>
        </p:nvSpPr>
        <p:spPr>
          <a:xfrm>
            <a:off x="548640" y="3886200"/>
            <a:ext cx="3520440" cy="1600200"/>
          </a:xfrm>
          <a:prstGeom prst="roundRect">
            <a:avLst>
              <a:gd name="adj" fmla="val 6857"/>
            </a:avLst>
          </a:prstGeom>
          <a:solidFill>
            <a:schemeClr val="bg2"/>
          </a:solidFill>
          <a:ln w="12700">
            <a:solidFill>
              <a:schemeClr val="bg2"/>
            </a:solidFill>
            <a:prstDash val="solid"/>
          </a:ln>
        </p:spPr>
      </p:sp>
      <p:sp>
        <p:nvSpPr>
          <p:cNvPr id="24" name="Text 18"/>
          <p:cNvSpPr txBox="1"/>
          <p:nvPr/>
        </p:nvSpPr>
        <p:spPr>
          <a:xfrm>
            <a:off x="868680" y="4023360"/>
            <a:ext cx="1417320" cy="822960"/>
          </a:xfrm>
          <a:prstGeom prst="rect">
            <a:avLst/>
          </a:prstGeom>
          <a:noFill/>
          <a:ln/>
        </p:spPr>
        <p:txBody>
          <a:bodyPr wrap="square" lIns="0" tIns="0" rIns="0" bIns="0" rtlCol="0" anchor="ctr"/>
          <a:lstStyle/>
          <a:p>
            <a:pPr indent="0" marL="0">
              <a:buNone/>
            </a:pPr>
            <a:r>
              <a:rPr lang="en-US" sz="3600" b="1" dirty="0">
                <a:solidFill>
                  <a:schemeClr val="accent1"/>
                </a:solidFill>
              </a:rPr>
              <a:t>0원</a:t>
            </a:r>
            <a:endParaRPr lang="en-US" sz="3600" dirty="0"/>
          </a:p>
        </p:txBody>
      </p:sp>
      <p:sp>
        <p:nvSpPr>
          <p:cNvPr id="25" name="Text 19"/>
          <p:cNvSpPr txBox="1"/>
          <p:nvPr/>
        </p:nvSpPr>
        <p:spPr>
          <a:xfrm>
            <a:off x="2331720" y="4114800"/>
            <a:ext cx="1508760" cy="365760"/>
          </a:xfrm>
          <a:prstGeom prst="rect">
            <a:avLst/>
          </a:prstGeom>
          <a:noFill/>
          <a:ln/>
        </p:spPr>
        <p:txBody>
          <a:bodyPr wrap="square" lIns="0" tIns="0" rIns="0" bIns="0" rtlCol="0" anchor="t"/>
          <a:lstStyle/>
          <a:p>
            <a:pPr indent="0" marL="0">
              <a:buNone/>
            </a:pPr>
            <a:r>
              <a:rPr lang="en-US" sz="1500" b="1" dirty="0">
                <a:solidFill>
                  <a:schemeClr val="tx1"/>
                </a:solidFill>
              </a:rPr>
              <a:t>개인 거래 수수료</a:t>
            </a:r>
            <a:endParaRPr lang="en-US" sz="1500" dirty="0"/>
          </a:p>
        </p:txBody>
      </p:sp>
      <p:sp>
        <p:nvSpPr>
          <p:cNvPr id="26" name="Text 20"/>
          <p:cNvSpPr txBox="1"/>
          <p:nvPr/>
        </p:nvSpPr>
        <p:spPr>
          <a:xfrm>
            <a:off x="2331720" y="4480560"/>
            <a:ext cx="1508760" cy="640080"/>
          </a:xfrm>
          <a:prstGeom prst="rect">
            <a:avLst/>
          </a:prstGeom>
          <a:noFill/>
          <a:ln/>
        </p:spPr>
        <p:txBody>
          <a:bodyPr wrap="square" lIns="0" tIns="0" rIns="0" bIns="0" rtlCol="0" anchor="t"/>
          <a:lstStyle/>
          <a:p>
            <a:pPr indent="0" marL="0">
              <a:buNone/>
            </a:pPr>
            <a:r>
              <a:rPr lang="en-US" sz="1300" dirty="0">
                <a:solidFill>
                  <a:schemeClr val="accent5"/>
                </a:solidFill>
              </a:rPr>
              <a:t>학생 부담 없이 누구나 참여</a:t>
            </a:r>
            <a:endParaRPr lang="en-US" sz="1300" dirty="0"/>
          </a:p>
        </p:txBody>
      </p:sp>
      <p:sp>
        <p:nvSpPr>
          <p:cNvPr id="27" name="card"/>
          <p:cNvSpPr/>
          <p:nvPr/>
        </p:nvSpPr>
        <p:spPr>
          <a:xfrm>
            <a:off x="4320540" y="3886200"/>
            <a:ext cx="3520440" cy="1600200"/>
          </a:xfrm>
          <a:prstGeom prst="roundRect">
            <a:avLst>
              <a:gd name="adj" fmla="val 6857"/>
            </a:avLst>
          </a:prstGeom>
          <a:solidFill>
            <a:schemeClr val="bg2"/>
          </a:solidFill>
          <a:ln w="12700">
            <a:solidFill>
              <a:schemeClr val="bg2"/>
            </a:solidFill>
            <a:prstDash val="solid"/>
          </a:ln>
        </p:spPr>
      </p:sp>
      <p:sp>
        <p:nvSpPr>
          <p:cNvPr id="28" name="Text 22"/>
          <p:cNvSpPr txBox="1"/>
          <p:nvPr/>
        </p:nvSpPr>
        <p:spPr>
          <a:xfrm>
            <a:off x="4640580" y="4023360"/>
            <a:ext cx="1417320" cy="822960"/>
          </a:xfrm>
          <a:prstGeom prst="rect">
            <a:avLst/>
          </a:prstGeom>
          <a:noFill/>
          <a:ln/>
        </p:spPr>
        <p:txBody>
          <a:bodyPr wrap="square" lIns="0" tIns="0" rIns="0" bIns="0" rtlCol="0" anchor="ctr"/>
          <a:lstStyle/>
          <a:p>
            <a:pPr indent="0" marL="0">
              <a:buNone/>
            </a:pPr>
            <a:r>
              <a:rPr lang="en-US" sz="3600" b="1" dirty="0">
                <a:solidFill>
                  <a:schemeClr val="accent2"/>
                </a:solidFill>
              </a:rPr>
              <a:t>10%</a:t>
            </a:r>
            <a:endParaRPr lang="en-US" sz="3600" dirty="0"/>
          </a:p>
        </p:txBody>
      </p:sp>
      <p:sp>
        <p:nvSpPr>
          <p:cNvPr id="29" name="Text 23"/>
          <p:cNvSpPr txBox="1"/>
          <p:nvPr/>
        </p:nvSpPr>
        <p:spPr>
          <a:xfrm>
            <a:off x="6103620" y="4114800"/>
            <a:ext cx="1508760" cy="365760"/>
          </a:xfrm>
          <a:prstGeom prst="rect">
            <a:avLst/>
          </a:prstGeom>
          <a:noFill/>
          <a:ln/>
        </p:spPr>
        <p:txBody>
          <a:bodyPr wrap="square" lIns="0" tIns="0" rIns="0" bIns="0" rtlCol="0" anchor="t"/>
          <a:lstStyle/>
          <a:p>
            <a:pPr indent="0" marL="0">
              <a:buNone/>
            </a:pPr>
            <a:r>
              <a:rPr lang="en-US" sz="1500" b="1" dirty="0">
                <a:solidFill>
                  <a:schemeClr val="tx1"/>
                </a:solidFill>
              </a:rPr>
              <a:t>포인트 적립률</a:t>
            </a:r>
            <a:endParaRPr lang="en-US" sz="1500" dirty="0"/>
          </a:p>
        </p:txBody>
      </p:sp>
      <p:sp>
        <p:nvSpPr>
          <p:cNvPr id="30" name="Text 24"/>
          <p:cNvSpPr txBox="1"/>
          <p:nvPr/>
        </p:nvSpPr>
        <p:spPr>
          <a:xfrm>
            <a:off x="6103620" y="4480560"/>
            <a:ext cx="1508760" cy="640080"/>
          </a:xfrm>
          <a:prstGeom prst="rect">
            <a:avLst/>
          </a:prstGeom>
          <a:noFill/>
          <a:ln/>
        </p:spPr>
        <p:txBody>
          <a:bodyPr wrap="square" lIns="0" tIns="0" rIns="0" bIns="0" rtlCol="0" anchor="t"/>
          <a:lstStyle/>
          <a:p>
            <a:pPr indent="0" marL="0">
              <a:buNone/>
            </a:pPr>
            <a:r>
              <a:rPr lang="en-US" sz="1300" dirty="0">
                <a:solidFill>
                  <a:schemeClr val="accent5"/>
                </a:solidFill>
              </a:rPr>
              <a:t>2,000원 기부 → 200P 적립</a:t>
            </a:r>
            <a:endParaRPr lang="en-US" sz="1300" dirty="0"/>
          </a:p>
        </p:txBody>
      </p:sp>
      <p:sp>
        <p:nvSpPr>
          <p:cNvPr id="31" name="card"/>
          <p:cNvSpPr/>
          <p:nvPr/>
        </p:nvSpPr>
        <p:spPr>
          <a:xfrm>
            <a:off x="8092440" y="3886200"/>
            <a:ext cx="3520440" cy="1600200"/>
          </a:xfrm>
          <a:prstGeom prst="roundRect">
            <a:avLst>
              <a:gd name="adj" fmla="val 6857"/>
            </a:avLst>
          </a:prstGeom>
          <a:solidFill>
            <a:schemeClr val="bg2"/>
          </a:solidFill>
          <a:ln w="12700">
            <a:solidFill>
              <a:schemeClr val="bg2"/>
            </a:solidFill>
            <a:prstDash val="solid"/>
          </a:ln>
        </p:spPr>
      </p:sp>
      <p:sp>
        <p:nvSpPr>
          <p:cNvPr id="32" name="Text 26"/>
          <p:cNvSpPr txBox="1"/>
          <p:nvPr/>
        </p:nvSpPr>
        <p:spPr>
          <a:xfrm>
            <a:off x="8412480" y="4023360"/>
            <a:ext cx="1417320" cy="822960"/>
          </a:xfrm>
          <a:prstGeom prst="rect">
            <a:avLst/>
          </a:prstGeom>
          <a:noFill/>
          <a:ln/>
        </p:spPr>
        <p:txBody>
          <a:bodyPr wrap="square" lIns="0" tIns="0" rIns="0" bIns="0" rtlCol="0" anchor="ctr"/>
          <a:lstStyle/>
          <a:p>
            <a:pPr indent="0" marL="0">
              <a:buNone/>
            </a:pPr>
            <a:r>
              <a:rPr lang="en-US" sz="3600" b="1" dirty="0">
                <a:solidFill>
                  <a:schemeClr val="accent1"/>
                </a:solidFill>
              </a:rPr>
              <a:t>100P</a:t>
            </a:r>
            <a:endParaRPr lang="en-US" sz="3600" dirty="0"/>
          </a:p>
        </p:txBody>
      </p:sp>
      <p:sp>
        <p:nvSpPr>
          <p:cNvPr id="33" name="Text 27"/>
          <p:cNvSpPr txBox="1"/>
          <p:nvPr/>
        </p:nvSpPr>
        <p:spPr>
          <a:xfrm>
            <a:off x="9875520" y="4114800"/>
            <a:ext cx="1508760" cy="365760"/>
          </a:xfrm>
          <a:prstGeom prst="rect">
            <a:avLst/>
          </a:prstGeom>
          <a:noFill/>
          <a:ln/>
        </p:spPr>
        <p:txBody>
          <a:bodyPr wrap="square" lIns="0" tIns="0" rIns="0" bIns="0" rtlCol="0" anchor="t"/>
          <a:lstStyle/>
          <a:p>
            <a:pPr indent="0" marL="0">
              <a:buNone/>
            </a:pPr>
            <a:r>
              <a:rPr lang="en-US" sz="1500" b="1" dirty="0">
                <a:solidFill>
                  <a:schemeClr val="tx1"/>
                </a:solidFill>
              </a:rPr>
              <a:t>무료 나눔 1건당</a:t>
            </a:r>
            <a:endParaRPr lang="en-US" sz="1500" dirty="0"/>
          </a:p>
        </p:txBody>
      </p:sp>
      <p:sp>
        <p:nvSpPr>
          <p:cNvPr id="34" name="Text 28"/>
          <p:cNvSpPr txBox="1"/>
          <p:nvPr/>
        </p:nvSpPr>
        <p:spPr>
          <a:xfrm>
            <a:off x="9875520" y="4480560"/>
            <a:ext cx="1508760" cy="640080"/>
          </a:xfrm>
          <a:prstGeom prst="rect">
            <a:avLst/>
          </a:prstGeom>
          <a:noFill/>
          <a:ln/>
        </p:spPr>
        <p:txBody>
          <a:bodyPr wrap="square" lIns="0" tIns="0" rIns="0" bIns="0" rtlCol="0" anchor="t"/>
          <a:lstStyle/>
          <a:p>
            <a:pPr indent="0" marL="0">
              <a:buNone/>
            </a:pPr>
            <a:r>
              <a:rPr lang="en-US" sz="1300" dirty="0">
                <a:solidFill>
                  <a:schemeClr val="accent5"/>
                </a:solidFill>
              </a:rPr>
              <a:t>나눔도 기부만큼 인정</a:t>
            </a:r>
            <a:endParaRPr lang="en-US" sz="1300" dirty="0"/>
          </a:p>
        </p:txBody>
      </p:sp>
      <p:sp>
        <p:nvSpPr>
          <p:cNvPr id="35" name="Text 29"/>
          <p:cNvSpPr txBox="1"/>
          <p:nvPr/>
        </p:nvSpPr>
        <p:spPr>
          <a:xfrm>
            <a:off x="548640" y="5715000"/>
            <a:ext cx="11064240" cy="457200"/>
          </a:xfrm>
          <a:prstGeom prst="rect">
            <a:avLst/>
          </a:prstGeom>
          <a:noFill/>
          <a:ln/>
        </p:spPr>
        <p:txBody>
          <a:bodyPr wrap="square" lIns="0" tIns="0" rIns="0" bIns="0" rtlCol="0" anchor="t"/>
          <a:lstStyle/>
          <a:p>
            <a:pPr indent="0" marL="0">
              <a:buNone/>
            </a:pPr>
            <a:r>
              <a:rPr lang="en-US" sz="1400" b="1" dirty="0">
                <a:solidFill>
                  <a:schemeClr val="accent1"/>
                </a:solidFill>
              </a:rPr>
              <a:t>지속 방안  </a:t>
            </a:r>
            <a:pPr indent="0" marL="0">
              <a:buNone/>
            </a:pPr>
            <a:r>
              <a:rPr lang="en-US" sz="1400" dirty="0">
                <a:solidFill>
                  <a:schemeClr val="tx1"/>
                </a:solidFill>
              </a:rPr>
              <a:t>학생회·학교 ESG 부서에 자원 재사용량·기부액 통계 리포트 제공, 교환 쿠폰은 제휴 매장이 홍보 목적으로 제공</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B8C"/>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65760"/>
          </a:xfrm>
          <a:prstGeom prst="rect">
            <a:avLst/>
          </a:prstGeom>
          <a:noFill/>
          <a:ln/>
        </p:spPr>
        <p:txBody>
          <a:bodyPr wrap="square" lIns="0" tIns="0" rIns="0" bIns="0" rtlCol="0"/>
          <a:lstStyle/>
          <a:p>
            <a:pPr indent="0" marL="0">
              <a:buNone/>
            </a:pPr>
            <a:r>
              <a:rPr lang="en-US" sz="1400" b="1" dirty="0">
                <a:solidFill>
                  <a:schemeClr val="accent1"/>
                </a:solidFill>
              </a:rPr>
              <a:t>04  주요 사용자</a:t>
            </a:r>
            <a:endParaRPr lang="en-US" sz="1400" dirty="0"/>
          </a:p>
        </p:txBody>
      </p:sp>
      <p:sp>
        <p:nvSpPr>
          <p:cNvPr id="3" name="Text 0"/>
          <p:cNvSpPr/>
          <p:nvPr>
            <p:ph idx="101"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네 종류의 사용자가 하나의 데이터베이스를 공유합니다</a:t>
            </a:r>
            <a:endParaRPr lang="en-US" sz="3000" dirty="0"/>
          </a:p>
        </p:txBody>
      </p:sp>
      <p:sp>
        <p:nvSpPr>
          <p:cNvPr id="4" name="card"/>
          <p:cNvSpPr/>
          <p:nvPr/>
        </p:nvSpPr>
        <p:spPr>
          <a:xfrm>
            <a:off x="548640" y="1691640"/>
            <a:ext cx="2606040" cy="4480560"/>
          </a:xfrm>
          <a:prstGeom prst="roundRect">
            <a:avLst>
              <a:gd name="adj" fmla="val 4211"/>
            </a:avLst>
          </a:prstGeom>
          <a:solidFill>
            <a:schemeClr val="bg2"/>
          </a:solidFill>
          <a:ln w="12700">
            <a:solidFill>
              <a:schemeClr val="bg2"/>
            </a:solidFill>
            <a:prstDash val="solid"/>
          </a:ln>
        </p:spPr>
      </p:sp>
      <p:sp>
        <p:nvSpPr>
          <p:cNvPr id="5" name="icon-circle"/>
          <p:cNvSpPr/>
          <p:nvPr/>
        </p:nvSpPr>
        <p:spPr>
          <a:xfrm>
            <a:off x="1348740" y="1965960"/>
            <a:ext cx="1005840" cy="1005840"/>
          </a:xfrm>
          <a:prstGeom prst="ellipse">
            <a:avLst/>
          </a:prstGeom>
          <a:solidFill>
            <a:schemeClr val="accent1"/>
          </a:solidFill>
          <a:ln w="12700">
            <a:solidFill>
              <a:schemeClr val="accent1"/>
            </a:solidFill>
            <a:prstDash val="solid"/>
          </a:ln>
        </p:spPr>
      </p:sp>
      <p:pic>
        <p:nvPicPr>
          <p:cNvPr id="6" name="icon" descr="preencoded.png">    </p:cNvPr>
          <p:cNvPicPr>
            <a:picLocks noChangeAspect="1"/>
          </p:cNvPicPr>
          <p:nvPr/>
        </p:nvPicPr>
        <p:blipFill>
          <a:blip r:embed="rId1"/>
          <a:stretch>
            <a:fillRect/>
          </a:stretch>
        </p:blipFill>
        <p:spPr>
          <a:xfrm>
            <a:off x="1600200" y="2217420"/>
            <a:ext cx="502920" cy="502920"/>
          </a:xfrm>
          <a:prstGeom prst="rect">
            <a:avLst/>
          </a:prstGeom>
        </p:spPr>
      </p:pic>
      <p:sp>
        <p:nvSpPr>
          <p:cNvPr id="7" name="Text 4"/>
          <p:cNvSpPr txBox="1"/>
          <p:nvPr/>
        </p:nvSpPr>
        <p:spPr>
          <a:xfrm>
            <a:off x="777240" y="3154680"/>
            <a:ext cx="2148840" cy="411480"/>
          </a:xfrm>
          <a:prstGeom prst="rect">
            <a:avLst/>
          </a:prstGeom>
          <a:noFill/>
          <a:ln/>
        </p:spPr>
        <p:txBody>
          <a:bodyPr wrap="square" lIns="0" tIns="0" rIns="0" bIns="0" rtlCol="0" anchor="t"/>
          <a:lstStyle/>
          <a:p>
            <a:pPr algn="ctr" indent="0" marL="0">
              <a:buNone/>
            </a:pPr>
            <a:r>
              <a:rPr lang="en-US" sz="1800" b="1" dirty="0">
                <a:solidFill>
                  <a:schemeClr val="tx1"/>
                </a:solidFill>
              </a:rPr>
              <a:t>판매자 · 나눔자</a:t>
            </a:r>
            <a:endParaRPr lang="en-US" sz="1800" dirty="0"/>
          </a:p>
        </p:txBody>
      </p:sp>
      <p:sp>
        <p:nvSpPr>
          <p:cNvPr id="8" name="Text 5"/>
          <p:cNvSpPr txBox="1"/>
          <p:nvPr/>
        </p:nvSpPr>
        <p:spPr>
          <a:xfrm>
            <a:off x="777240" y="3566160"/>
            <a:ext cx="2148840" cy="594360"/>
          </a:xfrm>
          <a:prstGeom prst="rect">
            <a:avLst/>
          </a:prstGeom>
          <a:noFill/>
          <a:ln/>
        </p:spPr>
        <p:txBody>
          <a:bodyPr wrap="square" lIns="0" tIns="0" rIns="0" bIns="0" rtlCol="0" anchor="t"/>
          <a:lstStyle/>
          <a:p>
            <a:pPr algn="ctr" indent="0" marL="0">
              <a:buNone/>
            </a:pPr>
            <a:r>
              <a:rPr lang="en-US" sz="1300" dirty="0">
                <a:solidFill>
                  <a:schemeClr val="accent5"/>
                </a:solidFill>
              </a:rPr>
              <a:t>졸업·이사로 물건을 처분하려는 학생</a:t>
            </a:r>
            <a:endParaRPr lang="en-US" sz="1300" dirty="0"/>
          </a:p>
        </p:txBody>
      </p:sp>
      <p:sp>
        <p:nvSpPr>
          <p:cNvPr id="9" name="Text 6"/>
          <p:cNvSpPr txBox="1"/>
          <p:nvPr/>
        </p:nvSpPr>
        <p:spPr>
          <a:xfrm>
            <a:off x="822960" y="4297680"/>
            <a:ext cx="210312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상품 등록, 거래 방식 선택</a:t>
            </a:r>
            <a:endParaRPr lang="en-US" sz="1400" dirty="0"/>
          </a:p>
          <a:p>
            <a:pPr marL="342900" indent="-342900">
              <a:spcAft>
                <a:spcPts val="600"/>
              </a:spcAft>
              <a:buSzPct val="100000"/>
              <a:buChar char="•"/>
            </a:pPr>
            <a:r>
              <a:rPr lang="en-US" sz="1400" dirty="0">
                <a:solidFill>
                  <a:schemeClr val="tx1"/>
                </a:solidFill>
              </a:rPr>
              <a:t>기부처·기부 비율 설정</a:t>
            </a:r>
            <a:endParaRPr lang="en-US" sz="1400" dirty="0"/>
          </a:p>
          <a:p>
            <a:pPr marL="342900" indent="-342900">
              <a:spcAft>
                <a:spcPts val="600"/>
              </a:spcAft>
              <a:buSzPct val="100000"/>
              <a:buChar char="•"/>
            </a:pPr>
            <a:r>
              <a:rPr lang="en-US" sz="1400" dirty="0">
                <a:solidFill>
                  <a:schemeClr val="tx1"/>
                </a:solidFill>
              </a:rPr>
              <a:t>거래 완료 처리, 포인트 교환</a:t>
            </a:r>
            <a:endParaRPr lang="en-US" sz="1400" dirty="0"/>
          </a:p>
        </p:txBody>
      </p:sp>
      <p:sp>
        <p:nvSpPr>
          <p:cNvPr id="10" name="card"/>
          <p:cNvSpPr/>
          <p:nvPr/>
        </p:nvSpPr>
        <p:spPr>
          <a:xfrm>
            <a:off x="3364992" y="1691640"/>
            <a:ext cx="2606040" cy="4480560"/>
          </a:xfrm>
          <a:prstGeom prst="roundRect">
            <a:avLst>
              <a:gd name="adj" fmla="val 4211"/>
            </a:avLst>
          </a:prstGeom>
          <a:solidFill>
            <a:schemeClr val="bg2"/>
          </a:solidFill>
          <a:ln w="12700">
            <a:solidFill>
              <a:schemeClr val="bg2"/>
            </a:solidFill>
            <a:prstDash val="solid"/>
          </a:ln>
        </p:spPr>
      </p:sp>
      <p:sp>
        <p:nvSpPr>
          <p:cNvPr id="11" name="icon-circle"/>
          <p:cNvSpPr/>
          <p:nvPr/>
        </p:nvSpPr>
        <p:spPr>
          <a:xfrm>
            <a:off x="4165092" y="1965960"/>
            <a:ext cx="1005840" cy="1005840"/>
          </a:xfrm>
          <a:prstGeom prst="ellipse">
            <a:avLst/>
          </a:prstGeom>
          <a:solidFill>
            <a:schemeClr val="accent5"/>
          </a:solidFill>
          <a:ln w="12700">
            <a:solidFill>
              <a:schemeClr val="accent5"/>
            </a:solidFill>
            <a:prstDash val="solid"/>
          </a:ln>
        </p:spPr>
      </p:sp>
      <p:pic>
        <p:nvPicPr>
          <p:cNvPr id="12" name="icon" descr="preencoded.png">    </p:cNvPr>
          <p:cNvPicPr>
            <a:picLocks noChangeAspect="1"/>
          </p:cNvPicPr>
          <p:nvPr/>
        </p:nvPicPr>
        <p:blipFill>
          <a:blip r:embed="rId2"/>
          <a:stretch>
            <a:fillRect/>
          </a:stretch>
        </p:blipFill>
        <p:spPr>
          <a:xfrm>
            <a:off x="4416552" y="2217420"/>
            <a:ext cx="502920" cy="502920"/>
          </a:xfrm>
          <a:prstGeom prst="rect">
            <a:avLst/>
          </a:prstGeom>
        </p:spPr>
      </p:pic>
      <p:sp>
        <p:nvSpPr>
          <p:cNvPr id="13" name="Text 9"/>
          <p:cNvSpPr txBox="1"/>
          <p:nvPr/>
        </p:nvSpPr>
        <p:spPr>
          <a:xfrm>
            <a:off x="3593592" y="3154680"/>
            <a:ext cx="2148840" cy="411480"/>
          </a:xfrm>
          <a:prstGeom prst="rect">
            <a:avLst/>
          </a:prstGeom>
          <a:noFill/>
          <a:ln/>
        </p:spPr>
        <p:txBody>
          <a:bodyPr wrap="square" lIns="0" tIns="0" rIns="0" bIns="0" rtlCol="0" anchor="t"/>
          <a:lstStyle/>
          <a:p>
            <a:pPr algn="ctr" indent="0" marL="0">
              <a:buNone/>
            </a:pPr>
            <a:r>
              <a:rPr lang="en-US" sz="1800" b="1" dirty="0">
                <a:solidFill>
                  <a:schemeClr val="tx1"/>
                </a:solidFill>
              </a:rPr>
              <a:t>구매자 · 수령자</a:t>
            </a:r>
            <a:endParaRPr lang="en-US" sz="1800" dirty="0"/>
          </a:p>
        </p:txBody>
      </p:sp>
      <p:sp>
        <p:nvSpPr>
          <p:cNvPr id="14" name="Text 10"/>
          <p:cNvSpPr txBox="1"/>
          <p:nvPr/>
        </p:nvSpPr>
        <p:spPr>
          <a:xfrm>
            <a:off x="3593592" y="3566160"/>
            <a:ext cx="2148840" cy="594360"/>
          </a:xfrm>
          <a:prstGeom prst="rect">
            <a:avLst/>
          </a:prstGeom>
          <a:noFill/>
          <a:ln/>
        </p:spPr>
        <p:txBody>
          <a:bodyPr wrap="square" lIns="0" tIns="0" rIns="0" bIns="0" rtlCol="0" anchor="t"/>
          <a:lstStyle/>
          <a:p>
            <a:pPr algn="ctr" indent="0" marL="0">
              <a:buNone/>
            </a:pPr>
            <a:r>
              <a:rPr lang="en-US" sz="1300" dirty="0">
                <a:solidFill>
                  <a:schemeClr val="accent5"/>
                </a:solidFill>
              </a:rPr>
              <a:t>전공서·자취 용품이 필요한 학생, 신입생</a:t>
            </a:r>
            <a:endParaRPr lang="en-US" sz="1300" dirty="0"/>
          </a:p>
        </p:txBody>
      </p:sp>
      <p:sp>
        <p:nvSpPr>
          <p:cNvPr id="15" name="Text 11"/>
          <p:cNvSpPr txBox="1"/>
          <p:nvPr/>
        </p:nvSpPr>
        <p:spPr>
          <a:xfrm>
            <a:off x="3639312" y="4297680"/>
            <a:ext cx="210312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검색·필터로 상품 찾기</a:t>
            </a:r>
            <a:endParaRPr lang="en-US" sz="1400" dirty="0"/>
          </a:p>
          <a:p>
            <a:pPr marL="342900" indent="-342900">
              <a:spcAft>
                <a:spcPts val="600"/>
              </a:spcAft>
              <a:buSzPct val="100000"/>
              <a:buChar char="•"/>
            </a:pPr>
            <a:r>
              <a:rPr lang="en-US" sz="1400" dirty="0">
                <a:solidFill>
                  <a:schemeClr val="tx1"/>
                </a:solidFill>
              </a:rPr>
              <a:t>찜하기, 판매자와 채팅</a:t>
            </a:r>
            <a:endParaRPr lang="en-US" sz="1400" dirty="0"/>
          </a:p>
          <a:p>
            <a:pPr marL="342900" indent="-342900">
              <a:spcAft>
                <a:spcPts val="600"/>
              </a:spcAft>
              <a:buSzPct val="100000"/>
              <a:buChar char="•"/>
            </a:pPr>
            <a:r>
              <a:rPr lang="en-US" sz="1400" dirty="0">
                <a:solidFill>
                  <a:schemeClr val="tx1"/>
                </a:solidFill>
              </a:rPr>
              <a:t>거래 후기 작성</a:t>
            </a:r>
            <a:endParaRPr lang="en-US" sz="1400" dirty="0"/>
          </a:p>
        </p:txBody>
      </p:sp>
      <p:sp>
        <p:nvSpPr>
          <p:cNvPr id="16" name="card"/>
          <p:cNvSpPr/>
          <p:nvPr/>
        </p:nvSpPr>
        <p:spPr>
          <a:xfrm>
            <a:off x="6181344" y="1691640"/>
            <a:ext cx="2606040" cy="4480560"/>
          </a:xfrm>
          <a:prstGeom prst="roundRect">
            <a:avLst>
              <a:gd name="adj" fmla="val 4211"/>
            </a:avLst>
          </a:prstGeom>
          <a:solidFill>
            <a:schemeClr val="bg2"/>
          </a:solidFill>
          <a:ln w="12700">
            <a:solidFill>
              <a:schemeClr val="bg2"/>
            </a:solidFill>
            <a:prstDash val="solid"/>
          </a:ln>
        </p:spPr>
      </p:sp>
      <p:sp>
        <p:nvSpPr>
          <p:cNvPr id="17" name="icon-circle"/>
          <p:cNvSpPr/>
          <p:nvPr/>
        </p:nvSpPr>
        <p:spPr>
          <a:xfrm>
            <a:off x="6981444" y="1965960"/>
            <a:ext cx="1005840" cy="1005840"/>
          </a:xfrm>
          <a:prstGeom prst="ellipse">
            <a:avLst/>
          </a:prstGeom>
          <a:solidFill>
            <a:schemeClr val="tx2"/>
          </a:solidFill>
          <a:ln w="12700">
            <a:solidFill>
              <a:schemeClr val="tx2"/>
            </a:solidFill>
            <a:prstDash val="solid"/>
          </a:ln>
        </p:spPr>
      </p:sp>
      <p:pic>
        <p:nvPicPr>
          <p:cNvPr id="18" name="icon" descr="preencoded.png">    </p:cNvPr>
          <p:cNvPicPr>
            <a:picLocks noChangeAspect="1"/>
          </p:cNvPicPr>
          <p:nvPr/>
        </p:nvPicPr>
        <p:blipFill>
          <a:blip r:embed="rId3"/>
          <a:stretch>
            <a:fillRect/>
          </a:stretch>
        </p:blipFill>
        <p:spPr>
          <a:xfrm>
            <a:off x="7232904" y="2217420"/>
            <a:ext cx="502920" cy="502920"/>
          </a:xfrm>
          <a:prstGeom prst="rect">
            <a:avLst/>
          </a:prstGeom>
        </p:spPr>
      </p:pic>
      <p:sp>
        <p:nvSpPr>
          <p:cNvPr id="19" name="Text 14"/>
          <p:cNvSpPr txBox="1"/>
          <p:nvPr/>
        </p:nvSpPr>
        <p:spPr>
          <a:xfrm>
            <a:off x="6409944" y="3154680"/>
            <a:ext cx="2148840" cy="411480"/>
          </a:xfrm>
          <a:prstGeom prst="rect">
            <a:avLst/>
          </a:prstGeom>
          <a:noFill/>
          <a:ln/>
        </p:spPr>
        <p:txBody>
          <a:bodyPr wrap="square" lIns="0" tIns="0" rIns="0" bIns="0" rtlCol="0" anchor="t"/>
          <a:lstStyle/>
          <a:p>
            <a:pPr algn="ctr" indent="0" marL="0">
              <a:buNone/>
            </a:pPr>
            <a:r>
              <a:rPr lang="en-US" sz="1800" b="1" dirty="0">
                <a:solidFill>
                  <a:schemeClr val="tx1"/>
                </a:solidFill>
              </a:rPr>
              <a:t>관리자</a:t>
            </a:r>
            <a:endParaRPr lang="en-US" sz="1800" dirty="0"/>
          </a:p>
        </p:txBody>
      </p:sp>
      <p:sp>
        <p:nvSpPr>
          <p:cNvPr id="20" name="Text 15"/>
          <p:cNvSpPr txBox="1"/>
          <p:nvPr/>
        </p:nvSpPr>
        <p:spPr>
          <a:xfrm>
            <a:off x="6409944" y="3566160"/>
            <a:ext cx="2148840" cy="594360"/>
          </a:xfrm>
          <a:prstGeom prst="rect">
            <a:avLst/>
          </a:prstGeom>
          <a:noFill/>
          <a:ln/>
        </p:spPr>
        <p:txBody>
          <a:bodyPr wrap="square" lIns="0" tIns="0" rIns="0" bIns="0" rtlCol="0" anchor="t"/>
          <a:lstStyle/>
          <a:p>
            <a:pPr algn="ctr" indent="0" marL="0">
              <a:buNone/>
            </a:pPr>
            <a:r>
              <a:rPr lang="en-US" sz="1300" dirty="0">
                <a:solidFill>
                  <a:schemeClr val="accent5"/>
                </a:solidFill>
              </a:rPr>
              <a:t>서비스 운영자</a:t>
            </a:r>
            <a:endParaRPr lang="en-US" sz="1300" dirty="0"/>
          </a:p>
        </p:txBody>
      </p:sp>
      <p:sp>
        <p:nvSpPr>
          <p:cNvPr id="21" name="Text 16"/>
          <p:cNvSpPr txBox="1"/>
          <p:nvPr/>
        </p:nvSpPr>
        <p:spPr>
          <a:xfrm>
            <a:off x="6455664" y="4297680"/>
            <a:ext cx="210312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신고 처리</a:t>
            </a:r>
            <a:endParaRPr lang="en-US" sz="1400" dirty="0"/>
          </a:p>
          <a:p>
            <a:pPr marL="342900" indent="-342900">
              <a:spcAft>
                <a:spcPts val="600"/>
              </a:spcAft>
              <a:buSzPct val="100000"/>
              <a:buChar char="•"/>
            </a:pPr>
            <a:r>
              <a:rPr lang="en-US" sz="1400" dirty="0">
                <a:solidFill>
                  <a:schemeClr val="tx1"/>
                </a:solidFill>
              </a:rPr>
              <a:t>기부처·리워드 등록 관리</a:t>
            </a:r>
            <a:endParaRPr lang="en-US" sz="1400" dirty="0"/>
          </a:p>
          <a:p>
            <a:pPr marL="342900" indent="-342900">
              <a:spcAft>
                <a:spcPts val="600"/>
              </a:spcAft>
              <a:buSzPct val="100000"/>
              <a:buChar char="•"/>
            </a:pPr>
            <a:r>
              <a:rPr lang="en-US" sz="1400" dirty="0">
                <a:solidFill>
                  <a:schemeClr val="tx1"/>
                </a:solidFill>
              </a:rPr>
              <a:t>전체 통계 확인</a:t>
            </a:r>
            <a:endParaRPr lang="en-US" sz="1400" dirty="0"/>
          </a:p>
        </p:txBody>
      </p:sp>
      <p:sp>
        <p:nvSpPr>
          <p:cNvPr id="22" name="card"/>
          <p:cNvSpPr/>
          <p:nvPr/>
        </p:nvSpPr>
        <p:spPr>
          <a:xfrm>
            <a:off x="8997696" y="1691640"/>
            <a:ext cx="2606040" cy="4480560"/>
          </a:xfrm>
          <a:prstGeom prst="roundRect">
            <a:avLst>
              <a:gd name="adj" fmla="val 4211"/>
            </a:avLst>
          </a:prstGeom>
          <a:solidFill>
            <a:schemeClr val="bg2"/>
          </a:solidFill>
          <a:ln w="12700">
            <a:solidFill>
              <a:schemeClr val="bg2"/>
            </a:solidFill>
            <a:prstDash val="solid"/>
          </a:ln>
        </p:spPr>
      </p:sp>
      <p:sp>
        <p:nvSpPr>
          <p:cNvPr id="23" name="icon-circle"/>
          <p:cNvSpPr/>
          <p:nvPr/>
        </p:nvSpPr>
        <p:spPr>
          <a:xfrm>
            <a:off x="9797796" y="1965960"/>
            <a:ext cx="1005840" cy="1005840"/>
          </a:xfrm>
          <a:prstGeom prst="ellipse">
            <a:avLst/>
          </a:prstGeom>
          <a:solidFill>
            <a:schemeClr val="accent2"/>
          </a:solidFill>
          <a:ln w="12700">
            <a:solidFill>
              <a:schemeClr val="accent2"/>
            </a:solidFill>
            <a:prstDash val="solid"/>
          </a:ln>
        </p:spPr>
      </p:sp>
      <p:pic>
        <p:nvPicPr>
          <p:cNvPr id="24" name="icon" descr="preencoded.png">    </p:cNvPr>
          <p:cNvPicPr>
            <a:picLocks noChangeAspect="1"/>
          </p:cNvPicPr>
          <p:nvPr/>
        </p:nvPicPr>
        <p:blipFill>
          <a:blip r:embed="rId4"/>
          <a:stretch>
            <a:fillRect/>
          </a:stretch>
        </p:blipFill>
        <p:spPr>
          <a:xfrm>
            <a:off x="10049256" y="2217420"/>
            <a:ext cx="502920" cy="502920"/>
          </a:xfrm>
          <a:prstGeom prst="rect">
            <a:avLst/>
          </a:prstGeom>
        </p:spPr>
      </p:pic>
      <p:sp>
        <p:nvSpPr>
          <p:cNvPr id="25" name="Text 19"/>
          <p:cNvSpPr txBox="1"/>
          <p:nvPr/>
        </p:nvSpPr>
        <p:spPr>
          <a:xfrm>
            <a:off x="9226296" y="3154680"/>
            <a:ext cx="2148840" cy="411480"/>
          </a:xfrm>
          <a:prstGeom prst="rect">
            <a:avLst/>
          </a:prstGeom>
          <a:noFill/>
          <a:ln/>
        </p:spPr>
        <p:txBody>
          <a:bodyPr wrap="square" lIns="0" tIns="0" rIns="0" bIns="0" rtlCol="0" anchor="t"/>
          <a:lstStyle/>
          <a:p>
            <a:pPr algn="ctr" indent="0" marL="0">
              <a:buNone/>
            </a:pPr>
            <a:r>
              <a:rPr lang="en-US" sz="1800" b="1" dirty="0">
                <a:solidFill>
                  <a:schemeClr val="tx1"/>
                </a:solidFill>
              </a:rPr>
              <a:t>기부처</a:t>
            </a:r>
            <a:endParaRPr lang="en-US" sz="1800" dirty="0"/>
          </a:p>
        </p:txBody>
      </p:sp>
      <p:sp>
        <p:nvSpPr>
          <p:cNvPr id="26" name="Text 20"/>
          <p:cNvSpPr txBox="1"/>
          <p:nvPr/>
        </p:nvSpPr>
        <p:spPr>
          <a:xfrm>
            <a:off x="9226296" y="3566160"/>
            <a:ext cx="2148840" cy="594360"/>
          </a:xfrm>
          <a:prstGeom prst="rect">
            <a:avLst/>
          </a:prstGeom>
          <a:noFill/>
          <a:ln/>
        </p:spPr>
        <p:txBody>
          <a:bodyPr wrap="square" lIns="0" tIns="0" rIns="0" bIns="0" rtlCol="0" anchor="t"/>
          <a:lstStyle/>
          <a:p>
            <a:pPr algn="ctr" indent="0" marL="0">
              <a:buNone/>
            </a:pPr>
            <a:r>
              <a:rPr lang="en-US" sz="1300" dirty="0">
                <a:solidFill>
                  <a:schemeClr val="accent5"/>
                </a:solidFill>
              </a:rPr>
              <a:t>제휴 기부 단체</a:t>
            </a:r>
            <a:endParaRPr lang="en-US" sz="1300" dirty="0"/>
          </a:p>
        </p:txBody>
      </p:sp>
      <p:sp>
        <p:nvSpPr>
          <p:cNvPr id="27" name="Text 21"/>
          <p:cNvSpPr txBox="1"/>
          <p:nvPr/>
        </p:nvSpPr>
        <p:spPr>
          <a:xfrm>
            <a:off x="9272016" y="4297680"/>
            <a:ext cx="210312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받은 기부 내역 조회</a:t>
            </a:r>
            <a:endParaRPr lang="en-US" sz="1400" dirty="0"/>
          </a:p>
          <a:p>
            <a:pPr marL="342900" indent="-342900">
              <a:spcAft>
                <a:spcPts val="600"/>
              </a:spcAft>
              <a:buSzPct val="100000"/>
              <a:buChar char="•"/>
            </a:pPr>
            <a:r>
              <a:rPr lang="en-US" sz="1400" dirty="0">
                <a:solidFill>
                  <a:schemeClr val="tx1"/>
                </a:solidFill>
              </a:rPr>
              <a:t>(조회 중심 사용자)</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B8C"/>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65760"/>
          </a:xfrm>
          <a:prstGeom prst="rect">
            <a:avLst/>
          </a:prstGeom>
          <a:noFill/>
          <a:ln/>
        </p:spPr>
        <p:txBody>
          <a:bodyPr wrap="square" lIns="0" tIns="0" rIns="0" bIns="0" rtlCol="0"/>
          <a:lstStyle/>
          <a:p>
            <a:pPr indent="0" marL="0">
              <a:buNone/>
            </a:pPr>
            <a:r>
              <a:rPr lang="en-US" sz="1400" b="1" dirty="0">
                <a:solidFill>
                  <a:schemeClr val="accent1"/>
                </a:solidFill>
              </a:rPr>
              <a:t>05  주요 기능</a:t>
            </a:r>
            <a:endParaRPr lang="en-US" sz="1400" dirty="0"/>
          </a:p>
        </p:txBody>
      </p:sp>
      <p:sp>
        <p:nvSpPr>
          <p:cNvPr id="3" name="Text 0"/>
          <p:cNvSpPr/>
          <p:nvPr>
            <p:ph idx="101"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CRUD부터 통계까지 실제 업무 흐름을 구현합니다</a:t>
            </a:r>
            <a:endParaRPr lang="en-US" sz="3000" dirty="0"/>
          </a:p>
        </p:txBody>
      </p:sp>
      <p:sp>
        <p:nvSpPr>
          <p:cNvPr id="4" name="card"/>
          <p:cNvSpPr/>
          <p:nvPr/>
        </p:nvSpPr>
        <p:spPr>
          <a:xfrm>
            <a:off x="548640" y="1691640"/>
            <a:ext cx="2606040" cy="2103120"/>
          </a:xfrm>
          <a:prstGeom prst="roundRect">
            <a:avLst>
              <a:gd name="adj" fmla="val 5217"/>
            </a:avLst>
          </a:prstGeom>
          <a:solidFill>
            <a:schemeClr val="bg2"/>
          </a:solidFill>
          <a:ln w="12700">
            <a:solidFill>
              <a:schemeClr val="bg2"/>
            </a:solidFill>
            <a:prstDash val="solid"/>
          </a:ln>
        </p:spPr>
      </p:sp>
      <p:sp>
        <p:nvSpPr>
          <p:cNvPr id="5" name="icon-circle"/>
          <p:cNvSpPr/>
          <p:nvPr/>
        </p:nvSpPr>
        <p:spPr>
          <a:xfrm>
            <a:off x="777240" y="1920240"/>
            <a:ext cx="640080" cy="640080"/>
          </a:xfrm>
          <a:prstGeom prst="ellipse">
            <a:avLst/>
          </a:prstGeom>
          <a:solidFill>
            <a:schemeClr val="accent1"/>
          </a:solidFill>
          <a:ln w="12700">
            <a:solidFill>
              <a:schemeClr val="accent1"/>
            </a:solidFill>
            <a:prstDash val="solid"/>
          </a:ln>
        </p:spPr>
      </p:sp>
      <p:pic>
        <p:nvPicPr>
          <p:cNvPr id="6" name="icon" descr="preencoded.png">    </p:cNvPr>
          <p:cNvPicPr>
            <a:picLocks noChangeAspect="1"/>
          </p:cNvPicPr>
          <p:nvPr/>
        </p:nvPicPr>
        <p:blipFill>
          <a:blip r:embed="rId1"/>
          <a:stretch>
            <a:fillRect/>
          </a:stretch>
        </p:blipFill>
        <p:spPr>
          <a:xfrm>
            <a:off x="937260" y="2080260"/>
            <a:ext cx="320040" cy="320040"/>
          </a:xfrm>
          <a:prstGeom prst="rect">
            <a:avLst/>
          </a:prstGeom>
        </p:spPr>
      </p:pic>
      <p:sp>
        <p:nvSpPr>
          <p:cNvPr id="7" name="Text 4"/>
          <p:cNvSpPr txBox="1"/>
          <p:nvPr/>
        </p:nvSpPr>
        <p:spPr>
          <a:xfrm>
            <a:off x="777240" y="2651760"/>
            <a:ext cx="2148840" cy="365760"/>
          </a:xfrm>
          <a:prstGeom prst="rect">
            <a:avLst/>
          </a:prstGeom>
          <a:noFill/>
          <a:ln/>
        </p:spPr>
        <p:txBody>
          <a:bodyPr wrap="square" lIns="0" tIns="0" rIns="0" bIns="0" rtlCol="0" anchor="t"/>
          <a:lstStyle/>
          <a:p>
            <a:pPr indent="0" marL="0">
              <a:buNone/>
            </a:pPr>
            <a:r>
              <a:rPr lang="en-US" sz="1600" b="1" dirty="0">
                <a:solidFill>
                  <a:schemeClr val="tx1"/>
                </a:solidFill>
              </a:rPr>
              <a:t>회원 · 학교 인증</a:t>
            </a:r>
            <a:endParaRPr lang="en-US" sz="1600" dirty="0"/>
          </a:p>
        </p:txBody>
      </p:sp>
      <p:sp>
        <p:nvSpPr>
          <p:cNvPr id="8" name="Text 5"/>
          <p:cNvSpPr txBox="1"/>
          <p:nvPr/>
        </p:nvSpPr>
        <p:spPr>
          <a:xfrm>
            <a:off x="777240" y="3017520"/>
            <a:ext cx="2148840" cy="731520"/>
          </a:xfrm>
          <a:prstGeom prst="rect">
            <a:avLst/>
          </a:prstGeom>
          <a:noFill/>
          <a:ln/>
        </p:spPr>
        <p:txBody>
          <a:bodyPr wrap="square" lIns="0" tIns="0" rIns="0" bIns="0" rtlCol="0" anchor="t"/>
          <a:lstStyle/>
          <a:p>
            <a:pPr indent="0" marL="0">
              <a:buNone/>
            </a:pPr>
            <a:r>
              <a:rPr lang="en-US" sz="1300" dirty="0">
                <a:solidFill>
                  <a:schemeClr val="tx1"/>
                </a:solidFill>
              </a:rPr>
              <a:t>학교 이메일 인증 가입, 학과·신뢰도 표시</a:t>
            </a:r>
            <a:endParaRPr lang="en-US" sz="1300" dirty="0"/>
          </a:p>
        </p:txBody>
      </p:sp>
      <p:sp>
        <p:nvSpPr>
          <p:cNvPr id="9" name="card"/>
          <p:cNvSpPr/>
          <p:nvPr/>
        </p:nvSpPr>
        <p:spPr>
          <a:xfrm>
            <a:off x="3364992" y="1691640"/>
            <a:ext cx="2606040" cy="2103120"/>
          </a:xfrm>
          <a:prstGeom prst="roundRect">
            <a:avLst>
              <a:gd name="adj" fmla="val 5217"/>
            </a:avLst>
          </a:prstGeom>
          <a:solidFill>
            <a:schemeClr val="bg2"/>
          </a:solidFill>
          <a:ln w="12700">
            <a:solidFill>
              <a:schemeClr val="bg2"/>
            </a:solidFill>
            <a:prstDash val="solid"/>
          </a:ln>
        </p:spPr>
      </p:sp>
      <p:sp>
        <p:nvSpPr>
          <p:cNvPr id="10" name="icon-circle"/>
          <p:cNvSpPr/>
          <p:nvPr/>
        </p:nvSpPr>
        <p:spPr>
          <a:xfrm>
            <a:off x="3593592" y="1920240"/>
            <a:ext cx="640080" cy="640080"/>
          </a:xfrm>
          <a:prstGeom prst="ellipse">
            <a:avLst/>
          </a:prstGeom>
          <a:solidFill>
            <a:schemeClr val="accent1"/>
          </a:solidFill>
          <a:ln w="12700">
            <a:solidFill>
              <a:schemeClr val="accent1"/>
            </a:solidFill>
            <a:prstDash val="solid"/>
          </a:ln>
        </p:spPr>
      </p:sp>
      <p:pic>
        <p:nvPicPr>
          <p:cNvPr id="11" name="icon" descr="preencoded.png">    </p:cNvPr>
          <p:cNvPicPr>
            <a:picLocks noChangeAspect="1"/>
          </p:cNvPicPr>
          <p:nvPr/>
        </p:nvPicPr>
        <p:blipFill>
          <a:blip r:embed="rId2"/>
          <a:stretch>
            <a:fillRect/>
          </a:stretch>
        </p:blipFill>
        <p:spPr>
          <a:xfrm>
            <a:off x="3753612" y="2080260"/>
            <a:ext cx="320040" cy="320040"/>
          </a:xfrm>
          <a:prstGeom prst="rect">
            <a:avLst/>
          </a:prstGeom>
        </p:spPr>
      </p:pic>
      <p:sp>
        <p:nvSpPr>
          <p:cNvPr id="12" name="Text 8"/>
          <p:cNvSpPr txBox="1"/>
          <p:nvPr/>
        </p:nvSpPr>
        <p:spPr>
          <a:xfrm>
            <a:off x="3593592" y="2651760"/>
            <a:ext cx="2148840" cy="365760"/>
          </a:xfrm>
          <a:prstGeom prst="rect">
            <a:avLst/>
          </a:prstGeom>
          <a:noFill/>
          <a:ln/>
        </p:spPr>
        <p:txBody>
          <a:bodyPr wrap="square" lIns="0" tIns="0" rIns="0" bIns="0" rtlCol="0" anchor="t"/>
          <a:lstStyle/>
          <a:p>
            <a:pPr indent="0" marL="0">
              <a:buNone/>
            </a:pPr>
            <a:r>
              <a:rPr lang="en-US" sz="1600" b="1" dirty="0">
                <a:solidFill>
                  <a:schemeClr val="tx1"/>
                </a:solidFill>
              </a:rPr>
              <a:t>상품 관리 (CRUD)</a:t>
            </a:r>
            <a:endParaRPr lang="en-US" sz="1600" dirty="0"/>
          </a:p>
        </p:txBody>
      </p:sp>
      <p:sp>
        <p:nvSpPr>
          <p:cNvPr id="13" name="Text 9"/>
          <p:cNvSpPr txBox="1"/>
          <p:nvPr/>
        </p:nvSpPr>
        <p:spPr>
          <a:xfrm>
            <a:off x="3593592" y="3017520"/>
            <a:ext cx="2148840" cy="731520"/>
          </a:xfrm>
          <a:prstGeom prst="rect">
            <a:avLst/>
          </a:prstGeom>
          <a:noFill/>
          <a:ln/>
        </p:spPr>
        <p:txBody>
          <a:bodyPr wrap="square" lIns="0" tIns="0" rIns="0" bIns="0" rtlCol="0" anchor="t"/>
          <a:lstStyle/>
          <a:p>
            <a:pPr indent="0" marL="0">
              <a:buNone/>
            </a:pPr>
            <a:r>
              <a:rPr lang="en-US" sz="1300" dirty="0">
                <a:solidFill>
                  <a:schemeClr val="tx1"/>
                </a:solidFill>
              </a:rPr>
              <a:t>등록·수정·삭제·조회, 사진 여러 장, 상태 관리</a:t>
            </a:r>
            <a:endParaRPr lang="en-US" sz="1300" dirty="0"/>
          </a:p>
        </p:txBody>
      </p:sp>
      <p:sp>
        <p:nvSpPr>
          <p:cNvPr id="14" name="card"/>
          <p:cNvSpPr/>
          <p:nvPr/>
        </p:nvSpPr>
        <p:spPr>
          <a:xfrm>
            <a:off x="6181344" y="1691640"/>
            <a:ext cx="2606040" cy="2103120"/>
          </a:xfrm>
          <a:prstGeom prst="roundRect">
            <a:avLst>
              <a:gd name="adj" fmla="val 5217"/>
            </a:avLst>
          </a:prstGeom>
          <a:solidFill>
            <a:schemeClr val="bg2"/>
          </a:solidFill>
          <a:ln w="12700">
            <a:solidFill>
              <a:schemeClr val="bg2"/>
            </a:solidFill>
            <a:prstDash val="solid"/>
          </a:ln>
        </p:spPr>
      </p:sp>
      <p:sp>
        <p:nvSpPr>
          <p:cNvPr id="15" name="icon-circle"/>
          <p:cNvSpPr/>
          <p:nvPr/>
        </p:nvSpPr>
        <p:spPr>
          <a:xfrm>
            <a:off x="6409944" y="1920240"/>
            <a:ext cx="640080" cy="640080"/>
          </a:xfrm>
          <a:prstGeom prst="ellipse">
            <a:avLst/>
          </a:prstGeom>
          <a:solidFill>
            <a:schemeClr val="accent1"/>
          </a:solidFill>
          <a:ln w="12700">
            <a:solidFill>
              <a:schemeClr val="accent1"/>
            </a:solidFill>
            <a:prstDash val="solid"/>
          </a:ln>
        </p:spPr>
      </p:sp>
      <p:pic>
        <p:nvPicPr>
          <p:cNvPr id="16" name="icon" descr="preencoded.png">    </p:cNvPr>
          <p:cNvPicPr>
            <a:picLocks noChangeAspect="1"/>
          </p:cNvPicPr>
          <p:nvPr/>
        </p:nvPicPr>
        <p:blipFill>
          <a:blip r:embed="rId3"/>
          <a:stretch>
            <a:fillRect/>
          </a:stretch>
        </p:blipFill>
        <p:spPr>
          <a:xfrm>
            <a:off x="6569964" y="2080260"/>
            <a:ext cx="320040" cy="320040"/>
          </a:xfrm>
          <a:prstGeom prst="rect">
            <a:avLst/>
          </a:prstGeom>
        </p:spPr>
      </p:pic>
      <p:sp>
        <p:nvSpPr>
          <p:cNvPr id="17" name="Text 12"/>
          <p:cNvSpPr txBox="1"/>
          <p:nvPr/>
        </p:nvSpPr>
        <p:spPr>
          <a:xfrm>
            <a:off x="6409944" y="2651760"/>
            <a:ext cx="2148840" cy="365760"/>
          </a:xfrm>
          <a:prstGeom prst="rect">
            <a:avLst/>
          </a:prstGeom>
          <a:noFill/>
          <a:ln/>
        </p:spPr>
        <p:txBody>
          <a:bodyPr wrap="square" lIns="0" tIns="0" rIns="0" bIns="0" rtlCol="0" anchor="t"/>
          <a:lstStyle/>
          <a:p>
            <a:pPr indent="0" marL="0">
              <a:buNone/>
            </a:pPr>
            <a:r>
              <a:rPr lang="en-US" sz="1600" b="1" dirty="0">
                <a:solidFill>
                  <a:schemeClr val="tx1"/>
                </a:solidFill>
              </a:rPr>
              <a:t>검색 · 필터 · 정렬</a:t>
            </a:r>
            <a:endParaRPr lang="en-US" sz="1600" dirty="0"/>
          </a:p>
        </p:txBody>
      </p:sp>
      <p:sp>
        <p:nvSpPr>
          <p:cNvPr id="18" name="Text 13"/>
          <p:cNvSpPr txBox="1"/>
          <p:nvPr/>
        </p:nvSpPr>
        <p:spPr>
          <a:xfrm>
            <a:off x="6409944" y="3017520"/>
            <a:ext cx="2148840" cy="731520"/>
          </a:xfrm>
          <a:prstGeom prst="rect">
            <a:avLst/>
          </a:prstGeom>
          <a:noFill/>
          <a:ln/>
        </p:spPr>
        <p:txBody>
          <a:bodyPr wrap="square" lIns="0" tIns="0" rIns="0" bIns="0" rtlCol="0" anchor="t"/>
          <a:lstStyle/>
          <a:p>
            <a:pPr indent="0" marL="0">
              <a:buNone/>
            </a:pPr>
            <a:r>
              <a:rPr lang="en-US" sz="1300" dirty="0">
                <a:solidFill>
                  <a:schemeClr val="tx1"/>
                </a:solidFill>
              </a:rPr>
              <a:t>카테고리·가격대·거래 방식 필터, 최신·가격·찜 순</a:t>
            </a:r>
            <a:endParaRPr lang="en-US" sz="1300" dirty="0"/>
          </a:p>
        </p:txBody>
      </p:sp>
      <p:sp>
        <p:nvSpPr>
          <p:cNvPr id="19" name="card"/>
          <p:cNvSpPr/>
          <p:nvPr/>
        </p:nvSpPr>
        <p:spPr>
          <a:xfrm>
            <a:off x="8997696" y="1691640"/>
            <a:ext cx="2606040" cy="2103120"/>
          </a:xfrm>
          <a:prstGeom prst="roundRect">
            <a:avLst>
              <a:gd name="adj" fmla="val 5217"/>
            </a:avLst>
          </a:prstGeom>
          <a:solidFill>
            <a:schemeClr val="bg2"/>
          </a:solidFill>
          <a:ln w="12700">
            <a:solidFill>
              <a:schemeClr val="bg2"/>
            </a:solidFill>
            <a:prstDash val="solid"/>
          </a:ln>
        </p:spPr>
      </p:sp>
      <p:sp>
        <p:nvSpPr>
          <p:cNvPr id="20" name="icon-circle"/>
          <p:cNvSpPr/>
          <p:nvPr/>
        </p:nvSpPr>
        <p:spPr>
          <a:xfrm>
            <a:off x="9226296" y="1920240"/>
            <a:ext cx="640080" cy="640080"/>
          </a:xfrm>
          <a:prstGeom prst="ellipse">
            <a:avLst/>
          </a:prstGeom>
          <a:solidFill>
            <a:schemeClr val="accent1"/>
          </a:solidFill>
          <a:ln w="12700">
            <a:solidFill>
              <a:schemeClr val="accent1"/>
            </a:solidFill>
            <a:prstDash val="solid"/>
          </a:ln>
        </p:spPr>
      </p:sp>
      <p:pic>
        <p:nvPicPr>
          <p:cNvPr id="21" name="icon" descr="preencoded.png">    </p:cNvPr>
          <p:cNvPicPr>
            <a:picLocks noChangeAspect="1"/>
          </p:cNvPicPr>
          <p:nvPr/>
        </p:nvPicPr>
        <p:blipFill>
          <a:blip r:embed="rId4"/>
          <a:stretch>
            <a:fillRect/>
          </a:stretch>
        </p:blipFill>
        <p:spPr>
          <a:xfrm>
            <a:off x="9386316" y="2080260"/>
            <a:ext cx="320040" cy="320040"/>
          </a:xfrm>
          <a:prstGeom prst="rect">
            <a:avLst/>
          </a:prstGeom>
        </p:spPr>
      </p:pic>
      <p:sp>
        <p:nvSpPr>
          <p:cNvPr id="22" name="Text 16"/>
          <p:cNvSpPr txBox="1"/>
          <p:nvPr/>
        </p:nvSpPr>
        <p:spPr>
          <a:xfrm>
            <a:off x="9226296" y="2651760"/>
            <a:ext cx="2148840" cy="365760"/>
          </a:xfrm>
          <a:prstGeom prst="rect">
            <a:avLst/>
          </a:prstGeom>
          <a:noFill/>
          <a:ln/>
        </p:spPr>
        <p:txBody>
          <a:bodyPr wrap="square" lIns="0" tIns="0" rIns="0" bIns="0" rtlCol="0" anchor="t"/>
          <a:lstStyle/>
          <a:p>
            <a:pPr indent="0" marL="0">
              <a:buNone/>
            </a:pPr>
            <a:r>
              <a:rPr lang="en-US" sz="1600" b="1" dirty="0">
                <a:solidFill>
                  <a:schemeClr val="tx1"/>
                </a:solidFill>
              </a:rPr>
              <a:t>찜 · 1:1 채팅</a:t>
            </a:r>
            <a:endParaRPr lang="en-US" sz="1600" dirty="0"/>
          </a:p>
        </p:txBody>
      </p:sp>
      <p:sp>
        <p:nvSpPr>
          <p:cNvPr id="23" name="Text 17"/>
          <p:cNvSpPr txBox="1"/>
          <p:nvPr/>
        </p:nvSpPr>
        <p:spPr>
          <a:xfrm>
            <a:off x="9226296" y="3017520"/>
            <a:ext cx="2148840" cy="731520"/>
          </a:xfrm>
          <a:prstGeom prst="rect">
            <a:avLst/>
          </a:prstGeom>
          <a:noFill/>
          <a:ln/>
        </p:spPr>
        <p:txBody>
          <a:bodyPr wrap="square" lIns="0" tIns="0" rIns="0" bIns="0" rtlCol="0" anchor="t"/>
          <a:lstStyle/>
          <a:p>
            <a:pPr indent="0" marL="0">
              <a:buNone/>
            </a:pPr>
            <a:r>
              <a:rPr lang="en-US" sz="1300" dirty="0">
                <a:solidFill>
                  <a:schemeClr val="tx1"/>
                </a:solidFill>
              </a:rPr>
              <a:t>관심 상품 찜, 상품별 구매 문의 채팅</a:t>
            </a:r>
            <a:endParaRPr lang="en-US" sz="1300" dirty="0"/>
          </a:p>
        </p:txBody>
      </p:sp>
      <p:sp>
        <p:nvSpPr>
          <p:cNvPr id="24" name="card"/>
          <p:cNvSpPr/>
          <p:nvPr/>
        </p:nvSpPr>
        <p:spPr>
          <a:xfrm>
            <a:off x="548640" y="4069080"/>
            <a:ext cx="2606040" cy="2103120"/>
          </a:xfrm>
          <a:prstGeom prst="roundRect">
            <a:avLst>
              <a:gd name="adj" fmla="val 5217"/>
            </a:avLst>
          </a:prstGeom>
          <a:solidFill>
            <a:schemeClr val="bg2"/>
          </a:solidFill>
          <a:ln w="12700">
            <a:solidFill>
              <a:schemeClr val="bg2"/>
            </a:solidFill>
            <a:prstDash val="solid"/>
          </a:ln>
        </p:spPr>
      </p:sp>
      <p:sp>
        <p:nvSpPr>
          <p:cNvPr id="25" name="icon-circle"/>
          <p:cNvSpPr/>
          <p:nvPr/>
        </p:nvSpPr>
        <p:spPr>
          <a:xfrm>
            <a:off x="777240" y="4297680"/>
            <a:ext cx="640080" cy="640080"/>
          </a:xfrm>
          <a:prstGeom prst="ellipse">
            <a:avLst/>
          </a:prstGeom>
          <a:solidFill>
            <a:schemeClr val="accent2"/>
          </a:solidFill>
          <a:ln w="12700">
            <a:solidFill>
              <a:schemeClr val="accent2"/>
            </a:solidFill>
            <a:prstDash val="solid"/>
          </a:ln>
        </p:spPr>
      </p:sp>
      <p:pic>
        <p:nvPicPr>
          <p:cNvPr id="26" name="icon" descr="preencoded.png">    </p:cNvPr>
          <p:cNvPicPr>
            <a:picLocks noChangeAspect="1"/>
          </p:cNvPicPr>
          <p:nvPr/>
        </p:nvPicPr>
        <p:blipFill>
          <a:blip r:embed="rId5"/>
          <a:stretch>
            <a:fillRect/>
          </a:stretch>
        </p:blipFill>
        <p:spPr>
          <a:xfrm>
            <a:off x="937260" y="4457700"/>
            <a:ext cx="320040" cy="320040"/>
          </a:xfrm>
          <a:prstGeom prst="rect">
            <a:avLst/>
          </a:prstGeom>
        </p:spPr>
      </p:pic>
      <p:sp>
        <p:nvSpPr>
          <p:cNvPr id="27" name="Text 20"/>
          <p:cNvSpPr txBox="1"/>
          <p:nvPr/>
        </p:nvSpPr>
        <p:spPr>
          <a:xfrm>
            <a:off x="777240" y="5029200"/>
            <a:ext cx="2148840" cy="365760"/>
          </a:xfrm>
          <a:prstGeom prst="rect">
            <a:avLst/>
          </a:prstGeom>
          <a:noFill/>
          <a:ln/>
        </p:spPr>
        <p:txBody>
          <a:bodyPr wrap="square" lIns="0" tIns="0" rIns="0" bIns="0" rtlCol="0" anchor="t"/>
          <a:lstStyle/>
          <a:p>
            <a:pPr indent="0" marL="0">
              <a:buNone/>
            </a:pPr>
            <a:r>
              <a:rPr lang="en-US" sz="1600" b="1" dirty="0">
                <a:solidFill>
                  <a:schemeClr val="tx1"/>
                </a:solidFill>
              </a:rPr>
              <a:t>거래 확정 · 기부 기록</a:t>
            </a:r>
            <a:endParaRPr lang="en-US" sz="1600" dirty="0"/>
          </a:p>
        </p:txBody>
      </p:sp>
      <p:sp>
        <p:nvSpPr>
          <p:cNvPr id="28" name="Text 21"/>
          <p:cNvSpPr txBox="1"/>
          <p:nvPr/>
        </p:nvSpPr>
        <p:spPr>
          <a:xfrm>
            <a:off x="777240" y="5394960"/>
            <a:ext cx="2148840" cy="731520"/>
          </a:xfrm>
          <a:prstGeom prst="rect">
            <a:avLst/>
          </a:prstGeom>
          <a:noFill/>
          <a:ln/>
        </p:spPr>
        <p:txBody>
          <a:bodyPr wrap="square" lIns="0" tIns="0" rIns="0" bIns="0" rtlCol="0" anchor="t"/>
          <a:lstStyle/>
          <a:p>
            <a:pPr indent="0" marL="0">
              <a:buNone/>
            </a:pPr>
            <a:r>
              <a:rPr lang="en-US" sz="1300" dirty="0">
                <a:solidFill>
                  <a:schemeClr val="tx1"/>
                </a:solidFill>
              </a:rPr>
              <a:t>최종가·장소 기록, 기부 내역 자동 생성</a:t>
            </a:r>
            <a:endParaRPr lang="en-US" sz="1300" dirty="0"/>
          </a:p>
        </p:txBody>
      </p:sp>
      <p:sp>
        <p:nvSpPr>
          <p:cNvPr id="29" name="card"/>
          <p:cNvSpPr/>
          <p:nvPr/>
        </p:nvSpPr>
        <p:spPr>
          <a:xfrm>
            <a:off x="3364992" y="4069080"/>
            <a:ext cx="2606040" cy="2103120"/>
          </a:xfrm>
          <a:prstGeom prst="roundRect">
            <a:avLst>
              <a:gd name="adj" fmla="val 5217"/>
            </a:avLst>
          </a:prstGeom>
          <a:solidFill>
            <a:schemeClr val="bg2"/>
          </a:solidFill>
          <a:ln w="12700">
            <a:solidFill>
              <a:schemeClr val="bg2"/>
            </a:solidFill>
            <a:prstDash val="solid"/>
          </a:ln>
        </p:spPr>
      </p:sp>
      <p:sp>
        <p:nvSpPr>
          <p:cNvPr id="30" name="icon-circle"/>
          <p:cNvSpPr/>
          <p:nvPr/>
        </p:nvSpPr>
        <p:spPr>
          <a:xfrm>
            <a:off x="3593592" y="4297680"/>
            <a:ext cx="640080" cy="640080"/>
          </a:xfrm>
          <a:prstGeom prst="ellipse">
            <a:avLst/>
          </a:prstGeom>
          <a:solidFill>
            <a:schemeClr val="accent2"/>
          </a:solidFill>
          <a:ln w="12700">
            <a:solidFill>
              <a:schemeClr val="accent2"/>
            </a:solidFill>
            <a:prstDash val="solid"/>
          </a:ln>
        </p:spPr>
      </p:sp>
      <p:pic>
        <p:nvPicPr>
          <p:cNvPr id="31" name="icon" descr="preencoded.png">    </p:cNvPr>
          <p:cNvPicPr>
            <a:picLocks noChangeAspect="1"/>
          </p:cNvPicPr>
          <p:nvPr/>
        </p:nvPicPr>
        <p:blipFill>
          <a:blip r:embed="rId6"/>
          <a:stretch>
            <a:fillRect/>
          </a:stretch>
        </p:blipFill>
        <p:spPr>
          <a:xfrm>
            <a:off x="3753612" y="4457700"/>
            <a:ext cx="320040" cy="320040"/>
          </a:xfrm>
          <a:prstGeom prst="rect">
            <a:avLst/>
          </a:prstGeom>
        </p:spPr>
      </p:pic>
      <p:sp>
        <p:nvSpPr>
          <p:cNvPr id="32" name="Text 24"/>
          <p:cNvSpPr txBox="1"/>
          <p:nvPr/>
        </p:nvSpPr>
        <p:spPr>
          <a:xfrm>
            <a:off x="3593592" y="5029200"/>
            <a:ext cx="2148840" cy="365760"/>
          </a:xfrm>
          <a:prstGeom prst="rect">
            <a:avLst/>
          </a:prstGeom>
          <a:noFill/>
          <a:ln/>
        </p:spPr>
        <p:txBody>
          <a:bodyPr wrap="square" lIns="0" tIns="0" rIns="0" bIns="0" rtlCol="0" anchor="t"/>
          <a:lstStyle/>
          <a:p>
            <a:pPr indent="0" marL="0">
              <a:buNone/>
            </a:pPr>
            <a:r>
              <a:rPr lang="en-US" sz="1600" b="1" dirty="0">
                <a:solidFill>
                  <a:schemeClr val="tx1"/>
                </a:solidFill>
              </a:rPr>
              <a:t>나눔 포인트</a:t>
            </a:r>
            <a:endParaRPr lang="en-US" sz="1600" dirty="0"/>
          </a:p>
        </p:txBody>
      </p:sp>
      <p:sp>
        <p:nvSpPr>
          <p:cNvPr id="33" name="Text 25"/>
          <p:cNvSpPr txBox="1"/>
          <p:nvPr/>
        </p:nvSpPr>
        <p:spPr>
          <a:xfrm>
            <a:off x="3593592" y="5394960"/>
            <a:ext cx="2148840" cy="731520"/>
          </a:xfrm>
          <a:prstGeom prst="rect">
            <a:avLst/>
          </a:prstGeom>
          <a:noFill/>
          <a:ln/>
        </p:spPr>
        <p:txBody>
          <a:bodyPr wrap="square" lIns="0" tIns="0" rIns="0" bIns="0" rtlCol="0" anchor="t"/>
          <a:lstStyle/>
          <a:p>
            <a:pPr indent="0" marL="0">
              <a:buNone/>
            </a:pPr>
            <a:r>
              <a:rPr lang="en-US" sz="1300" dirty="0">
                <a:solidFill>
                  <a:schemeClr val="tx1"/>
                </a:solidFill>
              </a:rPr>
              <a:t>적립·사용 원장 기록, 리워드 교환</a:t>
            </a:r>
            <a:endParaRPr lang="en-US" sz="1300" dirty="0"/>
          </a:p>
        </p:txBody>
      </p:sp>
      <p:sp>
        <p:nvSpPr>
          <p:cNvPr id="34" name="card"/>
          <p:cNvSpPr/>
          <p:nvPr/>
        </p:nvSpPr>
        <p:spPr>
          <a:xfrm>
            <a:off x="6181344" y="4069080"/>
            <a:ext cx="2606040" cy="2103120"/>
          </a:xfrm>
          <a:prstGeom prst="roundRect">
            <a:avLst>
              <a:gd name="adj" fmla="val 5217"/>
            </a:avLst>
          </a:prstGeom>
          <a:solidFill>
            <a:schemeClr val="bg2"/>
          </a:solidFill>
          <a:ln w="12700">
            <a:solidFill>
              <a:schemeClr val="bg2"/>
            </a:solidFill>
            <a:prstDash val="solid"/>
          </a:ln>
        </p:spPr>
      </p:sp>
      <p:sp>
        <p:nvSpPr>
          <p:cNvPr id="35" name="icon-circle"/>
          <p:cNvSpPr/>
          <p:nvPr/>
        </p:nvSpPr>
        <p:spPr>
          <a:xfrm>
            <a:off x="6409944" y="4297680"/>
            <a:ext cx="640080" cy="640080"/>
          </a:xfrm>
          <a:prstGeom prst="ellipse">
            <a:avLst/>
          </a:prstGeom>
          <a:solidFill>
            <a:schemeClr val="accent1"/>
          </a:solidFill>
          <a:ln w="12700">
            <a:solidFill>
              <a:schemeClr val="accent1"/>
            </a:solidFill>
            <a:prstDash val="solid"/>
          </a:ln>
        </p:spPr>
      </p:sp>
      <p:pic>
        <p:nvPicPr>
          <p:cNvPr id="36" name="icon" descr="preencoded.png">    </p:cNvPr>
          <p:cNvPicPr>
            <a:picLocks noChangeAspect="1"/>
          </p:cNvPicPr>
          <p:nvPr/>
        </p:nvPicPr>
        <p:blipFill>
          <a:blip r:embed="rId7"/>
          <a:stretch>
            <a:fillRect/>
          </a:stretch>
        </p:blipFill>
        <p:spPr>
          <a:xfrm>
            <a:off x="6569964" y="4457700"/>
            <a:ext cx="320040" cy="320040"/>
          </a:xfrm>
          <a:prstGeom prst="rect">
            <a:avLst/>
          </a:prstGeom>
        </p:spPr>
      </p:pic>
      <p:sp>
        <p:nvSpPr>
          <p:cNvPr id="37" name="Text 28"/>
          <p:cNvSpPr txBox="1"/>
          <p:nvPr/>
        </p:nvSpPr>
        <p:spPr>
          <a:xfrm>
            <a:off x="6409944" y="5029200"/>
            <a:ext cx="2148840" cy="365760"/>
          </a:xfrm>
          <a:prstGeom prst="rect">
            <a:avLst/>
          </a:prstGeom>
          <a:noFill/>
          <a:ln/>
        </p:spPr>
        <p:txBody>
          <a:bodyPr wrap="square" lIns="0" tIns="0" rIns="0" bIns="0" rtlCol="0" anchor="t"/>
          <a:lstStyle/>
          <a:p>
            <a:pPr indent="0" marL="0">
              <a:buNone/>
            </a:pPr>
            <a:r>
              <a:rPr lang="en-US" sz="1600" b="1" dirty="0">
                <a:solidFill>
                  <a:schemeClr val="tx1"/>
                </a:solidFill>
              </a:rPr>
              <a:t>후기 · 신고</a:t>
            </a:r>
            <a:endParaRPr lang="en-US" sz="1600" dirty="0"/>
          </a:p>
        </p:txBody>
      </p:sp>
      <p:sp>
        <p:nvSpPr>
          <p:cNvPr id="38" name="Text 29"/>
          <p:cNvSpPr txBox="1"/>
          <p:nvPr/>
        </p:nvSpPr>
        <p:spPr>
          <a:xfrm>
            <a:off x="6409944" y="5394960"/>
            <a:ext cx="2148840" cy="731520"/>
          </a:xfrm>
          <a:prstGeom prst="rect">
            <a:avLst/>
          </a:prstGeom>
          <a:noFill/>
          <a:ln/>
        </p:spPr>
        <p:txBody>
          <a:bodyPr wrap="square" lIns="0" tIns="0" rIns="0" bIns="0" rtlCol="0" anchor="t"/>
          <a:lstStyle/>
          <a:p>
            <a:pPr indent="0" marL="0">
              <a:buNone/>
            </a:pPr>
            <a:r>
              <a:rPr lang="en-US" sz="1300" dirty="0">
                <a:solidFill>
                  <a:schemeClr val="tx1"/>
                </a:solidFill>
              </a:rPr>
              <a:t>상호 별점 후기로 신뢰도 반영, 신고 처리</a:t>
            </a:r>
            <a:endParaRPr lang="en-US" sz="1300" dirty="0"/>
          </a:p>
        </p:txBody>
      </p:sp>
      <p:sp>
        <p:nvSpPr>
          <p:cNvPr id="39" name="card"/>
          <p:cNvSpPr/>
          <p:nvPr/>
        </p:nvSpPr>
        <p:spPr>
          <a:xfrm>
            <a:off x="8997696" y="4069080"/>
            <a:ext cx="2606040" cy="2103120"/>
          </a:xfrm>
          <a:prstGeom prst="roundRect">
            <a:avLst>
              <a:gd name="adj" fmla="val 5217"/>
            </a:avLst>
          </a:prstGeom>
          <a:solidFill>
            <a:schemeClr val="bg2"/>
          </a:solidFill>
          <a:ln w="12700">
            <a:solidFill>
              <a:schemeClr val="bg2"/>
            </a:solidFill>
            <a:prstDash val="solid"/>
          </a:ln>
        </p:spPr>
      </p:sp>
      <p:sp>
        <p:nvSpPr>
          <p:cNvPr id="40" name="icon-circle"/>
          <p:cNvSpPr/>
          <p:nvPr/>
        </p:nvSpPr>
        <p:spPr>
          <a:xfrm>
            <a:off x="9226296" y="4297680"/>
            <a:ext cx="640080" cy="640080"/>
          </a:xfrm>
          <a:prstGeom prst="ellipse">
            <a:avLst/>
          </a:prstGeom>
          <a:solidFill>
            <a:schemeClr val="accent1"/>
          </a:solidFill>
          <a:ln w="12700">
            <a:solidFill>
              <a:schemeClr val="accent1"/>
            </a:solidFill>
            <a:prstDash val="solid"/>
          </a:ln>
        </p:spPr>
      </p:sp>
      <p:pic>
        <p:nvPicPr>
          <p:cNvPr id="41" name="icon" descr="preencoded.png">    </p:cNvPr>
          <p:cNvPicPr>
            <a:picLocks noChangeAspect="1"/>
          </p:cNvPicPr>
          <p:nvPr/>
        </p:nvPicPr>
        <p:blipFill>
          <a:blip r:embed="rId8"/>
          <a:stretch>
            <a:fillRect/>
          </a:stretch>
        </p:blipFill>
        <p:spPr>
          <a:xfrm>
            <a:off x="9386316" y="4457700"/>
            <a:ext cx="320040" cy="320040"/>
          </a:xfrm>
          <a:prstGeom prst="rect">
            <a:avLst/>
          </a:prstGeom>
        </p:spPr>
      </p:pic>
      <p:sp>
        <p:nvSpPr>
          <p:cNvPr id="42" name="Text 32"/>
          <p:cNvSpPr txBox="1"/>
          <p:nvPr/>
        </p:nvSpPr>
        <p:spPr>
          <a:xfrm>
            <a:off x="9226296" y="5029200"/>
            <a:ext cx="2148840" cy="365760"/>
          </a:xfrm>
          <a:prstGeom prst="rect">
            <a:avLst/>
          </a:prstGeom>
          <a:noFill/>
          <a:ln/>
        </p:spPr>
        <p:txBody>
          <a:bodyPr wrap="square" lIns="0" tIns="0" rIns="0" bIns="0" rtlCol="0" anchor="t"/>
          <a:lstStyle/>
          <a:p>
            <a:pPr indent="0" marL="0">
              <a:buNone/>
            </a:pPr>
            <a:r>
              <a:rPr lang="en-US" sz="1600" b="1" dirty="0">
                <a:solidFill>
                  <a:schemeClr val="tx1"/>
                </a:solidFill>
              </a:rPr>
              <a:t>통계 대시보드</a:t>
            </a:r>
            <a:endParaRPr lang="en-US" sz="1600" dirty="0"/>
          </a:p>
        </p:txBody>
      </p:sp>
      <p:sp>
        <p:nvSpPr>
          <p:cNvPr id="43" name="Text 33"/>
          <p:cNvSpPr txBox="1"/>
          <p:nvPr/>
        </p:nvSpPr>
        <p:spPr>
          <a:xfrm>
            <a:off x="9226296" y="5394960"/>
            <a:ext cx="2148840" cy="731520"/>
          </a:xfrm>
          <a:prstGeom prst="rect">
            <a:avLst/>
          </a:prstGeom>
          <a:noFill/>
          <a:ln/>
        </p:spPr>
        <p:txBody>
          <a:bodyPr wrap="square" lIns="0" tIns="0" rIns="0" bIns="0" rtlCol="0" anchor="t"/>
          <a:lstStyle/>
          <a:p>
            <a:pPr indent="0" marL="0">
              <a:buNone/>
            </a:pPr>
            <a:r>
              <a:rPr lang="en-US" sz="1300" dirty="0">
                <a:solidFill>
                  <a:schemeClr val="tx1"/>
                </a:solidFill>
              </a:rPr>
              <a:t>기부처별 기부액, 카테고리별 거래가, 학과별 순위</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B8C"/>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65760"/>
          </a:xfrm>
          <a:prstGeom prst="rect">
            <a:avLst/>
          </a:prstGeom>
          <a:noFill/>
          <a:ln/>
        </p:spPr>
        <p:txBody>
          <a:bodyPr wrap="square" lIns="0" tIns="0" rIns="0" bIns="0" rtlCol="0"/>
          <a:lstStyle/>
          <a:p>
            <a:pPr indent="0" marL="0">
              <a:buNone/>
            </a:pPr>
            <a:r>
              <a:rPr lang="en-US" sz="1400" b="1" dirty="0">
                <a:solidFill>
                  <a:schemeClr val="accent1"/>
                </a:solidFill>
              </a:rPr>
              <a:t>06  데이터 흐름</a:t>
            </a:r>
            <a:endParaRPr lang="en-US" sz="1400" dirty="0"/>
          </a:p>
        </p:txBody>
      </p:sp>
      <p:sp>
        <p:nvSpPr>
          <p:cNvPr id="3" name="Text 0"/>
          <p:cNvSpPr/>
          <p:nvPr>
            <p:ph idx="101"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거래 한 건이 여러 테이블을 연결합니다</a:t>
            </a:r>
            <a:endParaRPr lang="en-US" sz="3000" dirty="0"/>
          </a:p>
        </p:txBody>
      </p:sp>
      <p:sp>
        <p:nvSpPr>
          <p:cNvPr id="4" name="Text 2"/>
          <p:cNvSpPr txBox="1"/>
          <p:nvPr/>
        </p:nvSpPr>
        <p:spPr>
          <a:xfrm>
            <a:off x="548640" y="1737360"/>
            <a:ext cx="1600200" cy="365760"/>
          </a:xfrm>
          <a:prstGeom prst="rect">
            <a:avLst/>
          </a:prstGeom>
          <a:noFill/>
          <a:ln/>
        </p:spPr>
        <p:txBody>
          <a:bodyPr wrap="square" lIns="0" tIns="0" rIns="0" bIns="0" rtlCol="0" anchor="t"/>
          <a:lstStyle/>
          <a:p>
            <a:pPr algn="ctr" indent="0" marL="0">
              <a:buNone/>
            </a:pPr>
            <a:r>
              <a:rPr lang="en-US" sz="1500" b="1" dirty="0">
                <a:solidFill>
                  <a:schemeClr val="accent1"/>
                </a:solidFill>
              </a:rPr>
              <a:t>01  상품 등록</a:t>
            </a:r>
            <a:endParaRPr lang="en-US" sz="1500" dirty="0"/>
          </a:p>
        </p:txBody>
      </p:sp>
      <p:sp>
        <p:nvSpPr>
          <p:cNvPr id="5" name="card"/>
          <p:cNvSpPr/>
          <p:nvPr/>
        </p:nvSpPr>
        <p:spPr>
          <a:xfrm>
            <a:off x="548640" y="2194560"/>
            <a:ext cx="1600200" cy="1280160"/>
          </a:xfrm>
          <a:prstGeom prst="roundRect">
            <a:avLst>
              <a:gd name="adj" fmla="val 8571"/>
            </a:avLst>
          </a:prstGeom>
          <a:solidFill>
            <a:schemeClr val="bg2"/>
          </a:solidFill>
          <a:ln w="12700">
            <a:solidFill>
              <a:schemeClr val="bg2"/>
            </a:solidFill>
            <a:prstDash val="solid"/>
          </a:ln>
        </p:spPr>
      </p:sp>
      <p:sp>
        <p:nvSpPr>
          <p:cNvPr id="6" name="Text 4"/>
          <p:cNvSpPr txBox="1"/>
          <p:nvPr/>
        </p:nvSpPr>
        <p:spPr>
          <a:xfrm>
            <a:off x="640080" y="2194560"/>
            <a:ext cx="1417320" cy="1280160"/>
          </a:xfrm>
          <a:prstGeom prst="rect">
            <a:avLst/>
          </a:prstGeom>
          <a:noFill/>
          <a:ln/>
        </p:spPr>
        <p:txBody>
          <a:bodyPr wrap="square" lIns="0" tIns="0" rIns="0" bIns="0" rtlCol="0" anchor="ctr"/>
          <a:lstStyle/>
          <a:p>
            <a:pPr algn="ctr" indent="0" marL="0">
              <a:buNone/>
            </a:pPr>
            <a:r>
              <a:rPr lang="en-US" sz="1100" b="1" dirty="0">
                <a:solidFill>
                  <a:schemeClr val="tx1"/>
                </a:solidFill>
                <a:latin typeface="Courier New" pitchFamily="34" charset="0"/>
                <a:ea typeface="Courier New" pitchFamily="34" charset="-122"/>
                <a:cs typeface="Courier New" pitchFamily="34" charset="-120"/>
              </a:rPr>
              <a:t>item</a:t>
            </a:r>
            <a:endParaRPr lang="en-US" sz="1100" dirty="0"/>
          </a:p>
          <a:p>
            <a:pPr algn="ctr" indent="0" marL="0">
              <a:buNone/>
            </a:pPr>
            <a:r>
              <a:rPr lang="en-US" sz="1100" b="1" dirty="0">
                <a:solidFill>
                  <a:schemeClr val="tx1"/>
                </a:solidFill>
                <a:latin typeface="Courier New" pitchFamily="34" charset="0"/>
                <a:ea typeface="Courier New" pitchFamily="34" charset="-122"/>
                <a:cs typeface="Courier New" pitchFamily="34" charset="-120"/>
              </a:rPr>
              <a:t>item_image</a:t>
            </a:r>
            <a:endParaRPr lang="en-US" sz="1100" dirty="0"/>
          </a:p>
        </p:txBody>
      </p:sp>
      <p:sp>
        <p:nvSpPr>
          <p:cNvPr id="7" name="flow-arrow"/>
          <p:cNvSpPr/>
          <p:nvPr/>
        </p:nvSpPr>
        <p:spPr>
          <a:xfrm>
            <a:off x="2176272" y="2715768"/>
            <a:ext cx="237744" cy="237744"/>
          </a:xfrm>
          <a:prstGeom prst="rightArrow">
            <a:avLst/>
          </a:prstGeom>
          <a:solidFill>
            <a:schemeClr val="accent3"/>
          </a:solidFill>
          <a:ln w="12700">
            <a:solidFill>
              <a:schemeClr val="accent3"/>
            </a:solidFill>
            <a:prstDash val="solid"/>
          </a:ln>
        </p:spPr>
      </p:sp>
      <p:sp>
        <p:nvSpPr>
          <p:cNvPr id="8" name="Text 6"/>
          <p:cNvSpPr txBox="1"/>
          <p:nvPr/>
        </p:nvSpPr>
        <p:spPr>
          <a:xfrm>
            <a:off x="2441448" y="1737360"/>
            <a:ext cx="1600200" cy="365760"/>
          </a:xfrm>
          <a:prstGeom prst="rect">
            <a:avLst/>
          </a:prstGeom>
          <a:noFill/>
          <a:ln/>
        </p:spPr>
        <p:txBody>
          <a:bodyPr wrap="square" lIns="0" tIns="0" rIns="0" bIns="0" rtlCol="0" anchor="t"/>
          <a:lstStyle/>
          <a:p>
            <a:pPr algn="ctr" indent="0" marL="0">
              <a:buNone/>
            </a:pPr>
            <a:r>
              <a:rPr lang="en-US" sz="1500" b="1" dirty="0">
                <a:solidFill>
                  <a:schemeClr val="accent1"/>
                </a:solidFill>
              </a:rPr>
              <a:t>02  구매 문의</a:t>
            </a:r>
            <a:endParaRPr lang="en-US" sz="1500" dirty="0"/>
          </a:p>
        </p:txBody>
      </p:sp>
      <p:sp>
        <p:nvSpPr>
          <p:cNvPr id="9" name="card"/>
          <p:cNvSpPr/>
          <p:nvPr/>
        </p:nvSpPr>
        <p:spPr>
          <a:xfrm>
            <a:off x="2441448" y="2194560"/>
            <a:ext cx="1600200" cy="1280160"/>
          </a:xfrm>
          <a:prstGeom prst="roundRect">
            <a:avLst>
              <a:gd name="adj" fmla="val 8571"/>
            </a:avLst>
          </a:prstGeom>
          <a:solidFill>
            <a:schemeClr val="bg2"/>
          </a:solidFill>
          <a:ln w="12700">
            <a:solidFill>
              <a:schemeClr val="bg2"/>
            </a:solidFill>
            <a:prstDash val="solid"/>
          </a:ln>
        </p:spPr>
      </p:sp>
      <p:sp>
        <p:nvSpPr>
          <p:cNvPr id="10" name="Text 8"/>
          <p:cNvSpPr txBox="1"/>
          <p:nvPr/>
        </p:nvSpPr>
        <p:spPr>
          <a:xfrm>
            <a:off x="2532888" y="2194560"/>
            <a:ext cx="1417320" cy="1280160"/>
          </a:xfrm>
          <a:prstGeom prst="rect">
            <a:avLst/>
          </a:prstGeom>
          <a:noFill/>
          <a:ln/>
        </p:spPr>
        <p:txBody>
          <a:bodyPr wrap="square" lIns="0" tIns="0" rIns="0" bIns="0" rtlCol="0" anchor="ctr"/>
          <a:lstStyle/>
          <a:p>
            <a:pPr algn="ctr" indent="0" marL="0">
              <a:buNone/>
            </a:pPr>
            <a:r>
              <a:rPr lang="en-US" sz="1100" b="1" dirty="0">
                <a:solidFill>
                  <a:schemeClr val="tx1"/>
                </a:solidFill>
                <a:latin typeface="Courier New" pitchFamily="34" charset="0"/>
                <a:ea typeface="Courier New" pitchFamily="34" charset="-122"/>
                <a:cs typeface="Courier New" pitchFamily="34" charset="-120"/>
              </a:rPr>
              <a:t>chat_room</a:t>
            </a:r>
            <a:endParaRPr lang="en-US" sz="1100" dirty="0"/>
          </a:p>
          <a:p>
            <a:pPr algn="ctr" indent="0" marL="0">
              <a:buNone/>
            </a:pPr>
            <a:r>
              <a:rPr lang="en-US" sz="1100" b="1" dirty="0">
                <a:solidFill>
                  <a:schemeClr val="tx1"/>
                </a:solidFill>
                <a:latin typeface="Courier New" pitchFamily="34" charset="0"/>
                <a:ea typeface="Courier New" pitchFamily="34" charset="-122"/>
                <a:cs typeface="Courier New" pitchFamily="34" charset="-120"/>
              </a:rPr>
              <a:t>chat_message</a:t>
            </a:r>
            <a:endParaRPr lang="en-US" sz="1100" dirty="0"/>
          </a:p>
        </p:txBody>
      </p:sp>
      <p:sp>
        <p:nvSpPr>
          <p:cNvPr id="11" name="flow-arrow"/>
          <p:cNvSpPr/>
          <p:nvPr/>
        </p:nvSpPr>
        <p:spPr>
          <a:xfrm>
            <a:off x="4069080" y="2715768"/>
            <a:ext cx="237744" cy="237744"/>
          </a:xfrm>
          <a:prstGeom prst="rightArrow">
            <a:avLst/>
          </a:prstGeom>
          <a:solidFill>
            <a:schemeClr val="accent3"/>
          </a:solidFill>
          <a:ln w="12700">
            <a:solidFill>
              <a:schemeClr val="accent3"/>
            </a:solidFill>
            <a:prstDash val="solid"/>
          </a:ln>
        </p:spPr>
      </p:sp>
      <p:sp>
        <p:nvSpPr>
          <p:cNvPr id="12" name="Text 10"/>
          <p:cNvSpPr txBox="1"/>
          <p:nvPr/>
        </p:nvSpPr>
        <p:spPr>
          <a:xfrm>
            <a:off x="4334256" y="1737360"/>
            <a:ext cx="1600200" cy="365760"/>
          </a:xfrm>
          <a:prstGeom prst="rect">
            <a:avLst/>
          </a:prstGeom>
          <a:noFill/>
          <a:ln/>
        </p:spPr>
        <p:txBody>
          <a:bodyPr wrap="square" lIns="0" tIns="0" rIns="0" bIns="0" rtlCol="0" anchor="t"/>
          <a:lstStyle/>
          <a:p>
            <a:pPr algn="ctr" indent="0" marL="0">
              <a:buNone/>
            </a:pPr>
            <a:r>
              <a:rPr lang="en-US" sz="1500" b="1" dirty="0">
                <a:solidFill>
                  <a:schemeClr val="accent2"/>
                </a:solidFill>
              </a:rPr>
              <a:t>03  거래 확정</a:t>
            </a:r>
            <a:endParaRPr lang="en-US" sz="1500" dirty="0"/>
          </a:p>
        </p:txBody>
      </p:sp>
      <p:sp>
        <p:nvSpPr>
          <p:cNvPr id="13" name="card"/>
          <p:cNvSpPr/>
          <p:nvPr/>
        </p:nvSpPr>
        <p:spPr>
          <a:xfrm>
            <a:off x="4334256" y="2194560"/>
            <a:ext cx="1600200" cy="1280160"/>
          </a:xfrm>
          <a:prstGeom prst="roundRect">
            <a:avLst>
              <a:gd name="adj" fmla="val 8571"/>
            </a:avLst>
          </a:prstGeom>
          <a:solidFill>
            <a:schemeClr val="tx2"/>
          </a:solidFill>
          <a:ln w="12700">
            <a:solidFill>
              <a:schemeClr val="tx2"/>
            </a:solidFill>
            <a:prstDash val="solid"/>
          </a:ln>
        </p:spPr>
      </p:sp>
      <p:sp>
        <p:nvSpPr>
          <p:cNvPr id="14" name="Text 12"/>
          <p:cNvSpPr txBox="1"/>
          <p:nvPr/>
        </p:nvSpPr>
        <p:spPr>
          <a:xfrm>
            <a:off x="4425696" y="2194560"/>
            <a:ext cx="1417320" cy="1280160"/>
          </a:xfrm>
          <a:prstGeom prst="rect">
            <a:avLst/>
          </a:prstGeom>
          <a:no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trade</a:t>
            </a:r>
            <a:endParaRPr lang="en-US" sz="1100" dirty="0"/>
          </a:p>
          <a:p>
            <a:pPr algn="ctr" indent="0" marL="0">
              <a:buNone/>
            </a:pPr>
            <a:r>
              <a:rPr lang="en-US" sz="1100" b="1" dirty="0">
                <a:solidFill>
                  <a:schemeClr val="bg1"/>
                </a:solidFill>
                <a:latin typeface="Courier New" pitchFamily="34" charset="0"/>
                <a:ea typeface="Courier New" pitchFamily="34" charset="-122"/>
                <a:cs typeface="Courier New" pitchFamily="34" charset="-120"/>
              </a:rPr>
              <a:t>donation</a:t>
            </a:r>
            <a:endParaRPr lang="en-US" sz="1100" dirty="0"/>
          </a:p>
        </p:txBody>
      </p:sp>
      <p:sp>
        <p:nvSpPr>
          <p:cNvPr id="15" name="flow-arrow"/>
          <p:cNvSpPr/>
          <p:nvPr/>
        </p:nvSpPr>
        <p:spPr>
          <a:xfrm>
            <a:off x="5961888" y="2715768"/>
            <a:ext cx="237744" cy="237744"/>
          </a:xfrm>
          <a:prstGeom prst="rightArrow">
            <a:avLst/>
          </a:prstGeom>
          <a:solidFill>
            <a:schemeClr val="accent3"/>
          </a:solidFill>
          <a:ln w="12700">
            <a:solidFill>
              <a:schemeClr val="accent3"/>
            </a:solidFill>
            <a:prstDash val="solid"/>
          </a:ln>
        </p:spPr>
      </p:sp>
      <p:sp>
        <p:nvSpPr>
          <p:cNvPr id="16" name="Text 14"/>
          <p:cNvSpPr txBox="1"/>
          <p:nvPr/>
        </p:nvSpPr>
        <p:spPr>
          <a:xfrm>
            <a:off x="6227064" y="1737360"/>
            <a:ext cx="1600200" cy="365760"/>
          </a:xfrm>
          <a:prstGeom prst="rect">
            <a:avLst/>
          </a:prstGeom>
          <a:noFill/>
          <a:ln/>
        </p:spPr>
        <p:txBody>
          <a:bodyPr wrap="square" lIns="0" tIns="0" rIns="0" bIns="0" rtlCol="0" anchor="t"/>
          <a:lstStyle/>
          <a:p>
            <a:pPr algn="ctr" indent="0" marL="0">
              <a:buNone/>
            </a:pPr>
            <a:r>
              <a:rPr lang="en-US" sz="1500" b="1" dirty="0">
                <a:solidFill>
                  <a:schemeClr val="accent1"/>
                </a:solidFill>
              </a:rPr>
              <a:t>04  후기 작성</a:t>
            </a:r>
            <a:endParaRPr lang="en-US" sz="1500" dirty="0"/>
          </a:p>
        </p:txBody>
      </p:sp>
      <p:sp>
        <p:nvSpPr>
          <p:cNvPr id="17" name="card"/>
          <p:cNvSpPr/>
          <p:nvPr/>
        </p:nvSpPr>
        <p:spPr>
          <a:xfrm>
            <a:off x="6227064" y="2194560"/>
            <a:ext cx="1600200" cy="1280160"/>
          </a:xfrm>
          <a:prstGeom prst="roundRect">
            <a:avLst>
              <a:gd name="adj" fmla="val 8571"/>
            </a:avLst>
          </a:prstGeom>
          <a:solidFill>
            <a:schemeClr val="bg2"/>
          </a:solidFill>
          <a:ln w="12700">
            <a:solidFill>
              <a:schemeClr val="bg2"/>
            </a:solidFill>
            <a:prstDash val="solid"/>
          </a:ln>
        </p:spPr>
      </p:sp>
      <p:sp>
        <p:nvSpPr>
          <p:cNvPr id="18" name="Text 16"/>
          <p:cNvSpPr txBox="1"/>
          <p:nvPr/>
        </p:nvSpPr>
        <p:spPr>
          <a:xfrm>
            <a:off x="6318504" y="2194560"/>
            <a:ext cx="1417320" cy="1280160"/>
          </a:xfrm>
          <a:prstGeom prst="rect">
            <a:avLst/>
          </a:prstGeom>
          <a:noFill/>
          <a:ln/>
        </p:spPr>
        <p:txBody>
          <a:bodyPr wrap="square" lIns="0" tIns="0" rIns="0" bIns="0" rtlCol="0" anchor="ctr"/>
          <a:lstStyle/>
          <a:p>
            <a:pPr algn="ctr" indent="0" marL="0">
              <a:buNone/>
            </a:pPr>
            <a:r>
              <a:rPr lang="en-US" sz="1100" b="1" dirty="0">
                <a:solidFill>
                  <a:schemeClr val="tx1"/>
                </a:solidFill>
                <a:latin typeface="Courier New" pitchFamily="34" charset="0"/>
                <a:ea typeface="Courier New" pitchFamily="34" charset="-122"/>
                <a:cs typeface="Courier New" pitchFamily="34" charset="-120"/>
              </a:rPr>
              <a:t>review</a:t>
            </a:r>
            <a:endParaRPr lang="en-US" sz="1100" dirty="0"/>
          </a:p>
        </p:txBody>
      </p:sp>
      <p:sp>
        <p:nvSpPr>
          <p:cNvPr id="19" name="flow-arrow"/>
          <p:cNvSpPr/>
          <p:nvPr/>
        </p:nvSpPr>
        <p:spPr>
          <a:xfrm>
            <a:off x="7854696" y="2715768"/>
            <a:ext cx="237744" cy="237744"/>
          </a:xfrm>
          <a:prstGeom prst="rightArrow">
            <a:avLst/>
          </a:prstGeom>
          <a:solidFill>
            <a:schemeClr val="accent3"/>
          </a:solidFill>
          <a:ln w="12700">
            <a:solidFill>
              <a:schemeClr val="accent3"/>
            </a:solidFill>
            <a:prstDash val="solid"/>
          </a:ln>
        </p:spPr>
      </p:sp>
      <p:sp>
        <p:nvSpPr>
          <p:cNvPr id="20" name="Text 18"/>
          <p:cNvSpPr txBox="1"/>
          <p:nvPr/>
        </p:nvSpPr>
        <p:spPr>
          <a:xfrm>
            <a:off x="8119872" y="1737360"/>
            <a:ext cx="1600200" cy="365760"/>
          </a:xfrm>
          <a:prstGeom prst="rect">
            <a:avLst/>
          </a:prstGeom>
          <a:noFill/>
          <a:ln/>
        </p:spPr>
        <p:txBody>
          <a:bodyPr wrap="square" lIns="0" tIns="0" rIns="0" bIns="0" rtlCol="0" anchor="t"/>
          <a:lstStyle/>
          <a:p>
            <a:pPr algn="ctr" indent="0" marL="0">
              <a:buNone/>
            </a:pPr>
            <a:r>
              <a:rPr lang="en-US" sz="1500" b="1" dirty="0">
                <a:solidFill>
                  <a:schemeClr val="accent2"/>
                </a:solidFill>
              </a:rPr>
              <a:t>05  포인트 적립</a:t>
            </a:r>
            <a:endParaRPr lang="en-US" sz="1500" dirty="0"/>
          </a:p>
        </p:txBody>
      </p:sp>
      <p:sp>
        <p:nvSpPr>
          <p:cNvPr id="21" name="card"/>
          <p:cNvSpPr/>
          <p:nvPr/>
        </p:nvSpPr>
        <p:spPr>
          <a:xfrm>
            <a:off x="8119872" y="2194560"/>
            <a:ext cx="1600200" cy="1280160"/>
          </a:xfrm>
          <a:prstGeom prst="roundRect">
            <a:avLst>
              <a:gd name="adj" fmla="val 8571"/>
            </a:avLst>
          </a:prstGeom>
          <a:solidFill>
            <a:schemeClr val="tx2"/>
          </a:solidFill>
          <a:ln w="12700">
            <a:solidFill>
              <a:schemeClr val="tx2"/>
            </a:solidFill>
            <a:prstDash val="solid"/>
          </a:ln>
        </p:spPr>
      </p:sp>
      <p:sp>
        <p:nvSpPr>
          <p:cNvPr id="22" name="Text 20"/>
          <p:cNvSpPr txBox="1"/>
          <p:nvPr/>
        </p:nvSpPr>
        <p:spPr>
          <a:xfrm>
            <a:off x="8211312" y="2194560"/>
            <a:ext cx="1417320" cy="1280160"/>
          </a:xfrm>
          <a:prstGeom prst="rect">
            <a:avLst/>
          </a:prstGeom>
          <a:no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point_history</a:t>
            </a:r>
            <a:endParaRPr lang="en-US" sz="1100" dirty="0"/>
          </a:p>
        </p:txBody>
      </p:sp>
      <p:sp>
        <p:nvSpPr>
          <p:cNvPr id="23" name="flow-arrow"/>
          <p:cNvSpPr/>
          <p:nvPr/>
        </p:nvSpPr>
        <p:spPr>
          <a:xfrm>
            <a:off x="9747504" y="2715768"/>
            <a:ext cx="237744" cy="237744"/>
          </a:xfrm>
          <a:prstGeom prst="rightArrow">
            <a:avLst/>
          </a:prstGeom>
          <a:solidFill>
            <a:schemeClr val="accent3"/>
          </a:solidFill>
          <a:ln w="12700">
            <a:solidFill>
              <a:schemeClr val="accent3"/>
            </a:solidFill>
            <a:prstDash val="solid"/>
          </a:ln>
        </p:spPr>
      </p:sp>
      <p:sp>
        <p:nvSpPr>
          <p:cNvPr id="24" name="Text 22"/>
          <p:cNvSpPr txBox="1"/>
          <p:nvPr/>
        </p:nvSpPr>
        <p:spPr>
          <a:xfrm>
            <a:off x="10012680" y="1737360"/>
            <a:ext cx="1600200" cy="365760"/>
          </a:xfrm>
          <a:prstGeom prst="rect">
            <a:avLst/>
          </a:prstGeom>
          <a:noFill/>
          <a:ln/>
        </p:spPr>
        <p:txBody>
          <a:bodyPr wrap="square" lIns="0" tIns="0" rIns="0" bIns="0" rtlCol="0" anchor="t"/>
          <a:lstStyle/>
          <a:p>
            <a:pPr algn="ctr" indent="0" marL="0">
              <a:buNone/>
            </a:pPr>
            <a:r>
              <a:rPr lang="en-US" sz="1500" b="1" dirty="0">
                <a:solidFill>
                  <a:schemeClr val="accent1"/>
                </a:solidFill>
              </a:rPr>
              <a:t>06  리워드 교환</a:t>
            </a:r>
            <a:endParaRPr lang="en-US" sz="1500" dirty="0"/>
          </a:p>
        </p:txBody>
      </p:sp>
      <p:sp>
        <p:nvSpPr>
          <p:cNvPr id="25" name="card"/>
          <p:cNvSpPr/>
          <p:nvPr/>
        </p:nvSpPr>
        <p:spPr>
          <a:xfrm>
            <a:off x="10012680" y="2194560"/>
            <a:ext cx="1600200" cy="1280160"/>
          </a:xfrm>
          <a:prstGeom prst="roundRect">
            <a:avLst>
              <a:gd name="adj" fmla="val 8571"/>
            </a:avLst>
          </a:prstGeom>
          <a:solidFill>
            <a:schemeClr val="bg2"/>
          </a:solidFill>
          <a:ln w="12700">
            <a:solidFill>
              <a:schemeClr val="bg2"/>
            </a:solidFill>
            <a:prstDash val="solid"/>
          </a:ln>
        </p:spPr>
      </p:sp>
      <p:sp>
        <p:nvSpPr>
          <p:cNvPr id="26" name="Text 24"/>
          <p:cNvSpPr txBox="1"/>
          <p:nvPr/>
        </p:nvSpPr>
        <p:spPr>
          <a:xfrm>
            <a:off x="10104120" y="2194560"/>
            <a:ext cx="1417320" cy="1280160"/>
          </a:xfrm>
          <a:prstGeom prst="rect">
            <a:avLst/>
          </a:prstGeom>
          <a:noFill/>
          <a:ln/>
        </p:spPr>
        <p:txBody>
          <a:bodyPr wrap="square" lIns="0" tIns="0" rIns="0" bIns="0" rtlCol="0" anchor="ctr"/>
          <a:lstStyle/>
          <a:p>
            <a:pPr algn="ctr" indent="0" marL="0">
              <a:buNone/>
            </a:pPr>
            <a:r>
              <a:rPr lang="en-US" sz="1100" b="1" dirty="0">
                <a:solidFill>
                  <a:schemeClr val="tx1"/>
                </a:solidFill>
                <a:latin typeface="Courier New" pitchFamily="34" charset="0"/>
                <a:ea typeface="Courier New" pitchFamily="34" charset="-122"/>
                <a:cs typeface="Courier New" pitchFamily="34" charset="-120"/>
              </a:rPr>
              <a:t>reward_exchange</a:t>
            </a:r>
            <a:endParaRPr lang="en-US" sz="1100" dirty="0"/>
          </a:p>
          <a:p>
            <a:pPr algn="ctr" indent="0" marL="0">
              <a:buNone/>
            </a:pPr>
            <a:r>
              <a:rPr lang="en-US" sz="1100" b="1" dirty="0">
                <a:solidFill>
                  <a:schemeClr val="tx1"/>
                </a:solidFill>
                <a:latin typeface="Courier New" pitchFamily="34" charset="0"/>
                <a:ea typeface="Courier New" pitchFamily="34" charset="-122"/>
                <a:cs typeface="Courier New" pitchFamily="34" charset="-120"/>
              </a:rPr>
              <a:t>point_history</a:t>
            </a:r>
            <a:endParaRPr lang="en-US" sz="1100" dirty="0"/>
          </a:p>
        </p:txBody>
      </p:sp>
      <p:sp>
        <p:nvSpPr>
          <p:cNvPr id="27" name="card"/>
          <p:cNvSpPr/>
          <p:nvPr/>
        </p:nvSpPr>
        <p:spPr>
          <a:xfrm>
            <a:off x="548640" y="3931920"/>
            <a:ext cx="5440680" cy="2240280"/>
          </a:xfrm>
          <a:prstGeom prst="roundRect">
            <a:avLst>
              <a:gd name="adj" fmla="val 4898"/>
            </a:avLst>
          </a:prstGeom>
          <a:solidFill>
            <a:schemeClr val="bg2"/>
          </a:solidFill>
          <a:ln w="12700">
            <a:solidFill>
              <a:schemeClr val="bg2"/>
            </a:solidFill>
            <a:prstDash val="solid"/>
          </a:ln>
        </p:spPr>
      </p:sp>
      <p:sp>
        <p:nvSpPr>
          <p:cNvPr id="28" name="icon-circle"/>
          <p:cNvSpPr/>
          <p:nvPr/>
        </p:nvSpPr>
        <p:spPr>
          <a:xfrm>
            <a:off x="822960" y="4160520"/>
            <a:ext cx="594360" cy="594360"/>
          </a:xfrm>
          <a:prstGeom prst="ellipse">
            <a:avLst/>
          </a:prstGeom>
          <a:solidFill>
            <a:schemeClr val="accent2"/>
          </a:solidFill>
          <a:ln w="12700">
            <a:solidFill>
              <a:schemeClr val="accent2"/>
            </a:solidFill>
            <a:prstDash val="solid"/>
          </a:ln>
        </p:spPr>
      </p:sp>
      <p:pic>
        <p:nvPicPr>
          <p:cNvPr id="29" name="icon" descr="preencoded.png">    </p:cNvPr>
          <p:cNvPicPr>
            <a:picLocks noChangeAspect="1"/>
          </p:cNvPicPr>
          <p:nvPr/>
        </p:nvPicPr>
        <p:blipFill>
          <a:blip r:embed="rId1"/>
          <a:stretch>
            <a:fillRect/>
          </a:stretch>
        </p:blipFill>
        <p:spPr>
          <a:xfrm>
            <a:off x="971550" y="4309110"/>
            <a:ext cx="297180" cy="297180"/>
          </a:xfrm>
          <a:prstGeom prst="rect">
            <a:avLst/>
          </a:prstGeom>
        </p:spPr>
      </p:pic>
      <p:sp>
        <p:nvSpPr>
          <p:cNvPr id="30" name="Text 27"/>
          <p:cNvSpPr txBox="1"/>
          <p:nvPr/>
        </p:nvSpPr>
        <p:spPr>
          <a:xfrm>
            <a:off x="1600200" y="4251960"/>
            <a:ext cx="4114800" cy="411480"/>
          </a:xfrm>
          <a:prstGeom prst="rect">
            <a:avLst/>
          </a:prstGeom>
          <a:noFill/>
          <a:ln/>
        </p:spPr>
        <p:txBody>
          <a:bodyPr wrap="square" lIns="0" tIns="0" rIns="0" bIns="0" rtlCol="0" anchor="t"/>
          <a:lstStyle/>
          <a:p>
            <a:pPr indent="0" marL="0">
              <a:buNone/>
            </a:pPr>
            <a:r>
              <a:rPr lang="en-US" sz="1700" b="1" dirty="0">
                <a:solidFill>
                  <a:schemeClr val="tx1"/>
                </a:solidFill>
              </a:rPr>
              <a:t>거래 확정 트랜잭션</a:t>
            </a:r>
            <a:endParaRPr lang="en-US" sz="1700" dirty="0"/>
          </a:p>
        </p:txBody>
      </p:sp>
      <p:sp>
        <p:nvSpPr>
          <p:cNvPr id="31" name="Text 28"/>
          <p:cNvSpPr txBox="1"/>
          <p:nvPr/>
        </p:nvSpPr>
        <p:spPr>
          <a:xfrm>
            <a:off x="822960" y="4937760"/>
            <a:ext cx="4892040" cy="1143000"/>
          </a:xfrm>
          <a:prstGeom prst="rect">
            <a:avLst/>
          </a:prstGeom>
          <a:noFill/>
          <a:ln/>
        </p:spPr>
        <p:txBody>
          <a:bodyPr wrap="square" lIns="0" tIns="0" rIns="0" bIns="0" rtlCol="0" anchor="t"/>
          <a:lstStyle/>
          <a:p>
            <a:pPr indent="0" marL="0">
              <a:buNone/>
            </a:pPr>
            <a:r>
              <a:rPr lang="en-US" sz="1400" dirty="0">
                <a:solidFill>
                  <a:schemeClr val="tx1"/>
                </a:solidFill>
              </a:rPr>
              <a:t>trade 생성 → item 상태를 '거래완료'로 변경 → 기부 상품이면 donation 기록. 하나라도 실패하면 전체 취소(ROLLBACK)해서 상품은 팔렸는데 기부 기록이 없는 상태를 막습니다.</a:t>
            </a:r>
            <a:endParaRPr lang="en-US" sz="1400" dirty="0"/>
          </a:p>
        </p:txBody>
      </p:sp>
      <p:sp>
        <p:nvSpPr>
          <p:cNvPr id="32" name="card"/>
          <p:cNvSpPr/>
          <p:nvPr/>
        </p:nvSpPr>
        <p:spPr>
          <a:xfrm>
            <a:off x="6172200" y="3931920"/>
            <a:ext cx="5440680" cy="2240280"/>
          </a:xfrm>
          <a:prstGeom prst="roundRect">
            <a:avLst>
              <a:gd name="adj" fmla="val 4898"/>
            </a:avLst>
          </a:prstGeom>
          <a:solidFill>
            <a:schemeClr val="bg2"/>
          </a:solidFill>
          <a:ln w="12700">
            <a:solidFill>
              <a:schemeClr val="bg2"/>
            </a:solidFill>
            <a:prstDash val="solid"/>
          </a:ln>
        </p:spPr>
      </p:sp>
      <p:sp>
        <p:nvSpPr>
          <p:cNvPr id="33" name="icon-circle"/>
          <p:cNvSpPr/>
          <p:nvPr/>
        </p:nvSpPr>
        <p:spPr>
          <a:xfrm>
            <a:off x="6446520" y="4160520"/>
            <a:ext cx="594360" cy="594360"/>
          </a:xfrm>
          <a:prstGeom prst="ellipse">
            <a:avLst/>
          </a:prstGeom>
          <a:solidFill>
            <a:schemeClr val="accent2"/>
          </a:solidFill>
          <a:ln w="12700">
            <a:solidFill>
              <a:schemeClr val="accent2"/>
            </a:solidFill>
            <a:prstDash val="solid"/>
          </a:ln>
        </p:spPr>
      </p:sp>
      <p:pic>
        <p:nvPicPr>
          <p:cNvPr id="34" name="icon" descr="preencoded.png">    </p:cNvPr>
          <p:cNvPicPr>
            <a:picLocks noChangeAspect="1"/>
          </p:cNvPicPr>
          <p:nvPr/>
        </p:nvPicPr>
        <p:blipFill>
          <a:blip r:embed="rId2"/>
          <a:stretch>
            <a:fillRect/>
          </a:stretch>
        </p:blipFill>
        <p:spPr>
          <a:xfrm>
            <a:off x="6595110" y="4309110"/>
            <a:ext cx="297180" cy="297180"/>
          </a:xfrm>
          <a:prstGeom prst="rect">
            <a:avLst/>
          </a:prstGeom>
        </p:spPr>
      </p:pic>
      <p:sp>
        <p:nvSpPr>
          <p:cNvPr id="35" name="Text 31"/>
          <p:cNvSpPr txBox="1"/>
          <p:nvPr/>
        </p:nvSpPr>
        <p:spPr>
          <a:xfrm>
            <a:off x="7223760" y="4251960"/>
            <a:ext cx="4114800" cy="411480"/>
          </a:xfrm>
          <a:prstGeom prst="rect">
            <a:avLst/>
          </a:prstGeom>
          <a:noFill/>
          <a:ln/>
        </p:spPr>
        <p:txBody>
          <a:bodyPr wrap="square" lIns="0" tIns="0" rIns="0" bIns="0" rtlCol="0" anchor="t"/>
          <a:lstStyle/>
          <a:p>
            <a:pPr indent="0" marL="0">
              <a:buNone/>
            </a:pPr>
            <a:r>
              <a:rPr lang="en-US" sz="1700" b="1" dirty="0">
                <a:solidFill>
                  <a:schemeClr val="tx1"/>
                </a:solidFill>
              </a:rPr>
              <a:t>리워드 교환 트랜잭션</a:t>
            </a:r>
            <a:endParaRPr lang="en-US" sz="1700" dirty="0"/>
          </a:p>
        </p:txBody>
      </p:sp>
      <p:sp>
        <p:nvSpPr>
          <p:cNvPr id="36" name="Text 32"/>
          <p:cNvSpPr txBox="1"/>
          <p:nvPr/>
        </p:nvSpPr>
        <p:spPr>
          <a:xfrm>
            <a:off x="6446520" y="4937760"/>
            <a:ext cx="4892040" cy="1143000"/>
          </a:xfrm>
          <a:prstGeom prst="rect">
            <a:avLst/>
          </a:prstGeom>
          <a:noFill/>
          <a:ln/>
        </p:spPr>
        <p:txBody>
          <a:bodyPr wrap="square" lIns="0" tIns="0" rIns="0" bIns="0" rtlCol="0" anchor="t"/>
          <a:lstStyle/>
          <a:p>
            <a:pPr indent="0" marL="0">
              <a:buNone/>
            </a:pPr>
            <a:r>
              <a:rPr lang="en-US" sz="1400" dirty="0">
                <a:solidFill>
                  <a:schemeClr val="tx1"/>
                </a:solidFill>
              </a:rPr>
              <a:t>포인트 잔액 확인 → reward_exchange 생성 → point_history에 차감 기록 → reward 재고 감소. 잔액이 음수가 되거나 재고보다 많이 교환되는 일을 막습니다.</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B8C"/>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65760"/>
          </a:xfrm>
          <a:prstGeom prst="rect">
            <a:avLst/>
          </a:prstGeom>
          <a:noFill/>
          <a:ln/>
        </p:spPr>
        <p:txBody>
          <a:bodyPr wrap="square" lIns="0" tIns="0" rIns="0" bIns="0" rtlCol="0"/>
          <a:lstStyle/>
          <a:p>
            <a:pPr indent="0" marL="0">
              <a:buNone/>
            </a:pPr>
            <a:r>
              <a:rPr lang="en-US" sz="1400" b="1" dirty="0">
                <a:solidFill>
                  <a:schemeClr val="accent1"/>
                </a:solidFill>
              </a:rPr>
              <a:t>07  예상 데이터 구조 · 테이블 구성</a:t>
            </a:r>
            <a:endParaRPr lang="en-US" sz="1400" dirty="0"/>
          </a:p>
        </p:txBody>
      </p:sp>
      <p:sp>
        <p:nvSpPr>
          <p:cNvPr id="3" name="Text 0"/>
          <p:cNvSpPr/>
          <p:nvPr>
            <p:ph idx="101"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17개 테이블을 5개 영역으로 나눴습니다</a:t>
            </a:r>
            <a:endParaRPr lang="en-US" sz="3000" dirty="0"/>
          </a:p>
        </p:txBody>
      </p:sp>
      <p:sp>
        <p:nvSpPr>
          <p:cNvPr id="4" name="domain-head"/>
          <p:cNvSpPr/>
          <p:nvPr/>
        </p:nvSpPr>
        <p:spPr>
          <a:xfrm>
            <a:off x="548640" y="1691640"/>
            <a:ext cx="2066544" cy="594360"/>
          </a:xfrm>
          <a:prstGeom prst="roundRect">
            <a:avLst>
              <a:gd name="adj" fmla="val 15385"/>
            </a:avLst>
          </a:prstGeom>
          <a:solidFill>
            <a:schemeClr val="accent5"/>
          </a:solidFill>
          <a:ln w="12700">
            <a:solidFill>
              <a:schemeClr val="accent5"/>
            </a:solidFill>
            <a:prstDash val="solid"/>
          </a:ln>
        </p:spPr>
      </p:sp>
      <p:sp>
        <p:nvSpPr>
          <p:cNvPr id="5" name="Text 3"/>
          <p:cNvSpPr txBox="1"/>
          <p:nvPr/>
        </p:nvSpPr>
        <p:spPr>
          <a:xfrm>
            <a:off x="548640" y="1691640"/>
            <a:ext cx="2066544" cy="594360"/>
          </a:xfrm>
          <a:prstGeom prst="rect">
            <a:avLst/>
          </a:prstGeom>
          <a:noFill/>
          <a:ln/>
        </p:spPr>
        <p:txBody>
          <a:bodyPr wrap="square" lIns="0" tIns="0" rIns="0" bIns="0" rtlCol="0" anchor="ctr"/>
          <a:lstStyle/>
          <a:p>
            <a:pPr algn="ctr" indent="0" marL="0">
              <a:buNone/>
            </a:pPr>
            <a:r>
              <a:rPr lang="en-US" sz="1600" b="1" dirty="0">
                <a:solidFill>
                  <a:schemeClr val="bg1"/>
                </a:solidFill>
              </a:rPr>
              <a:t>회원 · 기준정보  3</a:t>
            </a:r>
            <a:endParaRPr lang="en-US" sz="1600" dirty="0"/>
          </a:p>
        </p:txBody>
      </p:sp>
      <p:sp>
        <p:nvSpPr>
          <p:cNvPr id="6" name="card"/>
          <p:cNvSpPr/>
          <p:nvPr/>
        </p:nvSpPr>
        <p:spPr>
          <a:xfrm>
            <a:off x="548640" y="2423160"/>
            <a:ext cx="2066544" cy="640080"/>
          </a:xfrm>
          <a:prstGeom prst="roundRect">
            <a:avLst>
              <a:gd name="adj" fmla="val 17143"/>
            </a:avLst>
          </a:prstGeom>
          <a:solidFill>
            <a:schemeClr val="bg2"/>
          </a:solidFill>
          <a:ln w="12700">
            <a:solidFill>
              <a:schemeClr val="bg2"/>
            </a:solidFill>
            <a:prstDash val="solid"/>
          </a:ln>
        </p:spPr>
      </p:sp>
      <p:sp>
        <p:nvSpPr>
          <p:cNvPr id="7" name="Text 5"/>
          <p:cNvSpPr txBox="1"/>
          <p:nvPr/>
        </p:nvSpPr>
        <p:spPr>
          <a:xfrm>
            <a:off x="713232" y="2423160"/>
            <a:ext cx="1792224" cy="6400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member</a:t>
            </a:r>
            <a:endParaRPr lang="en-US" sz="1400" dirty="0"/>
          </a:p>
          <a:p>
            <a:pPr indent="0" marL="0">
              <a:buNone/>
            </a:pPr>
            <a:r>
              <a:rPr lang="en-US" sz="1200" dirty="0">
                <a:solidFill>
                  <a:schemeClr val="accent5"/>
                </a:solidFill>
              </a:rPr>
              <a:t>회원</a:t>
            </a:r>
            <a:endParaRPr lang="en-US" sz="1400" dirty="0"/>
          </a:p>
        </p:txBody>
      </p:sp>
      <p:sp>
        <p:nvSpPr>
          <p:cNvPr id="8" name="card"/>
          <p:cNvSpPr/>
          <p:nvPr/>
        </p:nvSpPr>
        <p:spPr>
          <a:xfrm>
            <a:off x="548640" y="3172968"/>
            <a:ext cx="2066544" cy="640080"/>
          </a:xfrm>
          <a:prstGeom prst="roundRect">
            <a:avLst>
              <a:gd name="adj" fmla="val 17143"/>
            </a:avLst>
          </a:prstGeom>
          <a:solidFill>
            <a:schemeClr val="bg2"/>
          </a:solidFill>
          <a:ln w="12700">
            <a:solidFill>
              <a:schemeClr val="bg2"/>
            </a:solidFill>
            <a:prstDash val="solid"/>
          </a:ln>
        </p:spPr>
      </p:sp>
      <p:sp>
        <p:nvSpPr>
          <p:cNvPr id="9" name="Text 7"/>
          <p:cNvSpPr txBox="1"/>
          <p:nvPr/>
        </p:nvSpPr>
        <p:spPr>
          <a:xfrm>
            <a:off x="713232" y="3172968"/>
            <a:ext cx="1792224" cy="6400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department</a:t>
            </a:r>
            <a:endParaRPr lang="en-US" sz="1400" dirty="0"/>
          </a:p>
          <a:p>
            <a:pPr indent="0" marL="0">
              <a:buNone/>
            </a:pPr>
            <a:r>
              <a:rPr lang="en-US" sz="1200" dirty="0">
                <a:solidFill>
                  <a:schemeClr val="accent5"/>
                </a:solidFill>
              </a:rPr>
              <a:t>학과</a:t>
            </a:r>
            <a:endParaRPr lang="en-US" sz="1400" dirty="0"/>
          </a:p>
        </p:txBody>
      </p:sp>
      <p:sp>
        <p:nvSpPr>
          <p:cNvPr id="10" name="card"/>
          <p:cNvSpPr/>
          <p:nvPr/>
        </p:nvSpPr>
        <p:spPr>
          <a:xfrm>
            <a:off x="548640" y="3922776"/>
            <a:ext cx="2066544" cy="640080"/>
          </a:xfrm>
          <a:prstGeom prst="roundRect">
            <a:avLst>
              <a:gd name="adj" fmla="val 17143"/>
            </a:avLst>
          </a:prstGeom>
          <a:solidFill>
            <a:schemeClr val="bg2"/>
          </a:solidFill>
          <a:ln w="12700">
            <a:solidFill>
              <a:schemeClr val="bg2"/>
            </a:solidFill>
            <a:prstDash val="solid"/>
          </a:ln>
        </p:spPr>
      </p:sp>
      <p:sp>
        <p:nvSpPr>
          <p:cNvPr id="11" name="Text 9"/>
          <p:cNvSpPr txBox="1"/>
          <p:nvPr/>
        </p:nvSpPr>
        <p:spPr>
          <a:xfrm>
            <a:off x="713232" y="3922776"/>
            <a:ext cx="1792224" cy="6400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trade_spot</a:t>
            </a:r>
            <a:endParaRPr lang="en-US" sz="1400" dirty="0"/>
          </a:p>
          <a:p>
            <a:pPr indent="0" marL="0">
              <a:buNone/>
            </a:pPr>
            <a:r>
              <a:rPr lang="en-US" sz="1200" dirty="0">
                <a:solidFill>
                  <a:schemeClr val="accent5"/>
                </a:solidFill>
              </a:rPr>
              <a:t>교내 거래장소</a:t>
            </a:r>
            <a:endParaRPr lang="en-US" sz="1400" dirty="0"/>
          </a:p>
        </p:txBody>
      </p:sp>
      <p:sp>
        <p:nvSpPr>
          <p:cNvPr id="12" name="domain-head"/>
          <p:cNvSpPr/>
          <p:nvPr/>
        </p:nvSpPr>
        <p:spPr>
          <a:xfrm>
            <a:off x="2798064" y="1691640"/>
            <a:ext cx="2066544" cy="594360"/>
          </a:xfrm>
          <a:prstGeom prst="roundRect">
            <a:avLst>
              <a:gd name="adj" fmla="val 15385"/>
            </a:avLst>
          </a:prstGeom>
          <a:solidFill>
            <a:schemeClr val="accent1"/>
          </a:solidFill>
          <a:ln w="12700">
            <a:solidFill>
              <a:schemeClr val="accent1"/>
            </a:solidFill>
            <a:prstDash val="solid"/>
          </a:ln>
        </p:spPr>
      </p:sp>
      <p:sp>
        <p:nvSpPr>
          <p:cNvPr id="13" name="Text 11"/>
          <p:cNvSpPr txBox="1"/>
          <p:nvPr/>
        </p:nvSpPr>
        <p:spPr>
          <a:xfrm>
            <a:off x="2798064" y="1691640"/>
            <a:ext cx="2066544" cy="594360"/>
          </a:xfrm>
          <a:prstGeom prst="rect">
            <a:avLst/>
          </a:prstGeom>
          <a:noFill/>
          <a:ln/>
        </p:spPr>
        <p:txBody>
          <a:bodyPr wrap="square" lIns="0" tIns="0" rIns="0" bIns="0" rtlCol="0" anchor="ctr"/>
          <a:lstStyle/>
          <a:p>
            <a:pPr algn="ctr" indent="0" marL="0">
              <a:buNone/>
            </a:pPr>
            <a:r>
              <a:rPr lang="en-US" sz="1600" b="1" dirty="0">
                <a:solidFill>
                  <a:schemeClr val="bg1"/>
                </a:solidFill>
              </a:rPr>
              <a:t>상품  4</a:t>
            </a:r>
            <a:endParaRPr lang="en-US" sz="1600" dirty="0"/>
          </a:p>
        </p:txBody>
      </p:sp>
      <p:sp>
        <p:nvSpPr>
          <p:cNvPr id="14" name="card"/>
          <p:cNvSpPr/>
          <p:nvPr/>
        </p:nvSpPr>
        <p:spPr>
          <a:xfrm>
            <a:off x="2798064" y="2423160"/>
            <a:ext cx="2066544" cy="640080"/>
          </a:xfrm>
          <a:prstGeom prst="roundRect">
            <a:avLst>
              <a:gd name="adj" fmla="val 17143"/>
            </a:avLst>
          </a:prstGeom>
          <a:solidFill>
            <a:schemeClr val="bg2"/>
          </a:solidFill>
          <a:ln w="12700">
            <a:solidFill>
              <a:schemeClr val="bg2"/>
            </a:solidFill>
            <a:prstDash val="solid"/>
          </a:ln>
        </p:spPr>
      </p:sp>
      <p:sp>
        <p:nvSpPr>
          <p:cNvPr id="15" name="Text 13"/>
          <p:cNvSpPr txBox="1"/>
          <p:nvPr/>
        </p:nvSpPr>
        <p:spPr>
          <a:xfrm>
            <a:off x="2962656" y="2423160"/>
            <a:ext cx="1792224" cy="6400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item</a:t>
            </a:r>
            <a:endParaRPr lang="en-US" sz="1400" dirty="0"/>
          </a:p>
          <a:p>
            <a:pPr indent="0" marL="0">
              <a:buNone/>
            </a:pPr>
            <a:r>
              <a:rPr lang="en-US" sz="1200" dirty="0">
                <a:solidFill>
                  <a:schemeClr val="accent5"/>
                </a:solidFill>
              </a:rPr>
              <a:t>상품</a:t>
            </a:r>
            <a:endParaRPr lang="en-US" sz="1400" dirty="0"/>
          </a:p>
        </p:txBody>
      </p:sp>
      <p:sp>
        <p:nvSpPr>
          <p:cNvPr id="16" name="card"/>
          <p:cNvSpPr/>
          <p:nvPr/>
        </p:nvSpPr>
        <p:spPr>
          <a:xfrm>
            <a:off x="2798064" y="3172968"/>
            <a:ext cx="2066544" cy="640080"/>
          </a:xfrm>
          <a:prstGeom prst="roundRect">
            <a:avLst>
              <a:gd name="adj" fmla="val 17143"/>
            </a:avLst>
          </a:prstGeom>
          <a:solidFill>
            <a:schemeClr val="bg2"/>
          </a:solidFill>
          <a:ln w="12700">
            <a:solidFill>
              <a:schemeClr val="bg2"/>
            </a:solidFill>
            <a:prstDash val="solid"/>
          </a:ln>
        </p:spPr>
      </p:sp>
      <p:sp>
        <p:nvSpPr>
          <p:cNvPr id="17" name="Text 15"/>
          <p:cNvSpPr txBox="1"/>
          <p:nvPr/>
        </p:nvSpPr>
        <p:spPr>
          <a:xfrm>
            <a:off x="2962656" y="3172968"/>
            <a:ext cx="1792224" cy="6400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category</a:t>
            </a:r>
            <a:endParaRPr lang="en-US" sz="1400" dirty="0"/>
          </a:p>
          <a:p>
            <a:pPr indent="0" marL="0">
              <a:buNone/>
            </a:pPr>
            <a:r>
              <a:rPr lang="en-US" sz="1200" dirty="0">
                <a:solidFill>
                  <a:schemeClr val="accent5"/>
                </a:solidFill>
              </a:rPr>
              <a:t>카테고리(계층)</a:t>
            </a:r>
            <a:endParaRPr lang="en-US" sz="1400" dirty="0"/>
          </a:p>
        </p:txBody>
      </p:sp>
      <p:sp>
        <p:nvSpPr>
          <p:cNvPr id="18" name="card"/>
          <p:cNvSpPr/>
          <p:nvPr/>
        </p:nvSpPr>
        <p:spPr>
          <a:xfrm>
            <a:off x="2798064" y="3922776"/>
            <a:ext cx="2066544" cy="640080"/>
          </a:xfrm>
          <a:prstGeom prst="roundRect">
            <a:avLst>
              <a:gd name="adj" fmla="val 17143"/>
            </a:avLst>
          </a:prstGeom>
          <a:solidFill>
            <a:schemeClr val="bg2"/>
          </a:solidFill>
          <a:ln w="12700">
            <a:solidFill>
              <a:schemeClr val="bg2"/>
            </a:solidFill>
            <a:prstDash val="solid"/>
          </a:ln>
        </p:spPr>
      </p:sp>
      <p:sp>
        <p:nvSpPr>
          <p:cNvPr id="19" name="Text 17"/>
          <p:cNvSpPr txBox="1"/>
          <p:nvPr/>
        </p:nvSpPr>
        <p:spPr>
          <a:xfrm>
            <a:off x="2962656" y="3922776"/>
            <a:ext cx="1792224" cy="6400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item_image</a:t>
            </a:r>
            <a:endParaRPr lang="en-US" sz="1400" dirty="0"/>
          </a:p>
          <a:p>
            <a:pPr indent="0" marL="0">
              <a:buNone/>
            </a:pPr>
            <a:r>
              <a:rPr lang="en-US" sz="1200" dirty="0">
                <a:solidFill>
                  <a:schemeClr val="accent5"/>
                </a:solidFill>
              </a:rPr>
              <a:t>상품 사진</a:t>
            </a:r>
            <a:endParaRPr lang="en-US" sz="1400" dirty="0"/>
          </a:p>
        </p:txBody>
      </p:sp>
      <p:sp>
        <p:nvSpPr>
          <p:cNvPr id="20" name="card"/>
          <p:cNvSpPr/>
          <p:nvPr/>
        </p:nvSpPr>
        <p:spPr>
          <a:xfrm>
            <a:off x="2798064" y="4672584"/>
            <a:ext cx="2066544" cy="640080"/>
          </a:xfrm>
          <a:prstGeom prst="roundRect">
            <a:avLst>
              <a:gd name="adj" fmla="val 17143"/>
            </a:avLst>
          </a:prstGeom>
          <a:solidFill>
            <a:schemeClr val="bg2"/>
          </a:solidFill>
          <a:ln w="12700">
            <a:solidFill>
              <a:schemeClr val="bg2"/>
            </a:solidFill>
            <a:prstDash val="solid"/>
          </a:ln>
        </p:spPr>
      </p:sp>
      <p:sp>
        <p:nvSpPr>
          <p:cNvPr id="21" name="Text 19"/>
          <p:cNvSpPr txBox="1"/>
          <p:nvPr/>
        </p:nvSpPr>
        <p:spPr>
          <a:xfrm>
            <a:off x="2962656" y="4672584"/>
            <a:ext cx="1792224" cy="6400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wishlist</a:t>
            </a:r>
            <a:endParaRPr lang="en-US" sz="1400" dirty="0"/>
          </a:p>
          <a:p>
            <a:pPr indent="0" marL="0">
              <a:buNone/>
            </a:pPr>
            <a:r>
              <a:rPr lang="en-US" sz="1200" dirty="0">
                <a:solidFill>
                  <a:schemeClr val="accent5"/>
                </a:solidFill>
              </a:rPr>
              <a:t>찜 (M:N)</a:t>
            </a:r>
            <a:endParaRPr lang="en-US" sz="1400" dirty="0"/>
          </a:p>
        </p:txBody>
      </p:sp>
      <p:sp>
        <p:nvSpPr>
          <p:cNvPr id="22" name="domain-head"/>
          <p:cNvSpPr/>
          <p:nvPr/>
        </p:nvSpPr>
        <p:spPr>
          <a:xfrm>
            <a:off x="5047488" y="1691640"/>
            <a:ext cx="2066544" cy="594360"/>
          </a:xfrm>
          <a:prstGeom prst="roundRect">
            <a:avLst>
              <a:gd name="adj" fmla="val 15385"/>
            </a:avLst>
          </a:prstGeom>
          <a:solidFill>
            <a:schemeClr val="tx2"/>
          </a:solidFill>
          <a:ln w="12700">
            <a:solidFill>
              <a:schemeClr val="tx2"/>
            </a:solidFill>
            <a:prstDash val="solid"/>
          </a:ln>
        </p:spPr>
      </p:sp>
      <p:sp>
        <p:nvSpPr>
          <p:cNvPr id="23" name="Text 21"/>
          <p:cNvSpPr txBox="1"/>
          <p:nvPr/>
        </p:nvSpPr>
        <p:spPr>
          <a:xfrm>
            <a:off x="5047488" y="1691640"/>
            <a:ext cx="2066544" cy="594360"/>
          </a:xfrm>
          <a:prstGeom prst="rect">
            <a:avLst/>
          </a:prstGeom>
          <a:noFill/>
          <a:ln/>
        </p:spPr>
        <p:txBody>
          <a:bodyPr wrap="square" lIns="0" tIns="0" rIns="0" bIns="0" rtlCol="0" anchor="ctr"/>
          <a:lstStyle/>
          <a:p>
            <a:pPr algn="ctr" indent="0" marL="0">
              <a:buNone/>
            </a:pPr>
            <a:r>
              <a:rPr lang="en-US" sz="1600" b="1" dirty="0">
                <a:solidFill>
                  <a:schemeClr val="bg1"/>
                </a:solidFill>
              </a:rPr>
              <a:t>소통 · 거래  5</a:t>
            </a:r>
            <a:endParaRPr lang="en-US" sz="1600" dirty="0"/>
          </a:p>
        </p:txBody>
      </p:sp>
      <p:sp>
        <p:nvSpPr>
          <p:cNvPr id="24" name="card"/>
          <p:cNvSpPr/>
          <p:nvPr/>
        </p:nvSpPr>
        <p:spPr>
          <a:xfrm>
            <a:off x="5047488" y="2423160"/>
            <a:ext cx="2066544" cy="640080"/>
          </a:xfrm>
          <a:prstGeom prst="roundRect">
            <a:avLst>
              <a:gd name="adj" fmla="val 17143"/>
            </a:avLst>
          </a:prstGeom>
          <a:solidFill>
            <a:schemeClr val="bg2"/>
          </a:solidFill>
          <a:ln w="12700">
            <a:solidFill>
              <a:schemeClr val="bg2"/>
            </a:solidFill>
            <a:prstDash val="solid"/>
          </a:ln>
        </p:spPr>
      </p:sp>
      <p:sp>
        <p:nvSpPr>
          <p:cNvPr id="25" name="Text 23"/>
          <p:cNvSpPr txBox="1"/>
          <p:nvPr/>
        </p:nvSpPr>
        <p:spPr>
          <a:xfrm>
            <a:off x="5212080" y="2423160"/>
            <a:ext cx="1792224" cy="6400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chat_room</a:t>
            </a:r>
            <a:endParaRPr lang="en-US" sz="1400" dirty="0"/>
          </a:p>
          <a:p>
            <a:pPr indent="0" marL="0">
              <a:buNone/>
            </a:pPr>
            <a:r>
              <a:rPr lang="en-US" sz="1200" dirty="0">
                <a:solidFill>
                  <a:schemeClr val="accent5"/>
                </a:solidFill>
              </a:rPr>
              <a:t>채팅방</a:t>
            </a:r>
            <a:endParaRPr lang="en-US" sz="1400" dirty="0"/>
          </a:p>
        </p:txBody>
      </p:sp>
      <p:sp>
        <p:nvSpPr>
          <p:cNvPr id="26" name="card"/>
          <p:cNvSpPr/>
          <p:nvPr/>
        </p:nvSpPr>
        <p:spPr>
          <a:xfrm>
            <a:off x="5047488" y="3172968"/>
            <a:ext cx="2066544" cy="640080"/>
          </a:xfrm>
          <a:prstGeom prst="roundRect">
            <a:avLst>
              <a:gd name="adj" fmla="val 17143"/>
            </a:avLst>
          </a:prstGeom>
          <a:solidFill>
            <a:schemeClr val="bg2"/>
          </a:solidFill>
          <a:ln w="12700">
            <a:solidFill>
              <a:schemeClr val="bg2"/>
            </a:solidFill>
            <a:prstDash val="solid"/>
          </a:ln>
        </p:spPr>
      </p:sp>
      <p:sp>
        <p:nvSpPr>
          <p:cNvPr id="27" name="Text 25"/>
          <p:cNvSpPr txBox="1"/>
          <p:nvPr/>
        </p:nvSpPr>
        <p:spPr>
          <a:xfrm>
            <a:off x="5212080" y="3172968"/>
            <a:ext cx="1792224" cy="6400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chat_message</a:t>
            </a:r>
            <a:endParaRPr lang="en-US" sz="1400" dirty="0"/>
          </a:p>
          <a:p>
            <a:pPr indent="0" marL="0">
              <a:buNone/>
            </a:pPr>
            <a:r>
              <a:rPr lang="en-US" sz="1200" dirty="0">
                <a:solidFill>
                  <a:schemeClr val="accent5"/>
                </a:solidFill>
              </a:rPr>
              <a:t>메시지</a:t>
            </a:r>
            <a:endParaRPr lang="en-US" sz="1400" dirty="0"/>
          </a:p>
        </p:txBody>
      </p:sp>
      <p:sp>
        <p:nvSpPr>
          <p:cNvPr id="28" name="card"/>
          <p:cNvSpPr/>
          <p:nvPr/>
        </p:nvSpPr>
        <p:spPr>
          <a:xfrm>
            <a:off x="5047488" y="3922776"/>
            <a:ext cx="2066544" cy="640080"/>
          </a:xfrm>
          <a:prstGeom prst="roundRect">
            <a:avLst>
              <a:gd name="adj" fmla="val 17143"/>
            </a:avLst>
          </a:prstGeom>
          <a:solidFill>
            <a:schemeClr val="bg2"/>
          </a:solidFill>
          <a:ln w="12700">
            <a:solidFill>
              <a:schemeClr val="bg2"/>
            </a:solidFill>
            <a:prstDash val="solid"/>
          </a:ln>
        </p:spPr>
      </p:sp>
      <p:sp>
        <p:nvSpPr>
          <p:cNvPr id="29" name="Text 27"/>
          <p:cNvSpPr txBox="1"/>
          <p:nvPr/>
        </p:nvSpPr>
        <p:spPr>
          <a:xfrm>
            <a:off x="5212080" y="3922776"/>
            <a:ext cx="1792224" cy="6400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trade</a:t>
            </a:r>
            <a:endParaRPr lang="en-US" sz="1400" dirty="0"/>
          </a:p>
          <a:p>
            <a:pPr indent="0" marL="0">
              <a:buNone/>
            </a:pPr>
            <a:r>
              <a:rPr lang="en-US" sz="1200" dirty="0">
                <a:solidFill>
                  <a:schemeClr val="accent5"/>
                </a:solidFill>
              </a:rPr>
              <a:t>거래</a:t>
            </a:r>
            <a:endParaRPr lang="en-US" sz="1400" dirty="0"/>
          </a:p>
        </p:txBody>
      </p:sp>
      <p:sp>
        <p:nvSpPr>
          <p:cNvPr id="30" name="card"/>
          <p:cNvSpPr/>
          <p:nvPr/>
        </p:nvSpPr>
        <p:spPr>
          <a:xfrm>
            <a:off x="5047488" y="4672584"/>
            <a:ext cx="2066544" cy="640080"/>
          </a:xfrm>
          <a:prstGeom prst="roundRect">
            <a:avLst>
              <a:gd name="adj" fmla="val 17143"/>
            </a:avLst>
          </a:prstGeom>
          <a:solidFill>
            <a:schemeClr val="bg2"/>
          </a:solidFill>
          <a:ln w="12700">
            <a:solidFill>
              <a:schemeClr val="bg2"/>
            </a:solidFill>
            <a:prstDash val="solid"/>
          </a:ln>
        </p:spPr>
      </p:sp>
      <p:sp>
        <p:nvSpPr>
          <p:cNvPr id="31" name="Text 29"/>
          <p:cNvSpPr txBox="1"/>
          <p:nvPr/>
        </p:nvSpPr>
        <p:spPr>
          <a:xfrm>
            <a:off x="5212080" y="4672584"/>
            <a:ext cx="1792224" cy="6400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review</a:t>
            </a:r>
            <a:endParaRPr lang="en-US" sz="1400" dirty="0"/>
          </a:p>
          <a:p>
            <a:pPr indent="0" marL="0">
              <a:buNone/>
            </a:pPr>
            <a:r>
              <a:rPr lang="en-US" sz="1200" dirty="0">
                <a:solidFill>
                  <a:schemeClr val="accent5"/>
                </a:solidFill>
              </a:rPr>
              <a:t>거래 후기</a:t>
            </a:r>
            <a:endParaRPr lang="en-US" sz="1400" dirty="0"/>
          </a:p>
        </p:txBody>
      </p:sp>
      <p:sp>
        <p:nvSpPr>
          <p:cNvPr id="32" name="card"/>
          <p:cNvSpPr/>
          <p:nvPr/>
        </p:nvSpPr>
        <p:spPr>
          <a:xfrm>
            <a:off x="5047488" y="5422392"/>
            <a:ext cx="2066544" cy="640080"/>
          </a:xfrm>
          <a:prstGeom prst="roundRect">
            <a:avLst>
              <a:gd name="adj" fmla="val 17143"/>
            </a:avLst>
          </a:prstGeom>
          <a:solidFill>
            <a:schemeClr val="bg2"/>
          </a:solidFill>
          <a:ln w="12700">
            <a:solidFill>
              <a:schemeClr val="bg2"/>
            </a:solidFill>
            <a:prstDash val="solid"/>
          </a:ln>
        </p:spPr>
      </p:sp>
      <p:sp>
        <p:nvSpPr>
          <p:cNvPr id="33" name="Text 31"/>
          <p:cNvSpPr txBox="1"/>
          <p:nvPr/>
        </p:nvSpPr>
        <p:spPr>
          <a:xfrm>
            <a:off x="5212080" y="5422392"/>
            <a:ext cx="1792224" cy="6400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report</a:t>
            </a:r>
            <a:endParaRPr lang="en-US" sz="1400" dirty="0"/>
          </a:p>
          <a:p>
            <a:pPr indent="0" marL="0">
              <a:buNone/>
            </a:pPr>
            <a:r>
              <a:rPr lang="en-US" sz="1200" dirty="0">
                <a:solidFill>
                  <a:schemeClr val="accent5"/>
                </a:solidFill>
              </a:rPr>
              <a:t>신고</a:t>
            </a:r>
            <a:endParaRPr lang="en-US" sz="1400" dirty="0"/>
          </a:p>
        </p:txBody>
      </p:sp>
      <p:sp>
        <p:nvSpPr>
          <p:cNvPr id="34" name="domain-head"/>
          <p:cNvSpPr/>
          <p:nvPr/>
        </p:nvSpPr>
        <p:spPr>
          <a:xfrm>
            <a:off x="7296912" y="1691640"/>
            <a:ext cx="2066544" cy="594360"/>
          </a:xfrm>
          <a:prstGeom prst="roundRect">
            <a:avLst>
              <a:gd name="adj" fmla="val 15385"/>
            </a:avLst>
          </a:prstGeom>
          <a:solidFill>
            <a:schemeClr val="accent2"/>
          </a:solidFill>
          <a:ln w="12700">
            <a:solidFill>
              <a:schemeClr val="accent2"/>
            </a:solidFill>
            <a:prstDash val="solid"/>
          </a:ln>
        </p:spPr>
      </p:sp>
      <p:sp>
        <p:nvSpPr>
          <p:cNvPr id="35" name="Text 33"/>
          <p:cNvSpPr txBox="1"/>
          <p:nvPr/>
        </p:nvSpPr>
        <p:spPr>
          <a:xfrm>
            <a:off x="7296912" y="1691640"/>
            <a:ext cx="2066544" cy="594360"/>
          </a:xfrm>
          <a:prstGeom prst="rect">
            <a:avLst/>
          </a:prstGeom>
          <a:noFill/>
          <a:ln/>
        </p:spPr>
        <p:txBody>
          <a:bodyPr wrap="square" lIns="0" tIns="0" rIns="0" bIns="0" rtlCol="0" anchor="ctr"/>
          <a:lstStyle/>
          <a:p>
            <a:pPr algn="ctr" indent="0" marL="0">
              <a:buNone/>
            </a:pPr>
            <a:r>
              <a:rPr lang="en-US" sz="1600" b="1" dirty="0">
                <a:solidFill>
                  <a:schemeClr val="bg1"/>
                </a:solidFill>
              </a:rPr>
              <a:t>기부  2</a:t>
            </a:r>
            <a:endParaRPr lang="en-US" sz="1600" dirty="0"/>
          </a:p>
        </p:txBody>
      </p:sp>
      <p:sp>
        <p:nvSpPr>
          <p:cNvPr id="36" name="card"/>
          <p:cNvSpPr/>
          <p:nvPr/>
        </p:nvSpPr>
        <p:spPr>
          <a:xfrm>
            <a:off x="7296912" y="2423160"/>
            <a:ext cx="2066544" cy="640080"/>
          </a:xfrm>
          <a:prstGeom prst="roundRect">
            <a:avLst>
              <a:gd name="adj" fmla="val 17143"/>
            </a:avLst>
          </a:prstGeom>
          <a:solidFill>
            <a:schemeClr val="bg2"/>
          </a:solidFill>
          <a:ln w="12700">
            <a:solidFill>
              <a:schemeClr val="bg2"/>
            </a:solidFill>
            <a:prstDash val="solid"/>
          </a:ln>
        </p:spPr>
      </p:sp>
      <p:sp>
        <p:nvSpPr>
          <p:cNvPr id="37" name="Text 35"/>
          <p:cNvSpPr txBox="1"/>
          <p:nvPr/>
        </p:nvSpPr>
        <p:spPr>
          <a:xfrm>
            <a:off x="7461504" y="2423160"/>
            <a:ext cx="1792224" cy="6400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donation_org</a:t>
            </a:r>
            <a:endParaRPr lang="en-US" sz="1400" dirty="0"/>
          </a:p>
          <a:p>
            <a:pPr indent="0" marL="0">
              <a:buNone/>
            </a:pPr>
            <a:r>
              <a:rPr lang="en-US" sz="1200" dirty="0">
                <a:solidFill>
                  <a:schemeClr val="accent5"/>
                </a:solidFill>
              </a:rPr>
              <a:t>기부처</a:t>
            </a:r>
            <a:endParaRPr lang="en-US" sz="1400" dirty="0"/>
          </a:p>
        </p:txBody>
      </p:sp>
      <p:sp>
        <p:nvSpPr>
          <p:cNvPr id="38" name="card"/>
          <p:cNvSpPr/>
          <p:nvPr/>
        </p:nvSpPr>
        <p:spPr>
          <a:xfrm>
            <a:off x="7296912" y="3172968"/>
            <a:ext cx="2066544" cy="640080"/>
          </a:xfrm>
          <a:prstGeom prst="roundRect">
            <a:avLst>
              <a:gd name="adj" fmla="val 17143"/>
            </a:avLst>
          </a:prstGeom>
          <a:solidFill>
            <a:schemeClr val="bg2"/>
          </a:solidFill>
          <a:ln w="12700">
            <a:solidFill>
              <a:schemeClr val="bg2"/>
            </a:solidFill>
            <a:prstDash val="solid"/>
          </a:ln>
        </p:spPr>
      </p:sp>
      <p:sp>
        <p:nvSpPr>
          <p:cNvPr id="39" name="Text 37"/>
          <p:cNvSpPr txBox="1"/>
          <p:nvPr/>
        </p:nvSpPr>
        <p:spPr>
          <a:xfrm>
            <a:off x="7461504" y="3172968"/>
            <a:ext cx="1792224" cy="6400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donation</a:t>
            </a:r>
            <a:endParaRPr lang="en-US" sz="1400" dirty="0"/>
          </a:p>
          <a:p>
            <a:pPr indent="0" marL="0">
              <a:buNone/>
            </a:pPr>
            <a:r>
              <a:rPr lang="en-US" sz="1200" dirty="0">
                <a:solidFill>
                  <a:schemeClr val="accent5"/>
                </a:solidFill>
              </a:rPr>
              <a:t>기부 내역</a:t>
            </a:r>
            <a:endParaRPr lang="en-US" sz="1400" dirty="0"/>
          </a:p>
        </p:txBody>
      </p:sp>
      <p:sp>
        <p:nvSpPr>
          <p:cNvPr id="40" name="domain-head"/>
          <p:cNvSpPr/>
          <p:nvPr/>
        </p:nvSpPr>
        <p:spPr>
          <a:xfrm>
            <a:off x="9546336" y="1691640"/>
            <a:ext cx="2066544" cy="594360"/>
          </a:xfrm>
          <a:prstGeom prst="roundRect">
            <a:avLst>
              <a:gd name="adj" fmla="val 15385"/>
            </a:avLst>
          </a:prstGeom>
          <a:solidFill>
            <a:schemeClr val="accent4"/>
          </a:solidFill>
          <a:ln w="12700">
            <a:solidFill>
              <a:schemeClr val="accent4"/>
            </a:solidFill>
            <a:prstDash val="solid"/>
          </a:ln>
        </p:spPr>
      </p:sp>
      <p:sp>
        <p:nvSpPr>
          <p:cNvPr id="41" name="Text 39"/>
          <p:cNvSpPr txBox="1"/>
          <p:nvPr/>
        </p:nvSpPr>
        <p:spPr>
          <a:xfrm>
            <a:off x="9546336" y="1691640"/>
            <a:ext cx="2066544" cy="594360"/>
          </a:xfrm>
          <a:prstGeom prst="rect">
            <a:avLst/>
          </a:prstGeom>
          <a:noFill/>
          <a:ln/>
        </p:spPr>
        <p:txBody>
          <a:bodyPr wrap="square" lIns="0" tIns="0" rIns="0" bIns="0" rtlCol="0" anchor="ctr"/>
          <a:lstStyle/>
          <a:p>
            <a:pPr algn="ctr" indent="0" marL="0">
              <a:buNone/>
            </a:pPr>
            <a:r>
              <a:rPr lang="en-US" sz="1600" b="1" dirty="0">
                <a:solidFill>
                  <a:schemeClr val="bg1"/>
                </a:solidFill>
              </a:rPr>
              <a:t>포인트  3</a:t>
            </a:r>
            <a:endParaRPr lang="en-US" sz="1600" dirty="0"/>
          </a:p>
        </p:txBody>
      </p:sp>
      <p:sp>
        <p:nvSpPr>
          <p:cNvPr id="42" name="card"/>
          <p:cNvSpPr/>
          <p:nvPr/>
        </p:nvSpPr>
        <p:spPr>
          <a:xfrm>
            <a:off x="9546336" y="2423160"/>
            <a:ext cx="2066544" cy="640080"/>
          </a:xfrm>
          <a:prstGeom prst="roundRect">
            <a:avLst>
              <a:gd name="adj" fmla="val 17143"/>
            </a:avLst>
          </a:prstGeom>
          <a:solidFill>
            <a:schemeClr val="bg2"/>
          </a:solidFill>
          <a:ln w="12700">
            <a:solidFill>
              <a:schemeClr val="bg2"/>
            </a:solidFill>
            <a:prstDash val="solid"/>
          </a:ln>
        </p:spPr>
      </p:sp>
      <p:sp>
        <p:nvSpPr>
          <p:cNvPr id="43" name="Text 41"/>
          <p:cNvSpPr txBox="1"/>
          <p:nvPr/>
        </p:nvSpPr>
        <p:spPr>
          <a:xfrm>
            <a:off x="9710928" y="2423160"/>
            <a:ext cx="1792224" cy="6400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point_history</a:t>
            </a:r>
            <a:endParaRPr lang="en-US" sz="1400" dirty="0"/>
          </a:p>
          <a:p>
            <a:pPr indent="0" marL="0">
              <a:buNone/>
            </a:pPr>
            <a:r>
              <a:rPr lang="en-US" sz="1200" dirty="0">
                <a:solidFill>
                  <a:schemeClr val="accent5"/>
                </a:solidFill>
              </a:rPr>
              <a:t>포인트 원장</a:t>
            </a:r>
            <a:endParaRPr lang="en-US" sz="1400" dirty="0"/>
          </a:p>
        </p:txBody>
      </p:sp>
      <p:sp>
        <p:nvSpPr>
          <p:cNvPr id="44" name="card"/>
          <p:cNvSpPr/>
          <p:nvPr/>
        </p:nvSpPr>
        <p:spPr>
          <a:xfrm>
            <a:off x="9546336" y="3172968"/>
            <a:ext cx="2066544" cy="640080"/>
          </a:xfrm>
          <a:prstGeom prst="roundRect">
            <a:avLst>
              <a:gd name="adj" fmla="val 17143"/>
            </a:avLst>
          </a:prstGeom>
          <a:solidFill>
            <a:schemeClr val="bg2"/>
          </a:solidFill>
          <a:ln w="12700">
            <a:solidFill>
              <a:schemeClr val="bg2"/>
            </a:solidFill>
            <a:prstDash val="solid"/>
          </a:ln>
        </p:spPr>
      </p:sp>
      <p:sp>
        <p:nvSpPr>
          <p:cNvPr id="45" name="Text 43"/>
          <p:cNvSpPr txBox="1"/>
          <p:nvPr/>
        </p:nvSpPr>
        <p:spPr>
          <a:xfrm>
            <a:off x="9710928" y="3172968"/>
            <a:ext cx="1792224" cy="6400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reward</a:t>
            </a:r>
            <a:endParaRPr lang="en-US" sz="1400" dirty="0"/>
          </a:p>
          <a:p>
            <a:pPr indent="0" marL="0">
              <a:buNone/>
            </a:pPr>
            <a:r>
              <a:rPr lang="en-US" sz="1200" dirty="0">
                <a:solidFill>
                  <a:schemeClr val="accent5"/>
                </a:solidFill>
              </a:rPr>
              <a:t>리워드</a:t>
            </a:r>
            <a:endParaRPr lang="en-US" sz="1400" dirty="0"/>
          </a:p>
        </p:txBody>
      </p:sp>
      <p:sp>
        <p:nvSpPr>
          <p:cNvPr id="46" name="card"/>
          <p:cNvSpPr/>
          <p:nvPr/>
        </p:nvSpPr>
        <p:spPr>
          <a:xfrm>
            <a:off x="9546336" y="3922776"/>
            <a:ext cx="2066544" cy="640080"/>
          </a:xfrm>
          <a:prstGeom prst="roundRect">
            <a:avLst>
              <a:gd name="adj" fmla="val 17143"/>
            </a:avLst>
          </a:prstGeom>
          <a:solidFill>
            <a:schemeClr val="bg2"/>
          </a:solidFill>
          <a:ln w="12700">
            <a:solidFill>
              <a:schemeClr val="bg2"/>
            </a:solidFill>
            <a:prstDash val="solid"/>
          </a:ln>
        </p:spPr>
      </p:sp>
      <p:sp>
        <p:nvSpPr>
          <p:cNvPr id="47" name="Text 45"/>
          <p:cNvSpPr txBox="1"/>
          <p:nvPr/>
        </p:nvSpPr>
        <p:spPr>
          <a:xfrm>
            <a:off x="9710928" y="3922776"/>
            <a:ext cx="1792224" cy="6400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reward_exchange</a:t>
            </a:r>
            <a:endParaRPr lang="en-US" sz="1400" dirty="0"/>
          </a:p>
          <a:p>
            <a:pPr indent="0" marL="0">
              <a:buNone/>
            </a:pPr>
            <a:r>
              <a:rPr lang="en-US" sz="1200" dirty="0">
                <a:solidFill>
                  <a:schemeClr val="accent5"/>
                </a:solidFill>
              </a:rPr>
              <a:t>교환 (M:N)</a:t>
            </a:r>
            <a:endParaRPr lang="en-US" sz="1400" dirty="0"/>
          </a:p>
        </p:txBody>
      </p:sp>
      <p:sp>
        <p:nvSpPr>
          <p:cNvPr id="48" name="Text 46"/>
          <p:cNvSpPr txBox="1"/>
          <p:nvPr/>
        </p:nvSpPr>
        <p:spPr>
          <a:xfrm>
            <a:off x="548640" y="6263640"/>
            <a:ext cx="10515600" cy="365760"/>
          </a:xfrm>
          <a:prstGeom prst="rect">
            <a:avLst/>
          </a:prstGeom>
          <a:noFill/>
          <a:ln/>
        </p:spPr>
        <p:txBody>
          <a:bodyPr wrap="square" lIns="0" tIns="0" rIns="0" bIns="0" rtlCol="0" anchor="t"/>
          <a:lstStyle/>
          <a:p>
            <a:pPr indent="0" marL="0">
              <a:buNone/>
            </a:pPr>
            <a:r>
              <a:rPr lang="en-US" sz="1200" dirty="0">
                <a:solidFill>
                  <a:schemeClr val="accent5"/>
                </a:solidFill>
              </a:rPr>
              <a:t>M:N 관계는 wishlist·reward_exchange로 해소, 사진 수가 상품마다 달라 item_image는 별도 테이블로 분리</a:t>
            </a:r>
            <a:endParaRPr 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B8C"/>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65760"/>
          </a:xfrm>
          <a:prstGeom prst="rect">
            <a:avLst/>
          </a:prstGeom>
          <a:noFill/>
          <a:ln/>
        </p:spPr>
        <p:txBody>
          <a:bodyPr wrap="square" lIns="0" tIns="0" rIns="0" bIns="0" rtlCol="0"/>
          <a:lstStyle/>
          <a:p>
            <a:pPr indent="0" marL="0">
              <a:buNone/>
            </a:pPr>
            <a:r>
              <a:rPr lang="en-US" sz="1400" b="1" dirty="0">
                <a:solidFill>
                  <a:schemeClr val="accent1"/>
                </a:solidFill>
              </a:rPr>
              <a:t>08  예상 데이터 구조 · 관계와 설계 포인트</a:t>
            </a:r>
            <a:endParaRPr lang="en-US" sz="1400" dirty="0"/>
          </a:p>
        </p:txBody>
      </p:sp>
      <p:sp>
        <p:nvSpPr>
          <p:cNvPr id="3" name="Text 0"/>
          <p:cNvSpPr/>
          <p:nvPr>
            <p:ph idx="101"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핵심 관계와 설계 이유</a:t>
            </a:r>
            <a:endParaRPr lang="en-US" sz="3000" dirty="0"/>
          </a:p>
        </p:txBody>
      </p:sp>
      <p:sp>
        <p:nvSpPr>
          <p:cNvPr id="4" name="entity-member"/>
          <p:cNvSpPr/>
          <p:nvPr/>
        </p:nvSpPr>
        <p:spPr>
          <a:xfrm>
            <a:off x="548640" y="1783080"/>
            <a:ext cx="1508760" cy="685800"/>
          </a:xfrm>
          <a:prstGeom prst="roundRect">
            <a:avLst>
              <a:gd name="adj" fmla="val 10667"/>
            </a:avLst>
          </a:prstGeom>
          <a:solidFill>
            <a:srgbClr val="EEF5F0"/>
          </a:solidFill>
          <a:ln w="15875">
            <a:solidFill>
              <a:schemeClr val="accent1"/>
            </a:solidFill>
            <a:prstDash val="solid"/>
          </a:ln>
        </p:spPr>
      </p:sp>
      <p:sp>
        <p:nvSpPr>
          <p:cNvPr id="5" name="Text 3"/>
          <p:cNvSpPr txBox="1"/>
          <p:nvPr/>
        </p:nvSpPr>
        <p:spPr>
          <a:xfrm>
            <a:off x="548640" y="1783080"/>
            <a:ext cx="1508760" cy="68580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member</a:t>
            </a:r>
            <a:endParaRPr lang="en-US" sz="1200" dirty="0"/>
          </a:p>
        </p:txBody>
      </p:sp>
      <p:sp>
        <p:nvSpPr>
          <p:cNvPr id="6" name="entity-item"/>
          <p:cNvSpPr/>
          <p:nvPr/>
        </p:nvSpPr>
        <p:spPr>
          <a:xfrm>
            <a:off x="2606040" y="1783080"/>
            <a:ext cx="1508760" cy="685800"/>
          </a:xfrm>
          <a:prstGeom prst="roundRect">
            <a:avLst>
              <a:gd name="adj" fmla="val 10667"/>
            </a:avLst>
          </a:prstGeom>
          <a:solidFill>
            <a:srgbClr val="EEF5F0"/>
          </a:solidFill>
          <a:ln w="15875">
            <a:solidFill>
              <a:schemeClr val="accent1"/>
            </a:solidFill>
            <a:prstDash val="solid"/>
          </a:ln>
        </p:spPr>
      </p:sp>
      <p:sp>
        <p:nvSpPr>
          <p:cNvPr id="7" name="Text 5"/>
          <p:cNvSpPr txBox="1"/>
          <p:nvPr/>
        </p:nvSpPr>
        <p:spPr>
          <a:xfrm>
            <a:off x="2606040" y="1783080"/>
            <a:ext cx="1508760" cy="68580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item</a:t>
            </a:r>
            <a:endParaRPr lang="en-US" sz="1200" dirty="0"/>
          </a:p>
        </p:txBody>
      </p:sp>
      <p:sp>
        <p:nvSpPr>
          <p:cNvPr id="8" name="entity-category"/>
          <p:cNvSpPr/>
          <p:nvPr/>
        </p:nvSpPr>
        <p:spPr>
          <a:xfrm>
            <a:off x="4663440" y="1783080"/>
            <a:ext cx="1508760" cy="685800"/>
          </a:xfrm>
          <a:prstGeom prst="roundRect">
            <a:avLst>
              <a:gd name="adj" fmla="val 10667"/>
            </a:avLst>
          </a:prstGeom>
          <a:solidFill>
            <a:srgbClr val="EEF5F0"/>
          </a:solidFill>
          <a:ln w="15875">
            <a:solidFill>
              <a:schemeClr val="accent1"/>
            </a:solidFill>
            <a:prstDash val="solid"/>
          </a:ln>
        </p:spPr>
      </p:sp>
      <p:sp>
        <p:nvSpPr>
          <p:cNvPr id="9" name="Text 7"/>
          <p:cNvSpPr txBox="1"/>
          <p:nvPr/>
        </p:nvSpPr>
        <p:spPr>
          <a:xfrm>
            <a:off x="4663440" y="1783080"/>
            <a:ext cx="1508760" cy="68580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category</a:t>
            </a:r>
            <a:endParaRPr lang="en-US" sz="1200" dirty="0"/>
          </a:p>
        </p:txBody>
      </p:sp>
      <p:sp>
        <p:nvSpPr>
          <p:cNvPr id="10" name="entity-point_history"/>
          <p:cNvSpPr/>
          <p:nvPr/>
        </p:nvSpPr>
        <p:spPr>
          <a:xfrm>
            <a:off x="548640" y="3520440"/>
            <a:ext cx="1508760" cy="685800"/>
          </a:xfrm>
          <a:prstGeom prst="roundRect">
            <a:avLst>
              <a:gd name="adj" fmla="val 10667"/>
            </a:avLst>
          </a:prstGeom>
          <a:solidFill>
            <a:srgbClr val="EEF5F0"/>
          </a:solidFill>
          <a:ln w="15875">
            <a:solidFill>
              <a:schemeClr val="accent1"/>
            </a:solidFill>
            <a:prstDash val="solid"/>
          </a:ln>
        </p:spPr>
      </p:sp>
      <p:sp>
        <p:nvSpPr>
          <p:cNvPr id="11" name="Text 9"/>
          <p:cNvSpPr txBox="1"/>
          <p:nvPr/>
        </p:nvSpPr>
        <p:spPr>
          <a:xfrm>
            <a:off x="548640" y="3520440"/>
            <a:ext cx="1508760" cy="68580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point_history</a:t>
            </a:r>
            <a:endParaRPr lang="en-US" sz="1200" dirty="0"/>
          </a:p>
        </p:txBody>
      </p:sp>
      <p:sp>
        <p:nvSpPr>
          <p:cNvPr id="12" name="entity-trade"/>
          <p:cNvSpPr/>
          <p:nvPr/>
        </p:nvSpPr>
        <p:spPr>
          <a:xfrm>
            <a:off x="2606040" y="3520440"/>
            <a:ext cx="1508760" cy="685800"/>
          </a:xfrm>
          <a:prstGeom prst="roundRect">
            <a:avLst>
              <a:gd name="adj" fmla="val 10667"/>
            </a:avLst>
          </a:prstGeom>
          <a:solidFill>
            <a:srgbClr val="1F4E3D"/>
          </a:solidFill>
          <a:ln w="15875">
            <a:solidFill>
              <a:schemeClr val="accent1"/>
            </a:solidFill>
            <a:prstDash val="solid"/>
          </a:ln>
        </p:spPr>
      </p:sp>
      <p:sp>
        <p:nvSpPr>
          <p:cNvPr id="13" name="Text 11"/>
          <p:cNvSpPr txBox="1"/>
          <p:nvPr/>
        </p:nvSpPr>
        <p:spPr>
          <a:xfrm>
            <a:off x="2606040" y="3520440"/>
            <a:ext cx="1508760" cy="685800"/>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trade</a:t>
            </a:r>
            <a:endParaRPr lang="en-US" sz="1200" dirty="0"/>
          </a:p>
        </p:txBody>
      </p:sp>
      <p:sp>
        <p:nvSpPr>
          <p:cNvPr id="14" name="entity-donation"/>
          <p:cNvSpPr/>
          <p:nvPr/>
        </p:nvSpPr>
        <p:spPr>
          <a:xfrm>
            <a:off x="4663440" y="3520440"/>
            <a:ext cx="1508760" cy="685800"/>
          </a:xfrm>
          <a:prstGeom prst="roundRect">
            <a:avLst>
              <a:gd name="adj" fmla="val 10667"/>
            </a:avLst>
          </a:prstGeom>
          <a:solidFill>
            <a:srgbClr val="EEF5F0"/>
          </a:solidFill>
          <a:ln w="15875">
            <a:solidFill>
              <a:schemeClr val="accent1"/>
            </a:solidFill>
            <a:prstDash val="solid"/>
          </a:ln>
        </p:spPr>
      </p:sp>
      <p:sp>
        <p:nvSpPr>
          <p:cNvPr id="15" name="Text 13"/>
          <p:cNvSpPr txBox="1"/>
          <p:nvPr/>
        </p:nvSpPr>
        <p:spPr>
          <a:xfrm>
            <a:off x="4663440" y="3520440"/>
            <a:ext cx="1508760" cy="68580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donation</a:t>
            </a:r>
            <a:endParaRPr lang="en-US" sz="1200" dirty="0"/>
          </a:p>
        </p:txBody>
      </p:sp>
      <p:sp>
        <p:nvSpPr>
          <p:cNvPr id="16" name="entity-reward_exchange"/>
          <p:cNvSpPr/>
          <p:nvPr/>
        </p:nvSpPr>
        <p:spPr>
          <a:xfrm>
            <a:off x="548640" y="5257800"/>
            <a:ext cx="1508760" cy="685800"/>
          </a:xfrm>
          <a:prstGeom prst="roundRect">
            <a:avLst>
              <a:gd name="adj" fmla="val 10667"/>
            </a:avLst>
          </a:prstGeom>
          <a:solidFill>
            <a:srgbClr val="EEF5F0"/>
          </a:solidFill>
          <a:ln w="15875">
            <a:solidFill>
              <a:schemeClr val="accent1"/>
            </a:solidFill>
            <a:prstDash val="solid"/>
          </a:ln>
        </p:spPr>
      </p:sp>
      <p:sp>
        <p:nvSpPr>
          <p:cNvPr id="17" name="Text 15"/>
          <p:cNvSpPr txBox="1"/>
          <p:nvPr/>
        </p:nvSpPr>
        <p:spPr>
          <a:xfrm>
            <a:off x="548640" y="5257800"/>
            <a:ext cx="1508760" cy="68580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reward_exchange</a:t>
            </a:r>
            <a:endParaRPr lang="en-US" sz="1200" dirty="0"/>
          </a:p>
        </p:txBody>
      </p:sp>
      <p:sp>
        <p:nvSpPr>
          <p:cNvPr id="18" name="entity-review"/>
          <p:cNvSpPr/>
          <p:nvPr/>
        </p:nvSpPr>
        <p:spPr>
          <a:xfrm>
            <a:off x="2606040" y="5257800"/>
            <a:ext cx="1508760" cy="685800"/>
          </a:xfrm>
          <a:prstGeom prst="roundRect">
            <a:avLst>
              <a:gd name="adj" fmla="val 10667"/>
            </a:avLst>
          </a:prstGeom>
          <a:solidFill>
            <a:srgbClr val="EEF5F0"/>
          </a:solidFill>
          <a:ln w="15875">
            <a:solidFill>
              <a:schemeClr val="accent1"/>
            </a:solidFill>
            <a:prstDash val="solid"/>
          </a:ln>
        </p:spPr>
      </p:sp>
      <p:sp>
        <p:nvSpPr>
          <p:cNvPr id="19" name="Text 17"/>
          <p:cNvSpPr txBox="1"/>
          <p:nvPr/>
        </p:nvSpPr>
        <p:spPr>
          <a:xfrm>
            <a:off x="2606040" y="5257800"/>
            <a:ext cx="1508760" cy="68580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review</a:t>
            </a:r>
            <a:endParaRPr lang="en-US" sz="1200" dirty="0"/>
          </a:p>
        </p:txBody>
      </p:sp>
      <p:sp>
        <p:nvSpPr>
          <p:cNvPr id="20" name="entity-donation_org"/>
          <p:cNvSpPr/>
          <p:nvPr/>
        </p:nvSpPr>
        <p:spPr>
          <a:xfrm>
            <a:off x="4663440" y="5257800"/>
            <a:ext cx="1508760" cy="685800"/>
          </a:xfrm>
          <a:prstGeom prst="roundRect">
            <a:avLst>
              <a:gd name="adj" fmla="val 10667"/>
            </a:avLst>
          </a:prstGeom>
          <a:solidFill>
            <a:srgbClr val="EEF5F0"/>
          </a:solidFill>
          <a:ln w="15875">
            <a:solidFill>
              <a:schemeClr val="accent1"/>
            </a:solidFill>
            <a:prstDash val="solid"/>
          </a:ln>
        </p:spPr>
      </p:sp>
      <p:sp>
        <p:nvSpPr>
          <p:cNvPr id="21" name="Text 19"/>
          <p:cNvSpPr txBox="1"/>
          <p:nvPr/>
        </p:nvSpPr>
        <p:spPr>
          <a:xfrm>
            <a:off x="4663440" y="5257800"/>
            <a:ext cx="1508760" cy="685800"/>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donation_org</a:t>
            </a:r>
            <a:endParaRPr lang="en-US" sz="1200" dirty="0"/>
          </a:p>
        </p:txBody>
      </p:sp>
      <p:sp>
        <p:nvSpPr>
          <p:cNvPr id="22" name="rel"/>
          <p:cNvSpPr/>
          <p:nvPr/>
        </p:nvSpPr>
        <p:spPr>
          <a:xfrm>
            <a:off x="2057400" y="2125980"/>
            <a:ext cx="548640" cy="0"/>
          </a:xfrm>
          <a:prstGeom prst="line">
            <a:avLst/>
          </a:prstGeom>
          <a:noFill/>
          <a:ln w="19050">
            <a:solidFill>
              <a:schemeClr val="accent5"/>
            </a:solidFill>
            <a:prstDash val="solid"/>
          </a:ln>
        </p:spPr>
      </p:sp>
      <p:sp>
        <p:nvSpPr>
          <p:cNvPr id="23" name="Text 21"/>
          <p:cNvSpPr txBox="1"/>
          <p:nvPr/>
        </p:nvSpPr>
        <p:spPr>
          <a:xfrm>
            <a:off x="1874520" y="1760220"/>
            <a:ext cx="914400" cy="274320"/>
          </a:xfrm>
          <a:prstGeom prst="rect">
            <a:avLst/>
          </a:prstGeom>
          <a:noFill/>
          <a:ln/>
        </p:spPr>
        <p:txBody>
          <a:bodyPr wrap="square" lIns="0" tIns="0" rIns="0" bIns="0" rtlCol="0" anchor="t"/>
          <a:lstStyle/>
          <a:p>
            <a:pPr algn="ctr" indent="0" marL="0">
              <a:buNone/>
            </a:pPr>
            <a:r>
              <a:rPr lang="en-US" sz="1100" b="1" dirty="0">
                <a:solidFill>
                  <a:schemeClr val="accent2"/>
                </a:solidFill>
              </a:rPr>
              <a:t>1:N</a:t>
            </a:r>
            <a:endParaRPr lang="en-US" sz="1100" dirty="0"/>
          </a:p>
        </p:txBody>
      </p:sp>
      <p:sp>
        <p:nvSpPr>
          <p:cNvPr id="24" name="rel"/>
          <p:cNvSpPr/>
          <p:nvPr/>
        </p:nvSpPr>
        <p:spPr>
          <a:xfrm>
            <a:off x="4114800" y="2125980"/>
            <a:ext cx="548640" cy="0"/>
          </a:xfrm>
          <a:prstGeom prst="line">
            <a:avLst/>
          </a:prstGeom>
          <a:noFill/>
          <a:ln w="19050">
            <a:solidFill>
              <a:schemeClr val="accent5"/>
            </a:solidFill>
            <a:prstDash val="solid"/>
          </a:ln>
        </p:spPr>
      </p:sp>
      <p:sp>
        <p:nvSpPr>
          <p:cNvPr id="25" name="Text 23"/>
          <p:cNvSpPr txBox="1"/>
          <p:nvPr/>
        </p:nvSpPr>
        <p:spPr>
          <a:xfrm>
            <a:off x="3931920" y="1760220"/>
            <a:ext cx="914400" cy="274320"/>
          </a:xfrm>
          <a:prstGeom prst="rect">
            <a:avLst/>
          </a:prstGeom>
          <a:noFill/>
          <a:ln/>
        </p:spPr>
        <p:txBody>
          <a:bodyPr wrap="square" lIns="0" tIns="0" rIns="0" bIns="0" rtlCol="0" anchor="t"/>
          <a:lstStyle/>
          <a:p>
            <a:pPr algn="ctr" indent="0" marL="0">
              <a:buNone/>
            </a:pPr>
            <a:r>
              <a:rPr lang="en-US" sz="1100" b="1" dirty="0">
                <a:solidFill>
                  <a:schemeClr val="accent2"/>
                </a:solidFill>
              </a:rPr>
              <a:t>N:1</a:t>
            </a:r>
            <a:endParaRPr lang="en-US" sz="1100" dirty="0"/>
          </a:p>
        </p:txBody>
      </p:sp>
      <p:sp>
        <p:nvSpPr>
          <p:cNvPr id="26" name="rel"/>
          <p:cNvSpPr/>
          <p:nvPr/>
        </p:nvSpPr>
        <p:spPr>
          <a:xfrm>
            <a:off x="1303020" y="2468880"/>
            <a:ext cx="0" cy="1051560"/>
          </a:xfrm>
          <a:prstGeom prst="line">
            <a:avLst/>
          </a:prstGeom>
          <a:noFill/>
          <a:ln w="19050">
            <a:solidFill>
              <a:schemeClr val="accent5"/>
            </a:solidFill>
            <a:prstDash val="solid"/>
          </a:ln>
        </p:spPr>
      </p:sp>
      <p:sp>
        <p:nvSpPr>
          <p:cNvPr id="27" name="Text 25"/>
          <p:cNvSpPr txBox="1"/>
          <p:nvPr/>
        </p:nvSpPr>
        <p:spPr>
          <a:xfrm>
            <a:off x="1394460" y="2857500"/>
            <a:ext cx="731520" cy="274320"/>
          </a:xfrm>
          <a:prstGeom prst="rect">
            <a:avLst/>
          </a:prstGeom>
          <a:noFill/>
          <a:ln/>
        </p:spPr>
        <p:txBody>
          <a:bodyPr wrap="square" lIns="0" tIns="0" rIns="0" bIns="0" rtlCol="0" anchor="t"/>
          <a:lstStyle/>
          <a:p>
            <a:pPr indent="0" marL="0">
              <a:buNone/>
            </a:pPr>
            <a:r>
              <a:rPr lang="en-US" sz="1100" b="1" dirty="0">
                <a:solidFill>
                  <a:schemeClr val="accent2"/>
                </a:solidFill>
              </a:rPr>
              <a:t>1:N</a:t>
            </a:r>
            <a:endParaRPr lang="en-US" sz="1100" dirty="0"/>
          </a:p>
        </p:txBody>
      </p:sp>
      <p:sp>
        <p:nvSpPr>
          <p:cNvPr id="28" name="rel"/>
          <p:cNvSpPr/>
          <p:nvPr/>
        </p:nvSpPr>
        <p:spPr>
          <a:xfrm>
            <a:off x="3360420" y="2468880"/>
            <a:ext cx="0" cy="1051560"/>
          </a:xfrm>
          <a:prstGeom prst="line">
            <a:avLst/>
          </a:prstGeom>
          <a:noFill/>
          <a:ln w="19050">
            <a:solidFill>
              <a:schemeClr val="accent5"/>
            </a:solidFill>
            <a:prstDash val="solid"/>
          </a:ln>
        </p:spPr>
      </p:sp>
      <p:sp>
        <p:nvSpPr>
          <p:cNvPr id="29" name="Text 27"/>
          <p:cNvSpPr txBox="1"/>
          <p:nvPr/>
        </p:nvSpPr>
        <p:spPr>
          <a:xfrm>
            <a:off x="3451860" y="2857500"/>
            <a:ext cx="731520" cy="274320"/>
          </a:xfrm>
          <a:prstGeom prst="rect">
            <a:avLst/>
          </a:prstGeom>
          <a:noFill/>
          <a:ln/>
        </p:spPr>
        <p:txBody>
          <a:bodyPr wrap="square" lIns="0" tIns="0" rIns="0" bIns="0" rtlCol="0" anchor="t"/>
          <a:lstStyle/>
          <a:p>
            <a:pPr indent="0" marL="0">
              <a:buNone/>
            </a:pPr>
            <a:r>
              <a:rPr lang="en-US" sz="1100" b="1" dirty="0">
                <a:solidFill>
                  <a:schemeClr val="accent2"/>
                </a:solidFill>
              </a:rPr>
              <a:t>1:0..1</a:t>
            </a:r>
            <a:endParaRPr lang="en-US" sz="1100" dirty="0"/>
          </a:p>
        </p:txBody>
      </p:sp>
      <p:sp>
        <p:nvSpPr>
          <p:cNvPr id="30" name="rel"/>
          <p:cNvSpPr/>
          <p:nvPr/>
        </p:nvSpPr>
        <p:spPr>
          <a:xfrm>
            <a:off x="4114800" y="3863340"/>
            <a:ext cx="548640" cy="0"/>
          </a:xfrm>
          <a:prstGeom prst="line">
            <a:avLst/>
          </a:prstGeom>
          <a:noFill/>
          <a:ln w="19050">
            <a:solidFill>
              <a:schemeClr val="accent5"/>
            </a:solidFill>
            <a:prstDash val="solid"/>
          </a:ln>
        </p:spPr>
      </p:sp>
      <p:sp>
        <p:nvSpPr>
          <p:cNvPr id="31" name="Text 29"/>
          <p:cNvSpPr txBox="1"/>
          <p:nvPr/>
        </p:nvSpPr>
        <p:spPr>
          <a:xfrm>
            <a:off x="3931920" y="3497580"/>
            <a:ext cx="914400" cy="274320"/>
          </a:xfrm>
          <a:prstGeom prst="rect">
            <a:avLst/>
          </a:prstGeom>
          <a:noFill/>
          <a:ln/>
        </p:spPr>
        <p:txBody>
          <a:bodyPr wrap="square" lIns="0" tIns="0" rIns="0" bIns="0" rtlCol="0" anchor="t"/>
          <a:lstStyle/>
          <a:p>
            <a:pPr algn="ctr" indent="0" marL="0">
              <a:buNone/>
            </a:pPr>
            <a:r>
              <a:rPr lang="en-US" sz="1100" b="1" dirty="0">
                <a:solidFill>
                  <a:schemeClr val="accent2"/>
                </a:solidFill>
              </a:rPr>
              <a:t>1:0..1</a:t>
            </a:r>
            <a:endParaRPr lang="en-US" sz="1100" dirty="0"/>
          </a:p>
        </p:txBody>
      </p:sp>
      <p:sp>
        <p:nvSpPr>
          <p:cNvPr id="32" name="rel"/>
          <p:cNvSpPr/>
          <p:nvPr/>
        </p:nvSpPr>
        <p:spPr>
          <a:xfrm>
            <a:off x="3360420" y="4206240"/>
            <a:ext cx="0" cy="1051560"/>
          </a:xfrm>
          <a:prstGeom prst="line">
            <a:avLst/>
          </a:prstGeom>
          <a:noFill/>
          <a:ln w="19050">
            <a:solidFill>
              <a:schemeClr val="accent5"/>
            </a:solidFill>
            <a:prstDash val="solid"/>
          </a:ln>
        </p:spPr>
      </p:sp>
      <p:sp>
        <p:nvSpPr>
          <p:cNvPr id="33" name="Text 31"/>
          <p:cNvSpPr txBox="1"/>
          <p:nvPr/>
        </p:nvSpPr>
        <p:spPr>
          <a:xfrm>
            <a:off x="3451860" y="4594860"/>
            <a:ext cx="731520" cy="274320"/>
          </a:xfrm>
          <a:prstGeom prst="rect">
            <a:avLst/>
          </a:prstGeom>
          <a:noFill/>
          <a:ln/>
        </p:spPr>
        <p:txBody>
          <a:bodyPr wrap="square" lIns="0" tIns="0" rIns="0" bIns="0" rtlCol="0" anchor="t"/>
          <a:lstStyle/>
          <a:p>
            <a:pPr indent="0" marL="0">
              <a:buNone/>
            </a:pPr>
            <a:r>
              <a:rPr lang="en-US" sz="1100" b="1" dirty="0">
                <a:solidFill>
                  <a:schemeClr val="accent2"/>
                </a:solidFill>
              </a:rPr>
              <a:t>1:0..2</a:t>
            </a:r>
            <a:endParaRPr lang="en-US" sz="1100" dirty="0"/>
          </a:p>
        </p:txBody>
      </p:sp>
      <p:sp>
        <p:nvSpPr>
          <p:cNvPr id="34" name="rel"/>
          <p:cNvSpPr/>
          <p:nvPr/>
        </p:nvSpPr>
        <p:spPr>
          <a:xfrm>
            <a:off x="1303020" y="4206240"/>
            <a:ext cx="0" cy="1051560"/>
          </a:xfrm>
          <a:prstGeom prst="line">
            <a:avLst/>
          </a:prstGeom>
          <a:noFill/>
          <a:ln w="19050">
            <a:solidFill>
              <a:schemeClr val="accent5"/>
            </a:solidFill>
            <a:prstDash val="solid"/>
          </a:ln>
        </p:spPr>
      </p:sp>
      <p:sp>
        <p:nvSpPr>
          <p:cNvPr id="35" name="Text 33"/>
          <p:cNvSpPr txBox="1"/>
          <p:nvPr/>
        </p:nvSpPr>
        <p:spPr>
          <a:xfrm>
            <a:off x="1394460" y="4594860"/>
            <a:ext cx="731520" cy="274320"/>
          </a:xfrm>
          <a:prstGeom prst="rect">
            <a:avLst/>
          </a:prstGeom>
          <a:noFill/>
          <a:ln/>
        </p:spPr>
        <p:txBody>
          <a:bodyPr wrap="square" lIns="0" tIns="0" rIns="0" bIns="0" rtlCol="0" anchor="t"/>
          <a:lstStyle/>
          <a:p>
            <a:pPr indent="0" marL="0">
              <a:buNone/>
            </a:pPr>
            <a:r>
              <a:rPr lang="en-US" sz="1100" b="1" dirty="0">
                <a:solidFill>
                  <a:schemeClr val="accent2"/>
                </a:solidFill>
              </a:rPr>
              <a:t>1:1</a:t>
            </a:r>
            <a:endParaRPr lang="en-US" sz="1100" dirty="0"/>
          </a:p>
        </p:txBody>
      </p:sp>
      <p:sp>
        <p:nvSpPr>
          <p:cNvPr id="36" name="rel"/>
          <p:cNvSpPr/>
          <p:nvPr/>
        </p:nvSpPr>
        <p:spPr>
          <a:xfrm>
            <a:off x="5417820" y="4206240"/>
            <a:ext cx="0" cy="1051560"/>
          </a:xfrm>
          <a:prstGeom prst="line">
            <a:avLst/>
          </a:prstGeom>
          <a:noFill/>
          <a:ln w="19050">
            <a:solidFill>
              <a:schemeClr val="accent5"/>
            </a:solidFill>
            <a:prstDash val="solid"/>
          </a:ln>
        </p:spPr>
      </p:sp>
      <p:sp>
        <p:nvSpPr>
          <p:cNvPr id="37" name="Text 35"/>
          <p:cNvSpPr txBox="1"/>
          <p:nvPr/>
        </p:nvSpPr>
        <p:spPr>
          <a:xfrm>
            <a:off x="5509260" y="4594860"/>
            <a:ext cx="731520" cy="274320"/>
          </a:xfrm>
          <a:prstGeom prst="rect">
            <a:avLst/>
          </a:prstGeom>
          <a:noFill/>
          <a:ln/>
        </p:spPr>
        <p:txBody>
          <a:bodyPr wrap="square" lIns="0" tIns="0" rIns="0" bIns="0" rtlCol="0" anchor="t"/>
          <a:lstStyle/>
          <a:p>
            <a:pPr indent="0" marL="0">
              <a:buNone/>
            </a:pPr>
            <a:r>
              <a:rPr lang="en-US" sz="1100" b="1" dirty="0">
                <a:solidFill>
                  <a:schemeClr val="accent2"/>
                </a:solidFill>
              </a:rPr>
              <a:t>N:1</a:t>
            </a:r>
            <a:endParaRPr lang="en-US" sz="1100" dirty="0"/>
          </a:p>
        </p:txBody>
      </p:sp>
      <p:sp>
        <p:nvSpPr>
          <p:cNvPr id="38" name="Text 36"/>
          <p:cNvSpPr txBox="1"/>
          <p:nvPr/>
        </p:nvSpPr>
        <p:spPr>
          <a:xfrm>
            <a:off x="548640" y="6172200"/>
            <a:ext cx="5486400" cy="274320"/>
          </a:xfrm>
          <a:prstGeom prst="rect">
            <a:avLst/>
          </a:prstGeom>
          <a:noFill/>
          <a:ln/>
        </p:spPr>
        <p:txBody>
          <a:bodyPr wrap="square" lIns="0" tIns="0" rIns="0" bIns="0" rtlCol="0" anchor="t"/>
          <a:lstStyle/>
          <a:p>
            <a:pPr indent="0" marL="0">
              <a:buNone/>
            </a:pPr>
            <a:r>
              <a:rPr lang="en-US" sz="1100" dirty="0">
                <a:solidFill>
                  <a:schemeClr val="accent5"/>
                </a:solidFill>
              </a:rPr>
              <a:t>17개 중 핵심 9개 테이블의 관계</a:t>
            </a:r>
            <a:endParaRPr lang="en-US" sz="1100" dirty="0"/>
          </a:p>
        </p:txBody>
      </p:sp>
      <p:sp>
        <p:nvSpPr>
          <p:cNvPr id="39" name="card"/>
          <p:cNvSpPr/>
          <p:nvPr/>
        </p:nvSpPr>
        <p:spPr>
          <a:xfrm>
            <a:off x="6675120" y="1783080"/>
            <a:ext cx="4937760" cy="1325880"/>
          </a:xfrm>
          <a:prstGeom prst="roundRect">
            <a:avLst>
              <a:gd name="adj" fmla="val 8276"/>
            </a:avLst>
          </a:prstGeom>
          <a:solidFill>
            <a:schemeClr val="bg2"/>
          </a:solidFill>
          <a:ln w="12700">
            <a:solidFill>
              <a:schemeClr val="bg2"/>
            </a:solidFill>
            <a:prstDash val="solid"/>
          </a:ln>
        </p:spPr>
      </p:sp>
      <p:sp>
        <p:nvSpPr>
          <p:cNvPr id="40" name="Text 38"/>
          <p:cNvSpPr txBox="1"/>
          <p:nvPr/>
        </p:nvSpPr>
        <p:spPr>
          <a:xfrm>
            <a:off x="6858000" y="1965960"/>
            <a:ext cx="457200" cy="457200"/>
          </a:xfrm>
          <a:prstGeom prst="rect">
            <a:avLst/>
          </a:prstGeom>
          <a:noFill/>
          <a:ln/>
        </p:spPr>
        <p:txBody>
          <a:bodyPr wrap="square" lIns="0" tIns="0" rIns="0" bIns="0" rtlCol="0" anchor="t"/>
          <a:lstStyle/>
          <a:p>
            <a:pPr indent="0" marL="0">
              <a:buNone/>
            </a:pPr>
            <a:r>
              <a:rPr lang="en-US" sz="2600" b="1" dirty="0">
                <a:solidFill>
                  <a:schemeClr val="accent2"/>
                </a:solidFill>
              </a:rPr>
              <a:t>1</a:t>
            </a:r>
            <a:endParaRPr lang="en-US" sz="2600" dirty="0"/>
          </a:p>
        </p:txBody>
      </p:sp>
      <p:sp>
        <p:nvSpPr>
          <p:cNvPr id="41" name="Text 39"/>
          <p:cNvSpPr txBox="1"/>
          <p:nvPr/>
        </p:nvSpPr>
        <p:spPr>
          <a:xfrm>
            <a:off x="7360920" y="1965960"/>
            <a:ext cx="4069080" cy="365760"/>
          </a:xfrm>
          <a:prstGeom prst="rect">
            <a:avLst/>
          </a:prstGeom>
          <a:noFill/>
          <a:ln/>
        </p:spPr>
        <p:txBody>
          <a:bodyPr wrap="square" lIns="0" tIns="0" rIns="0" bIns="0" rtlCol="0" anchor="t"/>
          <a:lstStyle/>
          <a:p>
            <a:pPr indent="0" marL="0">
              <a:buNone/>
            </a:pPr>
            <a:r>
              <a:rPr lang="en-US" sz="1600" b="1" dirty="0">
                <a:solidFill>
                  <a:schemeClr val="tx1"/>
                </a:solidFill>
              </a:rPr>
              <a:t>희망가와 거래가 분리</a:t>
            </a:r>
            <a:endParaRPr lang="en-US" sz="1600" dirty="0"/>
          </a:p>
        </p:txBody>
      </p:sp>
      <p:sp>
        <p:nvSpPr>
          <p:cNvPr id="42" name="Text 40"/>
          <p:cNvSpPr txBox="1"/>
          <p:nvPr/>
        </p:nvSpPr>
        <p:spPr>
          <a:xfrm>
            <a:off x="7360920" y="2350008"/>
            <a:ext cx="4069080" cy="731520"/>
          </a:xfrm>
          <a:prstGeom prst="rect">
            <a:avLst/>
          </a:prstGeom>
          <a:noFill/>
          <a:ln/>
        </p:spPr>
        <p:txBody>
          <a:bodyPr wrap="square" lIns="0" tIns="0" rIns="0" bIns="0" rtlCol="0" anchor="t"/>
          <a:lstStyle/>
          <a:p>
            <a:pPr indent="0" marL="0">
              <a:buNone/>
            </a:pPr>
            <a:r>
              <a:rPr lang="en-US" sz="1300" dirty="0">
                <a:solidFill>
                  <a:schemeClr val="tx1"/>
                </a:solidFill>
              </a:rPr>
              <a:t>item.price(희망가)와 trade.final_price(실제 거래가)를 따로 저장해 흥정 결과와 실제 시세 통계를 정확히 냅니다.</a:t>
            </a:r>
            <a:endParaRPr lang="en-US" sz="1300" dirty="0"/>
          </a:p>
        </p:txBody>
      </p:sp>
      <p:sp>
        <p:nvSpPr>
          <p:cNvPr id="43" name="card"/>
          <p:cNvSpPr/>
          <p:nvPr/>
        </p:nvSpPr>
        <p:spPr>
          <a:xfrm>
            <a:off x="6675120" y="3264408"/>
            <a:ext cx="4937760" cy="1325880"/>
          </a:xfrm>
          <a:prstGeom prst="roundRect">
            <a:avLst>
              <a:gd name="adj" fmla="val 8276"/>
            </a:avLst>
          </a:prstGeom>
          <a:solidFill>
            <a:schemeClr val="bg2"/>
          </a:solidFill>
          <a:ln w="12700">
            <a:solidFill>
              <a:schemeClr val="bg2"/>
            </a:solidFill>
            <a:prstDash val="solid"/>
          </a:ln>
        </p:spPr>
      </p:sp>
      <p:sp>
        <p:nvSpPr>
          <p:cNvPr id="44" name="Text 42"/>
          <p:cNvSpPr txBox="1"/>
          <p:nvPr/>
        </p:nvSpPr>
        <p:spPr>
          <a:xfrm>
            <a:off x="6858000" y="3447288"/>
            <a:ext cx="457200" cy="457200"/>
          </a:xfrm>
          <a:prstGeom prst="rect">
            <a:avLst/>
          </a:prstGeom>
          <a:noFill/>
          <a:ln/>
        </p:spPr>
        <p:txBody>
          <a:bodyPr wrap="square" lIns="0" tIns="0" rIns="0" bIns="0" rtlCol="0" anchor="t"/>
          <a:lstStyle/>
          <a:p>
            <a:pPr indent="0" marL="0">
              <a:buNone/>
            </a:pPr>
            <a:r>
              <a:rPr lang="en-US" sz="2600" b="1" dirty="0">
                <a:solidFill>
                  <a:schemeClr val="accent2"/>
                </a:solidFill>
              </a:rPr>
              <a:t>2</a:t>
            </a:r>
            <a:endParaRPr lang="en-US" sz="2600" dirty="0"/>
          </a:p>
        </p:txBody>
      </p:sp>
      <p:sp>
        <p:nvSpPr>
          <p:cNvPr id="45" name="Text 43"/>
          <p:cNvSpPr txBox="1"/>
          <p:nvPr/>
        </p:nvSpPr>
        <p:spPr>
          <a:xfrm>
            <a:off x="7360920" y="3447288"/>
            <a:ext cx="4069080" cy="365760"/>
          </a:xfrm>
          <a:prstGeom prst="rect">
            <a:avLst/>
          </a:prstGeom>
          <a:noFill/>
          <a:ln/>
        </p:spPr>
        <p:txBody>
          <a:bodyPr wrap="square" lIns="0" tIns="0" rIns="0" bIns="0" rtlCol="0" anchor="t"/>
          <a:lstStyle/>
          <a:p>
            <a:pPr indent="0" marL="0">
              <a:buNone/>
            </a:pPr>
            <a:r>
              <a:rPr lang="en-US" sz="1600" b="1" dirty="0">
                <a:solidFill>
                  <a:schemeClr val="tx1"/>
                </a:solidFill>
              </a:rPr>
              <a:t>기부액은 거래 시점 값으로 저장</a:t>
            </a:r>
            <a:endParaRPr lang="en-US" sz="1600" dirty="0"/>
          </a:p>
        </p:txBody>
      </p:sp>
      <p:sp>
        <p:nvSpPr>
          <p:cNvPr id="46" name="Text 44"/>
          <p:cNvSpPr txBox="1"/>
          <p:nvPr/>
        </p:nvSpPr>
        <p:spPr>
          <a:xfrm>
            <a:off x="7360920" y="3831336"/>
            <a:ext cx="4069080" cy="731520"/>
          </a:xfrm>
          <a:prstGeom prst="rect">
            <a:avLst/>
          </a:prstGeom>
          <a:noFill/>
          <a:ln/>
        </p:spPr>
        <p:txBody>
          <a:bodyPr wrap="square" lIns="0" tIns="0" rIns="0" bIns="0" rtlCol="0" anchor="t"/>
          <a:lstStyle/>
          <a:p>
            <a:pPr indent="0" marL="0">
              <a:buNone/>
            </a:pPr>
            <a:r>
              <a:rPr lang="en-US" sz="1300" dirty="0">
                <a:solidFill>
                  <a:schemeClr val="tx1"/>
                </a:solidFill>
              </a:rPr>
              <a:t>donation.amount = 거래가 × 기부 비율을 거래 순간에 기록해, 나중에 기부 비율을 바꿔도 과거 기록이 변하지 않습니다.</a:t>
            </a:r>
            <a:endParaRPr lang="en-US" sz="1300" dirty="0"/>
          </a:p>
        </p:txBody>
      </p:sp>
      <p:sp>
        <p:nvSpPr>
          <p:cNvPr id="47" name="card"/>
          <p:cNvSpPr/>
          <p:nvPr/>
        </p:nvSpPr>
        <p:spPr>
          <a:xfrm>
            <a:off x="6675120" y="4745736"/>
            <a:ext cx="4937760" cy="1325880"/>
          </a:xfrm>
          <a:prstGeom prst="roundRect">
            <a:avLst>
              <a:gd name="adj" fmla="val 8276"/>
            </a:avLst>
          </a:prstGeom>
          <a:solidFill>
            <a:schemeClr val="bg2"/>
          </a:solidFill>
          <a:ln w="12700">
            <a:solidFill>
              <a:schemeClr val="bg2"/>
            </a:solidFill>
            <a:prstDash val="solid"/>
          </a:ln>
        </p:spPr>
      </p:sp>
      <p:sp>
        <p:nvSpPr>
          <p:cNvPr id="48" name="Text 46"/>
          <p:cNvSpPr txBox="1"/>
          <p:nvPr/>
        </p:nvSpPr>
        <p:spPr>
          <a:xfrm>
            <a:off x="6858000" y="4928616"/>
            <a:ext cx="457200" cy="457200"/>
          </a:xfrm>
          <a:prstGeom prst="rect">
            <a:avLst/>
          </a:prstGeom>
          <a:noFill/>
          <a:ln/>
        </p:spPr>
        <p:txBody>
          <a:bodyPr wrap="square" lIns="0" tIns="0" rIns="0" bIns="0" rtlCol="0" anchor="t"/>
          <a:lstStyle/>
          <a:p>
            <a:pPr indent="0" marL="0">
              <a:buNone/>
            </a:pPr>
            <a:r>
              <a:rPr lang="en-US" sz="2600" b="1" dirty="0">
                <a:solidFill>
                  <a:schemeClr val="accent2"/>
                </a:solidFill>
              </a:rPr>
              <a:t>3</a:t>
            </a:r>
            <a:endParaRPr lang="en-US" sz="2600" dirty="0"/>
          </a:p>
        </p:txBody>
      </p:sp>
      <p:sp>
        <p:nvSpPr>
          <p:cNvPr id="49" name="Text 47"/>
          <p:cNvSpPr txBox="1"/>
          <p:nvPr/>
        </p:nvSpPr>
        <p:spPr>
          <a:xfrm>
            <a:off x="7360920" y="4928616"/>
            <a:ext cx="4069080" cy="365760"/>
          </a:xfrm>
          <a:prstGeom prst="rect">
            <a:avLst/>
          </a:prstGeom>
          <a:noFill/>
          <a:ln/>
        </p:spPr>
        <p:txBody>
          <a:bodyPr wrap="square" lIns="0" tIns="0" rIns="0" bIns="0" rtlCol="0" anchor="t"/>
          <a:lstStyle/>
          <a:p>
            <a:pPr indent="0" marL="0">
              <a:buNone/>
            </a:pPr>
            <a:r>
              <a:rPr lang="en-US" sz="1600" b="1" dirty="0">
                <a:solidFill>
                  <a:schemeClr val="tx1"/>
                </a:solidFill>
              </a:rPr>
              <a:t>포인트는 원장(ledger) 방식</a:t>
            </a:r>
            <a:endParaRPr lang="en-US" sz="1600" dirty="0"/>
          </a:p>
        </p:txBody>
      </p:sp>
      <p:sp>
        <p:nvSpPr>
          <p:cNvPr id="50" name="Text 48"/>
          <p:cNvSpPr txBox="1"/>
          <p:nvPr/>
        </p:nvSpPr>
        <p:spPr>
          <a:xfrm>
            <a:off x="7360920" y="5312664"/>
            <a:ext cx="4069080" cy="731520"/>
          </a:xfrm>
          <a:prstGeom prst="rect">
            <a:avLst/>
          </a:prstGeom>
          <a:noFill/>
          <a:ln/>
        </p:spPr>
        <p:txBody>
          <a:bodyPr wrap="square" lIns="0" tIns="0" rIns="0" bIns="0" rtlCol="0" anchor="t"/>
          <a:lstStyle/>
          <a:p>
            <a:pPr indent="0" marL="0">
              <a:buNone/>
            </a:pPr>
            <a:r>
              <a:rPr lang="en-US" sz="1300" dirty="0">
                <a:solidFill>
                  <a:schemeClr val="tx1"/>
                </a:solidFill>
              </a:rPr>
              <a:t>잔액 컬럼 대신 적립·사용을 모두 point_history에 남기고 잔액은 SUM으로 계산해 언제 왜 바뀌었는지 추적합니다.</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B8C"/>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65760"/>
          </a:xfrm>
          <a:prstGeom prst="rect">
            <a:avLst/>
          </a:prstGeom>
          <a:noFill/>
          <a:ln/>
        </p:spPr>
        <p:txBody>
          <a:bodyPr wrap="square" lIns="0" tIns="0" rIns="0" bIns="0" rtlCol="0"/>
          <a:lstStyle/>
          <a:p>
            <a:pPr indent="0" marL="0">
              <a:buNone/>
            </a:pPr>
            <a:r>
              <a:rPr lang="en-US" sz="1400" b="1" dirty="0">
                <a:solidFill>
                  <a:schemeClr val="accent1"/>
                </a:solidFill>
              </a:rPr>
              <a:t>09  데이터베이스 활용 계획</a:t>
            </a:r>
            <a:endParaRPr lang="en-US" sz="1400" dirty="0"/>
          </a:p>
        </p:txBody>
      </p:sp>
      <p:sp>
        <p:nvSpPr>
          <p:cNvPr id="3" name="Text 0"/>
          <p:cNvSpPr/>
          <p:nvPr>
            <p:ph idx="101"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통계와 검색 기능을 SQL로 이렇게 구현합니다</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035040" cy="914400"/>
        </p:xfrm>
        <a:graphic>
          <a:graphicData uri="http://schemas.openxmlformats.org/drawingml/2006/table">
            <a:tbl>
              <a:tblPr/>
              <a:tblGrid>
                <a:gridCol w="2468880"/>
                <a:gridCol w="3566160"/>
              </a:tblGrid>
              <a:tr h="566928">
                <a:tc>
                  <a:txBody>
                    <a:bodyPr/>
                    <a:lstStyle/>
                    <a:p>
                      <a:pPr indent="0" marL="0">
                        <a:buNone/>
                      </a:pPr>
                      <a:r>
                        <a:rPr lang="en-US" sz="1300" b="1" dirty="0">
                          <a:solidFill>
                            <a:schemeClr val="bg1"/>
                          </a:solidFill>
                        </a:rPr>
                        <a:t>기능</a:t>
                      </a:r>
                      <a:endParaRPr lang="en-US" sz="1300" dirty="0"/>
                    </a:p>
                  </a:txBody>
                  <a:tcPr marL="109728" marR="109728" marT="0" marB="0" anchor="ctr">
                    <a:lnL w="6350" cap="flat" cmpd="sng" algn="ctr">
                      <a:solidFill>
                        <a:srgbClr val="8DBFA5"/>
                      </a:solidFill>
                      <a:prstDash val="solid"/>
                      <a:round/>
                      <a:headEnd type="none" w="med" len="med"/>
                      <a:tailEnd type="none" w="med" len="med"/>
                    </a:lnL>
                    <a:lnR w="6350" cap="flat" cmpd="sng" algn="ctr">
                      <a:solidFill>
                        <a:srgbClr val="8DBFA5"/>
                      </a:solidFill>
                      <a:prstDash val="solid"/>
                      <a:round/>
                      <a:headEnd type="none" w="med" len="med"/>
                      <a:tailEnd type="none" w="med" len="med"/>
                    </a:lnR>
                    <a:lnT w="6350" cap="flat" cmpd="sng" algn="ctr">
                      <a:solidFill>
                        <a:srgbClr val="8DBFA5"/>
                      </a:solidFill>
                      <a:prstDash val="solid"/>
                      <a:round/>
                      <a:headEnd type="none" w="med" len="med"/>
                      <a:tailEnd type="none" w="med" len="med"/>
                    </a:lnT>
                    <a:lnB w="6350" cap="flat" cmpd="sng" algn="ctr">
                      <a:solidFill>
                        <a:srgbClr val="8DBFA5"/>
                      </a:solidFill>
                      <a:prstDash val="solid"/>
                      <a:round/>
                      <a:headEnd type="none" w="med" len="med"/>
                      <a:tailEnd type="none" w="med" len="med"/>
                    </a:lnB>
                    <a:solidFill>
                      <a:srgbClr val="1F4E3D"/>
                    </a:solidFill>
                  </a:tcPr>
                </a:tc>
                <a:tc>
                  <a:txBody>
                    <a:bodyPr/>
                    <a:lstStyle/>
                    <a:p>
                      <a:pPr indent="0" marL="0">
                        <a:buNone/>
                      </a:pPr>
                      <a:r>
                        <a:rPr lang="en-US" sz="1300" b="1" dirty="0">
                          <a:solidFill>
                            <a:schemeClr val="bg1"/>
                          </a:solidFill>
                        </a:rPr>
                        <a:t>SQL 활용</a:t>
                      </a:r>
                      <a:endParaRPr lang="en-US" sz="1300" dirty="0"/>
                    </a:p>
                  </a:txBody>
                  <a:tcPr marL="109728" marR="109728" marT="0" marB="0" anchor="ctr">
                    <a:lnL w="6350" cap="flat" cmpd="sng" algn="ctr">
                      <a:solidFill>
                        <a:srgbClr val="8DBFA5"/>
                      </a:solidFill>
                      <a:prstDash val="solid"/>
                      <a:round/>
                      <a:headEnd type="none" w="med" len="med"/>
                      <a:tailEnd type="none" w="med" len="med"/>
                    </a:lnL>
                    <a:lnR w="6350" cap="flat" cmpd="sng" algn="ctr">
                      <a:solidFill>
                        <a:srgbClr val="8DBFA5"/>
                      </a:solidFill>
                      <a:prstDash val="solid"/>
                      <a:round/>
                      <a:headEnd type="none" w="med" len="med"/>
                      <a:tailEnd type="none" w="med" len="med"/>
                    </a:lnR>
                    <a:lnT w="6350" cap="flat" cmpd="sng" algn="ctr">
                      <a:solidFill>
                        <a:srgbClr val="8DBFA5"/>
                      </a:solidFill>
                      <a:prstDash val="solid"/>
                      <a:round/>
                      <a:headEnd type="none" w="med" len="med"/>
                      <a:tailEnd type="none" w="med" len="med"/>
                    </a:lnT>
                    <a:lnB w="6350" cap="flat" cmpd="sng" algn="ctr">
                      <a:solidFill>
                        <a:srgbClr val="8DBFA5"/>
                      </a:solidFill>
                      <a:prstDash val="solid"/>
                      <a:round/>
                      <a:headEnd type="none" w="med" len="med"/>
                      <a:tailEnd type="none" w="med" len="med"/>
                    </a:lnB>
                    <a:solidFill>
                      <a:srgbClr val="1F4E3D"/>
                    </a:solidFill>
                  </a:tcPr>
                </a:tc>
              </a:tr>
              <a:tr h="566928">
                <a:tc>
                  <a:txBody>
                    <a:bodyPr/>
                    <a:lstStyle/>
                    <a:p>
                      <a:pPr indent="0" marL="0">
                        <a:buNone/>
                      </a:pPr>
                      <a:r>
                        <a:rPr lang="en-US" sz="1300" dirty="0">
                          <a:solidFill>
                            <a:schemeClr val="tx1"/>
                          </a:solidFill>
                        </a:rPr>
                        <a:t>기부처별 누적 기부액</a:t>
                      </a:r>
                      <a:endParaRPr lang="en-US" sz="1300" dirty="0"/>
                    </a:p>
                  </a:txBody>
                  <a:tcPr marL="109728" marR="109728" marT="0" marB="0" anchor="ctr">
                    <a:lnL w="6350" cap="flat" cmpd="sng" algn="ctr">
                      <a:solidFill>
                        <a:srgbClr val="8DBFA5"/>
                      </a:solidFill>
                      <a:prstDash val="solid"/>
                      <a:round/>
                      <a:headEnd type="none" w="med" len="med"/>
                      <a:tailEnd type="none" w="med" len="med"/>
                    </a:lnL>
                    <a:lnR w="6350" cap="flat" cmpd="sng" algn="ctr">
                      <a:solidFill>
                        <a:srgbClr val="8DBFA5"/>
                      </a:solidFill>
                      <a:prstDash val="solid"/>
                      <a:round/>
                      <a:headEnd type="none" w="med" len="med"/>
                      <a:tailEnd type="none" w="med" len="med"/>
                    </a:lnR>
                    <a:lnT w="6350" cap="flat" cmpd="sng" algn="ctr">
                      <a:solidFill>
                        <a:srgbClr val="8DBFA5"/>
                      </a:solidFill>
                      <a:prstDash val="solid"/>
                      <a:round/>
                      <a:headEnd type="none" w="med" len="med"/>
                      <a:tailEnd type="none" w="med" len="med"/>
                    </a:lnT>
                    <a:lnB w="6350" cap="flat" cmpd="sng" algn="ctr">
                      <a:solidFill>
                        <a:srgbClr val="8DBFA5"/>
                      </a:solidFill>
                      <a:prstDash val="solid"/>
                      <a:round/>
                      <a:headEnd type="none" w="med" len="med"/>
                      <a:tailEnd type="none" w="med" len="med"/>
                    </a:lnB>
                    <a:solidFill>
                      <a:srgbClr val="EEF5F0"/>
                    </a:solidFill>
                  </a:tcPr>
                </a:tc>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LEFT JOIN + GROUP BY + SUM</a:t>
                      </a:r>
                      <a:endParaRPr lang="en-US" sz="1300" dirty="0">
                        <a:latin typeface="Courier New" charset="0"/>
                        <a:ea typeface="Courier New" charset="0"/>
                        <a:cs typeface="Courier New" charset="0"/>
                      </a:endParaRPr>
                    </a:p>
                  </a:txBody>
                  <a:tcPr marL="109728" marR="109728" marT="0" marB="0" anchor="ctr">
                    <a:lnL w="6350" cap="flat" cmpd="sng" algn="ctr">
                      <a:solidFill>
                        <a:srgbClr val="8DBFA5"/>
                      </a:solidFill>
                      <a:prstDash val="solid"/>
                      <a:round/>
                      <a:headEnd type="none" w="med" len="med"/>
                      <a:tailEnd type="none" w="med" len="med"/>
                    </a:lnL>
                    <a:lnR w="6350" cap="flat" cmpd="sng" algn="ctr">
                      <a:solidFill>
                        <a:srgbClr val="8DBFA5"/>
                      </a:solidFill>
                      <a:prstDash val="solid"/>
                      <a:round/>
                      <a:headEnd type="none" w="med" len="med"/>
                      <a:tailEnd type="none" w="med" len="med"/>
                    </a:lnR>
                    <a:lnT w="6350" cap="flat" cmpd="sng" algn="ctr">
                      <a:solidFill>
                        <a:srgbClr val="8DBFA5"/>
                      </a:solidFill>
                      <a:prstDash val="solid"/>
                      <a:round/>
                      <a:headEnd type="none" w="med" len="med"/>
                      <a:tailEnd type="none" w="med" len="med"/>
                    </a:lnT>
                    <a:lnB w="6350" cap="flat" cmpd="sng" algn="ctr">
                      <a:solidFill>
                        <a:srgbClr val="8DBFA5"/>
                      </a:solidFill>
                      <a:prstDash val="solid"/>
                      <a:round/>
                      <a:headEnd type="none" w="med" len="med"/>
                      <a:tailEnd type="none" w="med" len="med"/>
                    </a:lnB>
                    <a:solidFill>
                      <a:srgbClr val="EEF5F0"/>
                    </a:solidFill>
                  </a:tcPr>
                </a:tc>
              </a:tr>
              <a:tr h="566928">
                <a:tc>
                  <a:txBody>
                    <a:bodyPr/>
                    <a:lstStyle/>
                    <a:p>
                      <a:pPr indent="0" marL="0">
                        <a:buNone/>
                      </a:pPr>
                      <a:r>
                        <a:rPr lang="en-US" sz="1300" dirty="0">
                          <a:solidFill>
                            <a:schemeClr val="tx1"/>
                          </a:solidFill>
                        </a:rPr>
                        <a:t>카테고리별 평균 거래가</a:t>
                      </a:r>
                      <a:endParaRPr lang="en-US" sz="1300" dirty="0"/>
                    </a:p>
                  </a:txBody>
                  <a:tcPr marL="109728" marR="109728" marT="0" marB="0" anchor="ctr">
                    <a:lnL w="6350" cap="flat" cmpd="sng" algn="ctr">
                      <a:solidFill>
                        <a:srgbClr val="8DBFA5"/>
                      </a:solidFill>
                      <a:prstDash val="solid"/>
                      <a:round/>
                      <a:headEnd type="none" w="med" len="med"/>
                      <a:tailEnd type="none" w="med" len="med"/>
                    </a:lnL>
                    <a:lnR w="6350" cap="flat" cmpd="sng" algn="ctr">
                      <a:solidFill>
                        <a:srgbClr val="8DBFA5"/>
                      </a:solidFill>
                      <a:prstDash val="solid"/>
                      <a:round/>
                      <a:headEnd type="none" w="med" len="med"/>
                      <a:tailEnd type="none" w="med" len="med"/>
                    </a:lnR>
                    <a:lnT w="6350" cap="flat" cmpd="sng" algn="ctr">
                      <a:solidFill>
                        <a:srgbClr val="8DBFA5"/>
                      </a:solidFill>
                      <a:prstDash val="solid"/>
                      <a:round/>
                      <a:headEnd type="none" w="med" len="med"/>
                      <a:tailEnd type="none" w="med" len="med"/>
                    </a:lnT>
                    <a:lnB w="6350" cap="flat" cmpd="sng" algn="ctr">
                      <a:solidFill>
                        <a:srgbClr val="8DBFA5"/>
                      </a:solidFill>
                      <a:prstDash val="solid"/>
                      <a:round/>
                      <a:headEnd type="none" w="med" len="med"/>
                      <a:tailEnd type="none" w="med" len="med"/>
                    </a:lnB>
                    <a:solidFill>
                      <a:srgbClr val="FFFFFF"/>
                    </a:solidFill>
                  </a:tcPr>
                </a:tc>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다중 JOIN + AVG</a:t>
                      </a:r>
                      <a:endParaRPr lang="en-US" sz="1300" dirty="0">
                        <a:latin typeface="Courier New" charset="0"/>
                        <a:ea typeface="Courier New" charset="0"/>
                        <a:cs typeface="Courier New" charset="0"/>
                      </a:endParaRPr>
                    </a:p>
                  </a:txBody>
                  <a:tcPr marL="109728" marR="109728" marT="0" marB="0" anchor="ctr">
                    <a:lnL w="6350" cap="flat" cmpd="sng" algn="ctr">
                      <a:solidFill>
                        <a:srgbClr val="8DBFA5"/>
                      </a:solidFill>
                      <a:prstDash val="solid"/>
                      <a:round/>
                      <a:headEnd type="none" w="med" len="med"/>
                      <a:tailEnd type="none" w="med" len="med"/>
                    </a:lnL>
                    <a:lnR w="6350" cap="flat" cmpd="sng" algn="ctr">
                      <a:solidFill>
                        <a:srgbClr val="8DBFA5"/>
                      </a:solidFill>
                      <a:prstDash val="solid"/>
                      <a:round/>
                      <a:headEnd type="none" w="med" len="med"/>
                      <a:tailEnd type="none" w="med" len="med"/>
                    </a:lnR>
                    <a:lnT w="6350" cap="flat" cmpd="sng" algn="ctr">
                      <a:solidFill>
                        <a:srgbClr val="8DBFA5"/>
                      </a:solidFill>
                      <a:prstDash val="solid"/>
                      <a:round/>
                      <a:headEnd type="none" w="med" len="med"/>
                      <a:tailEnd type="none" w="med" len="med"/>
                    </a:lnT>
                    <a:lnB w="6350" cap="flat" cmpd="sng" algn="ctr">
                      <a:solidFill>
                        <a:srgbClr val="8DBFA5"/>
                      </a:solidFill>
                      <a:prstDash val="solid"/>
                      <a:round/>
                      <a:headEnd type="none" w="med" len="med"/>
                      <a:tailEnd type="none" w="med" len="med"/>
                    </a:lnB>
                    <a:solidFill>
                      <a:srgbClr val="FFFFFF"/>
                    </a:solidFill>
                  </a:tcPr>
                </a:tc>
              </a:tr>
              <a:tr h="566928">
                <a:tc>
                  <a:txBody>
                    <a:bodyPr/>
                    <a:lstStyle/>
                    <a:p>
                      <a:pPr indent="0" marL="0">
                        <a:buNone/>
                      </a:pPr>
                      <a:r>
                        <a:rPr lang="en-US" sz="1300" dirty="0">
                          <a:solidFill>
                            <a:schemeClr val="tx1"/>
                          </a:solidFill>
                        </a:rPr>
                        <a:t>찜은 많은데 안 팔린 상품</a:t>
                      </a:r>
                      <a:endParaRPr lang="en-US" sz="1300" dirty="0"/>
                    </a:p>
                  </a:txBody>
                  <a:tcPr marL="109728" marR="109728" marT="0" marB="0" anchor="ctr">
                    <a:lnL w="6350" cap="flat" cmpd="sng" algn="ctr">
                      <a:solidFill>
                        <a:srgbClr val="8DBFA5"/>
                      </a:solidFill>
                      <a:prstDash val="solid"/>
                      <a:round/>
                      <a:headEnd type="none" w="med" len="med"/>
                      <a:tailEnd type="none" w="med" len="med"/>
                    </a:lnL>
                    <a:lnR w="6350" cap="flat" cmpd="sng" algn="ctr">
                      <a:solidFill>
                        <a:srgbClr val="8DBFA5"/>
                      </a:solidFill>
                      <a:prstDash val="solid"/>
                      <a:round/>
                      <a:headEnd type="none" w="med" len="med"/>
                      <a:tailEnd type="none" w="med" len="med"/>
                    </a:lnR>
                    <a:lnT w="6350" cap="flat" cmpd="sng" algn="ctr">
                      <a:solidFill>
                        <a:srgbClr val="8DBFA5"/>
                      </a:solidFill>
                      <a:prstDash val="solid"/>
                      <a:round/>
                      <a:headEnd type="none" w="med" len="med"/>
                      <a:tailEnd type="none" w="med" len="med"/>
                    </a:lnT>
                    <a:lnB w="6350" cap="flat" cmpd="sng" algn="ctr">
                      <a:solidFill>
                        <a:srgbClr val="8DBFA5"/>
                      </a:solidFill>
                      <a:prstDash val="solid"/>
                      <a:round/>
                      <a:headEnd type="none" w="med" len="med"/>
                      <a:tailEnd type="none" w="med" len="med"/>
                    </a:lnB>
                    <a:solidFill>
                      <a:srgbClr val="EEF5F0"/>
                    </a:solidFill>
                  </a:tcPr>
                </a:tc>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NOT EXISTS 서브쿼리 + HAVING</a:t>
                      </a:r>
                      <a:endParaRPr lang="en-US" sz="1300" dirty="0">
                        <a:latin typeface="Courier New" charset="0"/>
                        <a:ea typeface="Courier New" charset="0"/>
                        <a:cs typeface="Courier New" charset="0"/>
                      </a:endParaRPr>
                    </a:p>
                  </a:txBody>
                  <a:tcPr marL="109728" marR="109728" marT="0" marB="0" anchor="ctr">
                    <a:lnL w="6350" cap="flat" cmpd="sng" algn="ctr">
                      <a:solidFill>
                        <a:srgbClr val="8DBFA5"/>
                      </a:solidFill>
                      <a:prstDash val="solid"/>
                      <a:round/>
                      <a:headEnd type="none" w="med" len="med"/>
                      <a:tailEnd type="none" w="med" len="med"/>
                    </a:lnL>
                    <a:lnR w="6350" cap="flat" cmpd="sng" algn="ctr">
                      <a:solidFill>
                        <a:srgbClr val="8DBFA5"/>
                      </a:solidFill>
                      <a:prstDash val="solid"/>
                      <a:round/>
                      <a:headEnd type="none" w="med" len="med"/>
                      <a:tailEnd type="none" w="med" len="med"/>
                    </a:lnR>
                    <a:lnT w="6350" cap="flat" cmpd="sng" algn="ctr">
                      <a:solidFill>
                        <a:srgbClr val="8DBFA5"/>
                      </a:solidFill>
                      <a:prstDash val="solid"/>
                      <a:round/>
                      <a:headEnd type="none" w="med" len="med"/>
                      <a:tailEnd type="none" w="med" len="med"/>
                    </a:lnT>
                    <a:lnB w="6350" cap="flat" cmpd="sng" algn="ctr">
                      <a:solidFill>
                        <a:srgbClr val="8DBFA5"/>
                      </a:solidFill>
                      <a:prstDash val="solid"/>
                      <a:round/>
                      <a:headEnd type="none" w="med" len="med"/>
                      <a:tailEnd type="none" w="med" len="med"/>
                    </a:lnB>
                    <a:solidFill>
                      <a:srgbClr val="EEF5F0"/>
                    </a:solidFill>
                  </a:tcPr>
                </a:tc>
              </a:tr>
              <a:tr h="566928">
                <a:tc>
                  <a:txBody>
                    <a:bodyPr/>
                    <a:lstStyle/>
                    <a:p>
                      <a:pPr indent="0" marL="0">
                        <a:buNone/>
                      </a:pPr>
                      <a:r>
                        <a:rPr lang="en-US" sz="1300" dirty="0">
                          <a:solidFill>
                            <a:schemeClr val="tx1"/>
                          </a:solidFill>
                        </a:rPr>
                        <a:t>평균보다 평점 높은 판매자</a:t>
                      </a:r>
                      <a:endParaRPr lang="en-US" sz="1300" dirty="0"/>
                    </a:p>
                  </a:txBody>
                  <a:tcPr marL="109728" marR="109728" marT="0" marB="0" anchor="ctr">
                    <a:lnL w="6350" cap="flat" cmpd="sng" algn="ctr">
                      <a:solidFill>
                        <a:srgbClr val="8DBFA5"/>
                      </a:solidFill>
                      <a:prstDash val="solid"/>
                      <a:round/>
                      <a:headEnd type="none" w="med" len="med"/>
                      <a:tailEnd type="none" w="med" len="med"/>
                    </a:lnL>
                    <a:lnR w="6350" cap="flat" cmpd="sng" algn="ctr">
                      <a:solidFill>
                        <a:srgbClr val="8DBFA5"/>
                      </a:solidFill>
                      <a:prstDash val="solid"/>
                      <a:round/>
                      <a:headEnd type="none" w="med" len="med"/>
                      <a:tailEnd type="none" w="med" len="med"/>
                    </a:lnR>
                    <a:lnT w="6350" cap="flat" cmpd="sng" algn="ctr">
                      <a:solidFill>
                        <a:srgbClr val="8DBFA5"/>
                      </a:solidFill>
                      <a:prstDash val="solid"/>
                      <a:round/>
                      <a:headEnd type="none" w="med" len="med"/>
                      <a:tailEnd type="none" w="med" len="med"/>
                    </a:lnT>
                    <a:lnB w="6350" cap="flat" cmpd="sng" algn="ctr">
                      <a:solidFill>
                        <a:srgbClr val="8DBFA5"/>
                      </a:solidFill>
                      <a:prstDash val="solid"/>
                      <a:round/>
                      <a:headEnd type="none" w="med" len="med"/>
                      <a:tailEnd type="none" w="med" len="med"/>
                    </a:lnB>
                    <a:solidFill>
                      <a:srgbClr val="FFFFFF"/>
                    </a:solidFill>
                  </a:tcPr>
                </a:tc>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스칼라 서브쿼리</a:t>
                      </a:r>
                      <a:endParaRPr lang="en-US" sz="1300" dirty="0">
                        <a:latin typeface="Courier New" charset="0"/>
                        <a:ea typeface="Courier New" charset="0"/>
                        <a:cs typeface="Courier New" charset="0"/>
                      </a:endParaRPr>
                    </a:p>
                  </a:txBody>
                  <a:tcPr marL="109728" marR="109728" marT="0" marB="0" anchor="ctr">
                    <a:lnL w="6350" cap="flat" cmpd="sng" algn="ctr">
                      <a:solidFill>
                        <a:srgbClr val="8DBFA5"/>
                      </a:solidFill>
                      <a:prstDash val="solid"/>
                      <a:round/>
                      <a:headEnd type="none" w="med" len="med"/>
                      <a:tailEnd type="none" w="med" len="med"/>
                    </a:lnL>
                    <a:lnR w="6350" cap="flat" cmpd="sng" algn="ctr">
                      <a:solidFill>
                        <a:srgbClr val="8DBFA5"/>
                      </a:solidFill>
                      <a:prstDash val="solid"/>
                      <a:round/>
                      <a:headEnd type="none" w="med" len="med"/>
                      <a:tailEnd type="none" w="med" len="med"/>
                    </a:lnR>
                    <a:lnT w="6350" cap="flat" cmpd="sng" algn="ctr">
                      <a:solidFill>
                        <a:srgbClr val="8DBFA5"/>
                      </a:solidFill>
                      <a:prstDash val="solid"/>
                      <a:round/>
                      <a:headEnd type="none" w="med" len="med"/>
                      <a:tailEnd type="none" w="med" len="med"/>
                    </a:lnT>
                    <a:lnB w="6350" cap="flat" cmpd="sng" algn="ctr">
                      <a:solidFill>
                        <a:srgbClr val="8DBFA5"/>
                      </a:solidFill>
                      <a:prstDash val="solid"/>
                      <a:round/>
                      <a:headEnd type="none" w="med" len="med"/>
                      <a:tailEnd type="none" w="med" len="med"/>
                    </a:lnB>
                    <a:solidFill>
                      <a:srgbClr val="FFFFFF"/>
                    </a:solidFill>
                  </a:tcPr>
                </a:tc>
              </a:tr>
              <a:tr h="566928">
                <a:tc>
                  <a:txBody>
                    <a:bodyPr/>
                    <a:lstStyle/>
                    <a:p>
                      <a:pPr indent="0" marL="0">
                        <a:buNone/>
                      </a:pPr>
                      <a:r>
                        <a:rPr lang="en-US" sz="1300" dirty="0">
                          <a:solidFill>
                            <a:schemeClr val="tx1"/>
                          </a:solidFill>
                        </a:rPr>
                        <a:t>이번 학기 나눔 포인트 랭킹</a:t>
                      </a:r>
                      <a:endParaRPr lang="en-US" sz="1300" dirty="0"/>
                    </a:p>
                  </a:txBody>
                  <a:tcPr marL="109728" marR="109728" marT="0" marB="0" anchor="ctr">
                    <a:lnL w="6350" cap="flat" cmpd="sng" algn="ctr">
                      <a:solidFill>
                        <a:srgbClr val="8DBFA5"/>
                      </a:solidFill>
                      <a:prstDash val="solid"/>
                      <a:round/>
                      <a:headEnd type="none" w="med" len="med"/>
                      <a:tailEnd type="none" w="med" len="med"/>
                    </a:lnL>
                    <a:lnR w="6350" cap="flat" cmpd="sng" algn="ctr">
                      <a:solidFill>
                        <a:srgbClr val="8DBFA5"/>
                      </a:solidFill>
                      <a:prstDash val="solid"/>
                      <a:round/>
                      <a:headEnd type="none" w="med" len="med"/>
                      <a:tailEnd type="none" w="med" len="med"/>
                    </a:lnR>
                    <a:lnT w="6350" cap="flat" cmpd="sng" algn="ctr">
                      <a:solidFill>
                        <a:srgbClr val="8DBFA5"/>
                      </a:solidFill>
                      <a:prstDash val="solid"/>
                      <a:round/>
                      <a:headEnd type="none" w="med" len="med"/>
                      <a:tailEnd type="none" w="med" len="med"/>
                    </a:lnT>
                    <a:lnB w="6350" cap="flat" cmpd="sng" algn="ctr">
                      <a:solidFill>
                        <a:srgbClr val="8DBFA5"/>
                      </a:solidFill>
                      <a:prstDash val="solid"/>
                      <a:round/>
                      <a:headEnd type="none" w="med" len="med"/>
                      <a:tailEnd type="none" w="med" len="med"/>
                    </a:lnB>
                    <a:solidFill>
                      <a:srgbClr val="EEF5F0"/>
                    </a:solidFill>
                  </a:tcPr>
                </a:tc>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SUM + CASE 조건부 집계</a:t>
                      </a:r>
                      <a:endParaRPr lang="en-US" sz="1300" dirty="0">
                        <a:latin typeface="Courier New" charset="0"/>
                        <a:ea typeface="Courier New" charset="0"/>
                        <a:cs typeface="Courier New" charset="0"/>
                      </a:endParaRPr>
                    </a:p>
                  </a:txBody>
                  <a:tcPr marL="109728" marR="109728" marT="0" marB="0" anchor="ctr">
                    <a:lnL w="6350" cap="flat" cmpd="sng" algn="ctr">
                      <a:solidFill>
                        <a:srgbClr val="8DBFA5"/>
                      </a:solidFill>
                      <a:prstDash val="solid"/>
                      <a:round/>
                      <a:headEnd type="none" w="med" len="med"/>
                      <a:tailEnd type="none" w="med" len="med"/>
                    </a:lnL>
                    <a:lnR w="6350" cap="flat" cmpd="sng" algn="ctr">
                      <a:solidFill>
                        <a:srgbClr val="8DBFA5"/>
                      </a:solidFill>
                      <a:prstDash val="solid"/>
                      <a:round/>
                      <a:headEnd type="none" w="med" len="med"/>
                      <a:tailEnd type="none" w="med" len="med"/>
                    </a:lnR>
                    <a:lnT w="6350" cap="flat" cmpd="sng" algn="ctr">
                      <a:solidFill>
                        <a:srgbClr val="8DBFA5"/>
                      </a:solidFill>
                      <a:prstDash val="solid"/>
                      <a:round/>
                      <a:headEnd type="none" w="med" len="med"/>
                      <a:tailEnd type="none" w="med" len="med"/>
                    </a:lnT>
                    <a:lnB w="6350" cap="flat" cmpd="sng" algn="ctr">
                      <a:solidFill>
                        <a:srgbClr val="8DBFA5"/>
                      </a:solidFill>
                      <a:prstDash val="solid"/>
                      <a:round/>
                      <a:headEnd type="none" w="med" len="med"/>
                      <a:tailEnd type="none" w="med" len="med"/>
                    </a:lnB>
                    <a:solidFill>
                      <a:srgbClr val="EEF5F0"/>
                    </a:solidFill>
                  </a:tcPr>
                </a:tc>
              </a:tr>
              <a:tr h="566928">
                <a:tc>
                  <a:txBody>
                    <a:bodyPr/>
                    <a:lstStyle/>
                    <a:p>
                      <a:pPr indent="0" marL="0">
                        <a:buNone/>
                      </a:pPr>
                      <a:r>
                        <a:rPr lang="en-US" sz="1300" dirty="0">
                          <a:solidFill>
                            <a:schemeClr val="tx1"/>
                          </a:solidFill>
                        </a:rPr>
                        <a:t>상품 검색 · 필터 · 정렬</a:t>
                      </a:r>
                      <a:endParaRPr lang="en-US" sz="1300" dirty="0"/>
                    </a:p>
                  </a:txBody>
                  <a:tcPr marL="109728" marR="109728" marT="0" marB="0" anchor="ctr">
                    <a:lnL w="6350" cap="flat" cmpd="sng" algn="ctr">
                      <a:solidFill>
                        <a:srgbClr val="8DBFA5"/>
                      </a:solidFill>
                      <a:prstDash val="solid"/>
                      <a:round/>
                      <a:headEnd type="none" w="med" len="med"/>
                      <a:tailEnd type="none" w="med" len="med"/>
                    </a:lnL>
                    <a:lnR w="6350" cap="flat" cmpd="sng" algn="ctr">
                      <a:solidFill>
                        <a:srgbClr val="8DBFA5"/>
                      </a:solidFill>
                      <a:prstDash val="solid"/>
                      <a:round/>
                      <a:headEnd type="none" w="med" len="med"/>
                      <a:tailEnd type="none" w="med" len="med"/>
                    </a:lnR>
                    <a:lnT w="6350" cap="flat" cmpd="sng" algn="ctr">
                      <a:solidFill>
                        <a:srgbClr val="8DBFA5"/>
                      </a:solidFill>
                      <a:prstDash val="solid"/>
                      <a:round/>
                      <a:headEnd type="none" w="med" len="med"/>
                      <a:tailEnd type="none" w="med" len="med"/>
                    </a:lnT>
                    <a:lnB w="6350" cap="flat" cmpd="sng" algn="ctr">
                      <a:solidFill>
                        <a:srgbClr val="8DBFA5"/>
                      </a:solidFill>
                      <a:prstDash val="solid"/>
                      <a:round/>
                      <a:headEnd type="none" w="med" len="med"/>
                      <a:tailEnd type="none" w="med" len="med"/>
                    </a:lnB>
                    <a:solidFill>
                      <a:srgbClr val="FFFFFF"/>
                    </a:solidFill>
                  </a:tcPr>
                </a:tc>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WHERE 다중 조건 + ORDER BY + 인덱스</a:t>
                      </a:r>
                      <a:endParaRPr lang="en-US" sz="1300" dirty="0">
                        <a:latin typeface="Courier New" charset="0"/>
                        <a:ea typeface="Courier New" charset="0"/>
                        <a:cs typeface="Courier New" charset="0"/>
                      </a:endParaRPr>
                    </a:p>
                  </a:txBody>
                  <a:tcPr marL="109728" marR="109728" marT="0" marB="0" anchor="ctr">
                    <a:lnL w="6350" cap="flat" cmpd="sng" algn="ctr">
                      <a:solidFill>
                        <a:srgbClr val="8DBFA5"/>
                      </a:solidFill>
                      <a:prstDash val="solid"/>
                      <a:round/>
                      <a:headEnd type="none" w="med" len="med"/>
                      <a:tailEnd type="none" w="med" len="med"/>
                    </a:lnL>
                    <a:lnR w="6350" cap="flat" cmpd="sng" algn="ctr">
                      <a:solidFill>
                        <a:srgbClr val="8DBFA5"/>
                      </a:solidFill>
                      <a:prstDash val="solid"/>
                      <a:round/>
                      <a:headEnd type="none" w="med" len="med"/>
                      <a:tailEnd type="none" w="med" len="med"/>
                    </a:lnR>
                    <a:lnT w="6350" cap="flat" cmpd="sng" algn="ctr">
                      <a:solidFill>
                        <a:srgbClr val="8DBFA5"/>
                      </a:solidFill>
                      <a:prstDash val="solid"/>
                      <a:round/>
                      <a:headEnd type="none" w="med" len="med"/>
                      <a:tailEnd type="none" w="med" len="med"/>
                    </a:lnT>
                    <a:lnB w="6350" cap="flat" cmpd="sng" algn="ctr">
                      <a:solidFill>
                        <a:srgbClr val="8DBFA5"/>
                      </a:solidFill>
                      <a:prstDash val="solid"/>
                      <a:round/>
                      <a:headEnd type="none" w="med" len="med"/>
                      <a:tailEnd type="none" w="med" len="med"/>
                    </a:lnB>
                    <a:solidFill>
                      <a:srgbClr val="FFFFFF"/>
                    </a:solidFill>
                  </a:tcPr>
                </a:tc>
              </a:tr>
            </a:tbl>
          </a:graphicData>
        </a:graphic>
      </p:graphicFrame>
      <p:sp>
        <p:nvSpPr>
          <p:cNvPr id="5" name="card"/>
          <p:cNvSpPr/>
          <p:nvPr/>
        </p:nvSpPr>
        <p:spPr>
          <a:xfrm>
            <a:off x="6903720" y="1691640"/>
            <a:ext cx="4709160" cy="4526280"/>
          </a:xfrm>
          <a:prstGeom prst="roundRect">
            <a:avLst>
              <a:gd name="adj" fmla="val 2424"/>
            </a:avLst>
          </a:prstGeom>
          <a:solidFill>
            <a:schemeClr val="tx2"/>
          </a:solidFill>
          <a:ln w="12700">
            <a:solidFill>
              <a:schemeClr val="tx2"/>
            </a:solidFill>
            <a:prstDash val="solid"/>
          </a:ln>
        </p:spPr>
      </p:sp>
      <p:sp>
        <p:nvSpPr>
          <p:cNvPr id="6" name="Text 3"/>
          <p:cNvSpPr txBox="1"/>
          <p:nvPr/>
        </p:nvSpPr>
        <p:spPr>
          <a:xfrm>
            <a:off x="7178040" y="1874520"/>
            <a:ext cx="4206240" cy="365760"/>
          </a:xfrm>
          <a:prstGeom prst="rect">
            <a:avLst/>
          </a:prstGeom>
          <a:noFill/>
          <a:ln/>
        </p:spPr>
        <p:txBody>
          <a:bodyPr wrap="square" lIns="0" tIns="0" rIns="0" bIns="0" rtlCol="0" anchor="t"/>
          <a:lstStyle/>
          <a:p>
            <a:pPr indent="0" marL="0">
              <a:buNone/>
            </a:pPr>
            <a:r>
              <a:rPr lang="en-US" sz="1500" b="1" dirty="0">
                <a:solidFill>
                  <a:schemeClr val="accent3"/>
                </a:solidFill>
              </a:rPr>
              <a:t>예시 · 기부처별 누적 기부액</a:t>
            </a:r>
            <a:endParaRPr lang="en-US" sz="1500" dirty="0"/>
          </a:p>
        </p:txBody>
      </p:sp>
      <p:sp>
        <p:nvSpPr>
          <p:cNvPr id="7" name="Text 4"/>
          <p:cNvSpPr txBox="1"/>
          <p:nvPr/>
        </p:nvSpPr>
        <p:spPr>
          <a:xfrm>
            <a:off x="7178040" y="2377440"/>
            <a:ext cx="4251960" cy="274320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SELECT o.name AS 기부처,</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COUNT(d.donation_id) AS 기부건수,</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COALESCE(SUM(d.amount), 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AS 누적기부액</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FROM donation_org o</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LEFT JOIN donation 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ON d.org_id = o.org_id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GROUP BY o.org_id, o.name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ORDER BY 누적기부액 DESC;</a:t>
            </a:r>
            <a:endParaRPr lang="en-US" sz="1200" dirty="0"/>
          </a:p>
        </p:txBody>
      </p:sp>
      <p:sp>
        <p:nvSpPr>
          <p:cNvPr id="8" name="Text 5"/>
          <p:cNvSpPr txBox="1"/>
          <p:nvPr/>
        </p:nvSpPr>
        <p:spPr>
          <a:xfrm>
            <a:off x="7178040" y="5212080"/>
            <a:ext cx="4251960" cy="914400"/>
          </a:xfrm>
          <a:prstGeom prst="rect">
            <a:avLst/>
          </a:prstGeom>
          <a:noFill/>
          <a:ln/>
        </p:spPr>
        <p:txBody>
          <a:bodyPr wrap="square" lIns="0" tIns="0" rIns="0" bIns="0" rtlCol="0" anchor="t"/>
          <a:lstStyle/>
          <a:p>
            <a:pPr indent="0" marL="0">
              <a:buNone/>
            </a:pPr>
            <a:r>
              <a:rPr lang="en-US" sz="1200" dirty="0">
                <a:solidFill>
                  <a:schemeClr val="bg2"/>
                </a:solidFill>
              </a:rPr>
              <a:t>LEFT JOIN을 써서 아직 기부를 받지 못한 기부처도 0원으로 표시합니다. 기획안의 SQL 예시 6개는 PostgreSQL에서 실행해 검증했습니다.</a:t>
            </a:r>
            <a:endParaRPr 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B8C"/>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65760"/>
          </a:xfrm>
          <a:prstGeom prst="rect">
            <a:avLst/>
          </a:prstGeom>
          <a:noFill/>
          <a:ln/>
        </p:spPr>
        <p:txBody>
          <a:bodyPr wrap="square" lIns="0" tIns="0" rIns="0" bIns="0" rtlCol="0"/>
          <a:lstStyle/>
          <a:p>
            <a:pPr indent="0" marL="0">
              <a:buNone/>
            </a:pPr>
            <a:r>
              <a:rPr lang="en-US" sz="1400" b="1" dirty="0">
                <a:solidFill>
                  <a:schemeClr val="accent1"/>
                </a:solidFill>
              </a:rPr>
              <a:t>10  향후 개발 계획</a:t>
            </a:r>
            <a:endParaRPr lang="en-US" sz="1400" dirty="0"/>
          </a:p>
        </p:txBody>
      </p:sp>
      <p:sp>
        <p:nvSpPr>
          <p:cNvPr id="3" name="Text 0"/>
          <p:cNvSpPr/>
          <p:nvPr>
            <p:ph idx="101"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설계부터 시연까지 여섯 단계로 진행합니다</a:t>
            </a:r>
            <a:endParaRPr lang="en-US" sz="3000" dirty="0"/>
          </a:p>
        </p:txBody>
      </p:sp>
      <p:sp>
        <p:nvSpPr>
          <p:cNvPr id="4" name="timeline"/>
          <p:cNvSpPr/>
          <p:nvPr/>
        </p:nvSpPr>
        <p:spPr>
          <a:xfrm>
            <a:off x="1394460" y="2103120"/>
            <a:ext cx="9372600" cy="0"/>
          </a:xfrm>
          <a:prstGeom prst="line">
            <a:avLst/>
          </a:prstGeom>
          <a:noFill/>
          <a:ln w="25400">
            <a:solidFill>
              <a:schemeClr val="accent3"/>
            </a:solidFill>
            <a:prstDash val="solid"/>
          </a:ln>
        </p:spPr>
      </p:sp>
      <p:sp>
        <p:nvSpPr>
          <p:cNvPr id="5" name="step"/>
          <p:cNvSpPr/>
          <p:nvPr/>
        </p:nvSpPr>
        <p:spPr>
          <a:xfrm>
            <a:off x="1074420" y="1783080"/>
            <a:ext cx="640080" cy="640080"/>
          </a:xfrm>
          <a:prstGeom prst="ellipse">
            <a:avLst/>
          </a:prstGeom>
          <a:solidFill>
            <a:srgbClr val="F08A3C"/>
          </a:solidFill>
          <a:ln w="25400">
            <a:solidFill>
              <a:srgbClr val="FFFFFF"/>
            </a:solidFill>
            <a:prstDash val="solid"/>
          </a:ln>
        </p:spPr>
      </p:sp>
      <p:sp>
        <p:nvSpPr>
          <p:cNvPr id="6" name="Text 4"/>
          <p:cNvSpPr txBox="1"/>
          <p:nvPr/>
        </p:nvSpPr>
        <p:spPr>
          <a:xfrm>
            <a:off x="1074420" y="178308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5"/>
          <p:cNvSpPr txBox="1"/>
          <p:nvPr/>
        </p:nvSpPr>
        <p:spPr>
          <a:xfrm>
            <a:off x="548640" y="2606040"/>
            <a:ext cx="1691640" cy="365760"/>
          </a:xfrm>
          <a:prstGeom prst="rect">
            <a:avLst/>
          </a:prstGeom>
          <a:noFill/>
          <a:ln/>
        </p:spPr>
        <p:txBody>
          <a:bodyPr wrap="square" lIns="0" tIns="0" rIns="0" bIns="0" rtlCol="0" anchor="t"/>
          <a:lstStyle/>
          <a:p>
            <a:pPr algn="ctr" indent="0" marL="0">
              <a:buNone/>
            </a:pPr>
            <a:r>
              <a:rPr lang="en-US" sz="1600" b="1" dirty="0">
                <a:solidFill>
                  <a:schemeClr val="accent2"/>
                </a:solidFill>
              </a:rPr>
              <a:t>1차 기획</a:t>
            </a:r>
            <a:endParaRPr lang="en-US" sz="1600" dirty="0"/>
          </a:p>
        </p:txBody>
      </p:sp>
      <p:sp>
        <p:nvSpPr>
          <p:cNvPr id="8" name="Text 6"/>
          <p:cNvSpPr txBox="1"/>
          <p:nvPr/>
        </p:nvSpPr>
        <p:spPr>
          <a:xfrm>
            <a:off x="548640" y="3017520"/>
            <a:ext cx="1691640" cy="1188720"/>
          </a:xfrm>
          <a:prstGeom prst="rect">
            <a:avLst/>
          </a:prstGeom>
          <a:noFill/>
          <a:ln/>
        </p:spPr>
        <p:txBody>
          <a:bodyPr wrap="square" lIns="0" tIns="0" rIns="0" bIns="0" rtlCol="0" anchor="t"/>
          <a:lstStyle/>
          <a:p>
            <a:pPr algn="ctr" indent="0" marL="0">
              <a:buNone/>
            </a:pPr>
            <a:r>
              <a:rPr lang="en-US" sz="1300" dirty="0">
                <a:solidFill>
                  <a:schemeClr val="tx1"/>
                </a:solidFill>
              </a:rPr>
              <a:t>주제·문제·사용자 정의, 예상 테이블 도출</a:t>
            </a:r>
            <a:endParaRPr lang="en-US" sz="1300" dirty="0"/>
          </a:p>
        </p:txBody>
      </p:sp>
      <p:sp>
        <p:nvSpPr>
          <p:cNvPr id="9" name="Text 7"/>
          <p:cNvSpPr txBox="1"/>
          <p:nvPr/>
        </p:nvSpPr>
        <p:spPr>
          <a:xfrm>
            <a:off x="548640" y="4206240"/>
            <a:ext cx="1691640" cy="320040"/>
          </a:xfrm>
          <a:prstGeom prst="rect">
            <a:avLst/>
          </a:prstGeom>
          <a:noFill/>
          <a:ln/>
        </p:spPr>
        <p:txBody>
          <a:bodyPr wrap="square" lIns="0" tIns="0" rIns="0" bIns="0" rtlCol="0" anchor="t"/>
          <a:lstStyle/>
          <a:p>
            <a:pPr algn="ctr" indent="0" marL="0">
              <a:buNone/>
            </a:pPr>
            <a:r>
              <a:rPr lang="en-US" sz="1100" b="1" dirty="0">
                <a:solidFill>
                  <a:schemeClr val="accent5"/>
                </a:solidFill>
                <a:latin typeface="Courier New" pitchFamily="34" charset="0"/>
                <a:ea typeface="Courier New" pitchFamily="34" charset="-122"/>
                <a:cs typeface="Courier New" pitchFamily="34" charset="-120"/>
              </a:rPr>
              <a:t>proposal.md</a:t>
            </a:r>
            <a:endParaRPr lang="en-US" sz="1100" dirty="0"/>
          </a:p>
        </p:txBody>
      </p:sp>
      <p:sp>
        <p:nvSpPr>
          <p:cNvPr id="10" name="step"/>
          <p:cNvSpPr/>
          <p:nvPr/>
        </p:nvSpPr>
        <p:spPr>
          <a:xfrm>
            <a:off x="2948940" y="1783080"/>
            <a:ext cx="640080" cy="640080"/>
          </a:xfrm>
          <a:prstGeom prst="ellipse">
            <a:avLst/>
          </a:prstGeom>
          <a:solidFill>
            <a:srgbClr val="2E7D5B"/>
          </a:solidFill>
          <a:ln w="25400">
            <a:solidFill>
              <a:srgbClr val="FFFFFF"/>
            </a:solidFill>
            <a:prstDash val="solid"/>
          </a:ln>
        </p:spPr>
      </p:sp>
      <p:sp>
        <p:nvSpPr>
          <p:cNvPr id="11" name="Text 9"/>
          <p:cNvSpPr txBox="1"/>
          <p:nvPr/>
        </p:nvSpPr>
        <p:spPr>
          <a:xfrm>
            <a:off x="2948940" y="178308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10"/>
          <p:cNvSpPr txBox="1"/>
          <p:nvPr/>
        </p:nvSpPr>
        <p:spPr>
          <a:xfrm>
            <a:off x="2423160" y="2606040"/>
            <a:ext cx="1691640" cy="365760"/>
          </a:xfrm>
          <a:prstGeom prst="rect">
            <a:avLst/>
          </a:prstGeom>
          <a:noFill/>
          <a:ln/>
        </p:spPr>
        <p:txBody>
          <a:bodyPr wrap="square" lIns="0" tIns="0" rIns="0" bIns="0" rtlCol="0" anchor="t"/>
          <a:lstStyle/>
          <a:p>
            <a:pPr algn="ctr" indent="0" marL="0">
              <a:buNone/>
            </a:pPr>
            <a:r>
              <a:rPr lang="en-US" sz="1600" b="1" dirty="0">
                <a:solidFill>
                  <a:schemeClr val="tx1"/>
                </a:solidFill>
              </a:rPr>
              <a:t>DB 설계</a:t>
            </a:r>
            <a:endParaRPr lang="en-US" sz="1600" dirty="0"/>
          </a:p>
        </p:txBody>
      </p:sp>
      <p:sp>
        <p:nvSpPr>
          <p:cNvPr id="13" name="Text 11"/>
          <p:cNvSpPr txBox="1"/>
          <p:nvPr/>
        </p:nvSpPr>
        <p:spPr>
          <a:xfrm>
            <a:off x="2423160" y="3017520"/>
            <a:ext cx="1691640" cy="1188720"/>
          </a:xfrm>
          <a:prstGeom prst="rect">
            <a:avLst/>
          </a:prstGeom>
          <a:noFill/>
          <a:ln/>
        </p:spPr>
        <p:txBody>
          <a:bodyPr wrap="square" lIns="0" tIns="0" rIns="0" bIns="0" rtlCol="0" anchor="t"/>
          <a:lstStyle/>
          <a:p>
            <a:pPr algn="ctr" indent="0" marL="0">
              <a:buNone/>
            </a:pPr>
            <a:r>
              <a:rPr lang="en-US" sz="1300" dirty="0">
                <a:solidFill>
                  <a:schemeClr val="tx1"/>
                </a:solidFill>
              </a:rPr>
              <a:t>ERD 확정, 정규화(1~3NF), 제약조건 정의</a:t>
            </a:r>
            <a:endParaRPr lang="en-US" sz="1300" dirty="0"/>
          </a:p>
        </p:txBody>
      </p:sp>
      <p:sp>
        <p:nvSpPr>
          <p:cNvPr id="14" name="Text 12"/>
          <p:cNvSpPr txBox="1"/>
          <p:nvPr/>
        </p:nvSpPr>
        <p:spPr>
          <a:xfrm>
            <a:off x="2423160" y="4206240"/>
            <a:ext cx="1691640" cy="320040"/>
          </a:xfrm>
          <a:prstGeom prst="rect">
            <a:avLst/>
          </a:prstGeom>
          <a:noFill/>
          <a:ln/>
        </p:spPr>
        <p:txBody>
          <a:bodyPr wrap="square" lIns="0" tIns="0" rIns="0" bIns="0" rtlCol="0" anchor="t"/>
          <a:lstStyle/>
          <a:p>
            <a:pPr algn="ctr" indent="0" marL="0">
              <a:buNone/>
            </a:pPr>
            <a:r>
              <a:rPr lang="en-US" sz="1100" b="1" dirty="0">
                <a:solidFill>
                  <a:schemeClr val="accent5"/>
                </a:solidFill>
                <a:latin typeface="Courier New" pitchFamily="34" charset="0"/>
                <a:ea typeface="Courier New" pitchFamily="34" charset="-122"/>
                <a:cs typeface="Courier New" pitchFamily="34" charset="-120"/>
              </a:rPr>
              <a:t>ERD, schema.sql</a:t>
            </a:r>
            <a:endParaRPr lang="en-US" sz="1100" dirty="0"/>
          </a:p>
        </p:txBody>
      </p:sp>
      <p:sp>
        <p:nvSpPr>
          <p:cNvPr id="15" name="step"/>
          <p:cNvSpPr/>
          <p:nvPr/>
        </p:nvSpPr>
        <p:spPr>
          <a:xfrm>
            <a:off x="4823460" y="1783080"/>
            <a:ext cx="640080" cy="640080"/>
          </a:xfrm>
          <a:prstGeom prst="ellipse">
            <a:avLst/>
          </a:prstGeom>
          <a:solidFill>
            <a:srgbClr val="2E7D5B"/>
          </a:solidFill>
          <a:ln w="25400">
            <a:solidFill>
              <a:srgbClr val="FFFFFF"/>
            </a:solidFill>
            <a:prstDash val="solid"/>
          </a:ln>
        </p:spPr>
      </p:sp>
      <p:sp>
        <p:nvSpPr>
          <p:cNvPr id="16" name="Text 14"/>
          <p:cNvSpPr txBox="1"/>
          <p:nvPr/>
        </p:nvSpPr>
        <p:spPr>
          <a:xfrm>
            <a:off x="4823460" y="178308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Text 15"/>
          <p:cNvSpPr txBox="1"/>
          <p:nvPr/>
        </p:nvSpPr>
        <p:spPr>
          <a:xfrm>
            <a:off x="4297680" y="2606040"/>
            <a:ext cx="1691640" cy="365760"/>
          </a:xfrm>
          <a:prstGeom prst="rect">
            <a:avLst/>
          </a:prstGeom>
          <a:noFill/>
          <a:ln/>
        </p:spPr>
        <p:txBody>
          <a:bodyPr wrap="square" lIns="0" tIns="0" rIns="0" bIns="0" rtlCol="0" anchor="t"/>
          <a:lstStyle/>
          <a:p>
            <a:pPr algn="ctr" indent="0" marL="0">
              <a:buNone/>
            </a:pPr>
            <a:r>
              <a:rPr lang="en-US" sz="1600" b="1" dirty="0">
                <a:solidFill>
                  <a:schemeClr val="tx1"/>
                </a:solidFill>
              </a:rPr>
              <a:t>샘플 데이터</a:t>
            </a:r>
            <a:endParaRPr lang="en-US" sz="1600" dirty="0"/>
          </a:p>
        </p:txBody>
      </p:sp>
      <p:sp>
        <p:nvSpPr>
          <p:cNvPr id="18" name="Text 16"/>
          <p:cNvSpPr txBox="1"/>
          <p:nvPr/>
        </p:nvSpPr>
        <p:spPr>
          <a:xfrm>
            <a:off x="4297680" y="3017520"/>
            <a:ext cx="1691640" cy="1188720"/>
          </a:xfrm>
          <a:prstGeom prst="rect">
            <a:avLst/>
          </a:prstGeom>
          <a:noFill/>
          <a:ln/>
        </p:spPr>
        <p:txBody>
          <a:bodyPr wrap="square" lIns="0" tIns="0" rIns="0" bIns="0" rtlCol="0" anchor="t"/>
          <a:lstStyle/>
          <a:p>
            <a:pPr algn="ctr" indent="0" marL="0">
              <a:buNone/>
            </a:pPr>
            <a:r>
              <a:rPr lang="en-US" sz="1300" dirty="0">
                <a:solidFill>
                  <a:schemeClr val="tx1"/>
                </a:solidFill>
              </a:rPr>
              <a:t>학과·카테고리·회원·상품·거래 현실적 데이터 구성</a:t>
            </a:r>
            <a:endParaRPr lang="en-US" sz="1300" dirty="0"/>
          </a:p>
        </p:txBody>
      </p:sp>
      <p:sp>
        <p:nvSpPr>
          <p:cNvPr id="19" name="Text 17"/>
          <p:cNvSpPr txBox="1"/>
          <p:nvPr/>
        </p:nvSpPr>
        <p:spPr>
          <a:xfrm>
            <a:off x="4297680" y="4206240"/>
            <a:ext cx="1691640" cy="320040"/>
          </a:xfrm>
          <a:prstGeom prst="rect">
            <a:avLst/>
          </a:prstGeom>
          <a:noFill/>
          <a:ln/>
        </p:spPr>
        <p:txBody>
          <a:bodyPr wrap="square" lIns="0" tIns="0" rIns="0" bIns="0" rtlCol="0" anchor="t"/>
          <a:lstStyle/>
          <a:p>
            <a:pPr algn="ctr" indent="0" marL="0">
              <a:buNone/>
            </a:pPr>
            <a:r>
              <a:rPr lang="en-US" sz="1100" b="1" dirty="0">
                <a:solidFill>
                  <a:schemeClr val="accent5"/>
                </a:solidFill>
                <a:latin typeface="Courier New" pitchFamily="34" charset="0"/>
                <a:ea typeface="Courier New" pitchFamily="34" charset="-122"/>
                <a:cs typeface="Courier New" pitchFamily="34" charset="-120"/>
              </a:rPr>
              <a:t>sample_data.sql</a:t>
            </a:r>
            <a:endParaRPr lang="en-US" sz="1100" dirty="0"/>
          </a:p>
        </p:txBody>
      </p:sp>
      <p:sp>
        <p:nvSpPr>
          <p:cNvPr id="20" name="step"/>
          <p:cNvSpPr/>
          <p:nvPr/>
        </p:nvSpPr>
        <p:spPr>
          <a:xfrm>
            <a:off x="6697980" y="1783080"/>
            <a:ext cx="640080" cy="640080"/>
          </a:xfrm>
          <a:prstGeom prst="ellipse">
            <a:avLst/>
          </a:prstGeom>
          <a:solidFill>
            <a:srgbClr val="2E7D5B"/>
          </a:solidFill>
          <a:ln w="25400">
            <a:solidFill>
              <a:srgbClr val="FFFFFF"/>
            </a:solidFill>
            <a:prstDash val="solid"/>
          </a:ln>
        </p:spPr>
      </p:sp>
      <p:sp>
        <p:nvSpPr>
          <p:cNvPr id="21" name="Text 19"/>
          <p:cNvSpPr txBox="1"/>
          <p:nvPr/>
        </p:nvSpPr>
        <p:spPr>
          <a:xfrm>
            <a:off x="6697980" y="178308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2" name="Text 20"/>
          <p:cNvSpPr txBox="1"/>
          <p:nvPr/>
        </p:nvSpPr>
        <p:spPr>
          <a:xfrm>
            <a:off x="6172200" y="2606040"/>
            <a:ext cx="1691640" cy="365760"/>
          </a:xfrm>
          <a:prstGeom prst="rect">
            <a:avLst/>
          </a:prstGeom>
          <a:noFill/>
          <a:ln/>
        </p:spPr>
        <p:txBody>
          <a:bodyPr wrap="square" lIns="0" tIns="0" rIns="0" bIns="0" rtlCol="0" anchor="t"/>
          <a:lstStyle/>
          <a:p>
            <a:pPr algn="ctr" indent="0" marL="0">
              <a:buNone/>
            </a:pPr>
            <a:r>
              <a:rPr lang="en-US" sz="1600" b="1" dirty="0">
                <a:solidFill>
                  <a:schemeClr val="tx1"/>
                </a:solidFill>
              </a:rPr>
              <a:t>SQL 구현</a:t>
            </a:r>
            <a:endParaRPr lang="en-US" sz="1600" dirty="0"/>
          </a:p>
        </p:txBody>
      </p:sp>
      <p:sp>
        <p:nvSpPr>
          <p:cNvPr id="23" name="Text 21"/>
          <p:cNvSpPr txBox="1"/>
          <p:nvPr/>
        </p:nvSpPr>
        <p:spPr>
          <a:xfrm>
            <a:off x="6172200" y="3017520"/>
            <a:ext cx="1691640" cy="1188720"/>
          </a:xfrm>
          <a:prstGeom prst="rect">
            <a:avLst/>
          </a:prstGeom>
          <a:noFill/>
          <a:ln/>
        </p:spPr>
        <p:txBody>
          <a:bodyPr wrap="square" lIns="0" tIns="0" rIns="0" bIns="0" rtlCol="0" anchor="t"/>
          <a:lstStyle/>
          <a:p>
            <a:pPr algn="ctr" indent="0" marL="0">
              <a:buNone/>
            </a:pPr>
            <a:r>
              <a:rPr lang="en-US" sz="1300" dirty="0">
                <a:solidFill>
                  <a:schemeClr val="tx1"/>
                </a:solidFill>
              </a:rPr>
              <a:t>CRUD, 검색, 통계 쿼리, VIEW·인덱스·트랜잭션</a:t>
            </a:r>
            <a:endParaRPr lang="en-US" sz="1300" dirty="0"/>
          </a:p>
        </p:txBody>
      </p:sp>
      <p:sp>
        <p:nvSpPr>
          <p:cNvPr id="24" name="Text 22"/>
          <p:cNvSpPr txBox="1"/>
          <p:nvPr/>
        </p:nvSpPr>
        <p:spPr>
          <a:xfrm>
            <a:off x="6172200" y="4206240"/>
            <a:ext cx="1691640" cy="320040"/>
          </a:xfrm>
          <a:prstGeom prst="rect">
            <a:avLst/>
          </a:prstGeom>
          <a:noFill/>
          <a:ln/>
        </p:spPr>
        <p:txBody>
          <a:bodyPr wrap="square" lIns="0" tIns="0" rIns="0" bIns="0" rtlCol="0" anchor="t"/>
          <a:lstStyle/>
          <a:p>
            <a:pPr algn="ctr" indent="0" marL="0">
              <a:buNone/>
            </a:pPr>
            <a:r>
              <a:rPr lang="en-US" sz="1100" b="1" dirty="0">
                <a:solidFill>
                  <a:schemeClr val="accent5"/>
                </a:solidFill>
                <a:latin typeface="Courier New" pitchFamily="34" charset="0"/>
                <a:ea typeface="Courier New" pitchFamily="34" charset="-122"/>
                <a:cs typeface="Courier New" pitchFamily="34" charset="-120"/>
              </a:rPr>
              <a:t>queries.sql</a:t>
            </a:r>
            <a:endParaRPr lang="en-US" sz="1100" dirty="0"/>
          </a:p>
        </p:txBody>
      </p:sp>
      <p:sp>
        <p:nvSpPr>
          <p:cNvPr id="25" name="step"/>
          <p:cNvSpPr/>
          <p:nvPr/>
        </p:nvSpPr>
        <p:spPr>
          <a:xfrm>
            <a:off x="8572500" y="1783080"/>
            <a:ext cx="640080" cy="640080"/>
          </a:xfrm>
          <a:prstGeom prst="ellipse">
            <a:avLst/>
          </a:prstGeom>
          <a:solidFill>
            <a:srgbClr val="2E7D5B"/>
          </a:solidFill>
          <a:ln w="25400">
            <a:solidFill>
              <a:srgbClr val="FFFFFF"/>
            </a:solidFill>
            <a:prstDash val="solid"/>
          </a:ln>
        </p:spPr>
      </p:sp>
      <p:sp>
        <p:nvSpPr>
          <p:cNvPr id="26" name="Text 24"/>
          <p:cNvSpPr txBox="1"/>
          <p:nvPr/>
        </p:nvSpPr>
        <p:spPr>
          <a:xfrm>
            <a:off x="8572500" y="178308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7" name="Text 25"/>
          <p:cNvSpPr txBox="1"/>
          <p:nvPr/>
        </p:nvSpPr>
        <p:spPr>
          <a:xfrm>
            <a:off x="8046720" y="2606040"/>
            <a:ext cx="1691640" cy="365760"/>
          </a:xfrm>
          <a:prstGeom prst="rect">
            <a:avLst/>
          </a:prstGeom>
          <a:noFill/>
          <a:ln/>
        </p:spPr>
        <p:txBody>
          <a:bodyPr wrap="square" lIns="0" tIns="0" rIns="0" bIns="0" rtlCol="0" anchor="t"/>
          <a:lstStyle/>
          <a:p>
            <a:pPr algn="ctr" indent="0" marL="0">
              <a:buNone/>
            </a:pPr>
            <a:r>
              <a:rPr lang="en-US" sz="1600" b="1" dirty="0">
                <a:solidFill>
                  <a:schemeClr val="tx1"/>
                </a:solidFill>
              </a:rPr>
              <a:t>웹 앱 구현</a:t>
            </a:r>
            <a:endParaRPr lang="en-US" sz="1600" dirty="0"/>
          </a:p>
        </p:txBody>
      </p:sp>
      <p:sp>
        <p:nvSpPr>
          <p:cNvPr id="28" name="Text 26"/>
          <p:cNvSpPr txBox="1"/>
          <p:nvPr/>
        </p:nvSpPr>
        <p:spPr>
          <a:xfrm>
            <a:off x="8046720" y="3017520"/>
            <a:ext cx="1691640" cy="1188720"/>
          </a:xfrm>
          <a:prstGeom prst="rect">
            <a:avLst/>
          </a:prstGeom>
          <a:noFill/>
          <a:ln/>
        </p:spPr>
        <p:txBody>
          <a:bodyPr wrap="square" lIns="0" tIns="0" rIns="0" bIns="0" rtlCol="0" anchor="t"/>
          <a:lstStyle/>
          <a:p>
            <a:pPr algn="ctr" indent="0" marL="0">
              <a:buNone/>
            </a:pPr>
            <a:r>
              <a:rPr lang="en-US" sz="1300" dirty="0">
                <a:solidFill>
                  <a:schemeClr val="tx1"/>
                </a:solidFill>
              </a:rPr>
              <a:t>목록·상세·등록, 채팅, 마이페이지, 대시보드 연동</a:t>
            </a:r>
            <a:endParaRPr lang="en-US" sz="1300" dirty="0"/>
          </a:p>
        </p:txBody>
      </p:sp>
      <p:sp>
        <p:nvSpPr>
          <p:cNvPr id="29" name="Text 27"/>
          <p:cNvSpPr txBox="1"/>
          <p:nvPr/>
        </p:nvSpPr>
        <p:spPr>
          <a:xfrm>
            <a:off x="8046720" y="4206240"/>
            <a:ext cx="1691640" cy="320040"/>
          </a:xfrm>
          <a:prstGeom prst="rect">
            <a:avLst/>
          </a:prstGeom>
          <a:noFill/>
          <a:ln/>
        </p:spPr>
        <p:txBody>
          <a:bodyPr wrap="square" lIns="0" tIns="0" rIns="0" bIns="0" rtlCol="0" anchor="t"/>
          <a:lstStyle/>
          <a:p>
            <a:pPr algn="ctr" indent="0" marL="0">
              <a:buNone/>
            </a:pPr>
            <a:r>
              <a:rPr lang="en-US" sz="1100" b="1" dirty="0">
                <a:solidFill>
                  <a:schemeClr val="accent5"/>
                </a:solidFill>
                <a:latin typeface="Courier New" pitchFamily="34" charset="0"/>
                <a:ea typeface="Courier New" pitchFamily="34" charset="-122"/>
                <a:cs typeface="Courier New" pitchFamily="34" charset="-120"/>
              </a:rPr>
              <a:t>소스 코드</a:t>
            </a:r>
            <a:endParaRPr lang="en-US" sz="1100" dirty="0"/>
          </a:p>
        </p:txBody>
      </p:sp>
      <p:sp>
        <p:nvSpPr>
          <p:cNvPr id="30" name="step"/>
          <p:cNvSpPr/>
          <p:nvPr/>
        </p:nvSpPr>
        <p:spPr>
          <a:xfrm>
            <a:off x="10447020" y="1783080"/>
            <a:ext cx="640080" cy="640080"/>
          </a:xfrm>
          <a:prstGeom prst="ellipse">
            <a:avLst/>
          </a:prstGeom>
          <a:solidFill>
            <a:srgbClr val="2E7D5B"/>
          </a:solidFill>
          <a:ln w="25400">
            <a:solidFill>
              <a:srgbClr val="FFFFFF"/>
            </a:solidFill>
            <a:prstDash val="solid"/>
          </a:ln>
        </p:spPr>
      </p:sp>
      <p:sp>
        <p:nvSpPr>
          <p:cNvPr id="31" name="Text 29"/>
          <p:cNvSpPr txBox="1"/>
          <p:nvPr/>
        </p:nvSpPr>
        <p:spPr>
          <a:xfrm>
            <a:off x="10447020" y="178308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32" name="Text 30"/>
          <p:cNvSpPr txBox="1"/>
          <p:nvPr/>
        </p:nvSpPr>
        <p:spPr>
          <a:xfrm>
            <a:off x="9921240" y="2606040"/>
            <a:ext cx="1691640" cy="365760"/>
          </a:xfrm>
          <a:prstGeom prst="rect">
            <a:avLst/>
          </a:prstGeom>
          <a:noFill/>
          <a:ln/>
        </p:spPr>
        <p:txBody>
          <a:bodyPr wrap="square" lIns="0" tIns="0" rIns="0" bIns="0" rtlCol="0" anchor="t"/>
          <a:lstStyle/>
          <a:p>
            <a:pPr algn="ctr" indent="0" marL="0">
              <a:buNone/>
            </a:pPr>
            <a:r>
              <a:rPr lang="en-US" sz="1600" b="1" dirty="0">
                <a:solidFill>
                  <a:schemeClr val="tx1"/>
                </a:solidFill>
              </a:rPr>
              <a:t>테스트 · 발표</a:t>
            </a:r>
            <a:endParaRPr lang="en-US" sz="1600" dirty="0"/>
          </a:p>
        </p:txBody>
      </p:sp>
      <p:sp>
        <p:nvSpPr>
          <p:cNvPr id="33" name="Text 31"/>
          <p:cNvSpPr txBox="1"/>
          <p:nvPr/>
        </p:nvSpPr>
        <p:spPr>
          <a:xfrm>
            <a:off x="9921240" y="3017520"/>
            <a:ext cx="1691640" cy="1188720"/>
          </a:xfrm>
          <a:prstGeom prst="rect">
            <a:avLst/>
          </a:prstGeom>
          <a:noFill/>
          <a:ln/>
        </p:spPr>
        <p:txBody>
          <a:bodyPr wrap="square" lIns="0" tIns="0" rIns="0" bIns="0" rtlCol="0" anchor="t"/>
          <a:lstStyle/>
          <a:p>
            <a:pPr algn="ctr" indent="0" marL="0">
              <a:buNone/>
            </a:pPr>
            <a:r>
              <a:rPr lang="en-US" sz="1300" dirty="0">
                <a:solidFill>
                  <a:schemeClr val="tx1"/>
                </a:solidFill>
              </a:rPr>
              <a:t>시나리오 테스트, 개선, 최종 발표</a:t>
            </a:r>
            <a:endParaRPr lang="en-US" sz="1300" dirty="0"/>
          </a:p>
        </p:txBody>
      </p:sp>
      <p:sp>
        <p:nvSpPr>
          <p:cNvPr id="34" name="Text 32"/>
          <p:cNvSpPr txBox="1"/>
          <p:nvPr/>
        </p:nvSpPr>
        <p:spPr>
          <a:xfrm>
            <a:off x="9921240" y="4206240"/>
            <a:ext cx="1691640" cy="320040"/>
          </a:xfrm>
          <a:prstGeom prst="rect">
            <a:avLst/>
          </a:prstGeom>
          <a:noFill/>
          <a:ln/>
        </p:spPr>
        <p:txBody>
          <a:bodyPr wrap="square" lIns="0" tIns="0" rIns="0" bIns="0" rtlCol="0" anchor="t"/>
          <a:lstStyle/>
          <a:p>
            <a:pPr algn="ctr" indent="0" marL="0">
              <a:buNone/>
            </a:pPr>
            <a:r>
              <a:rPr lang="en-US" sz="1100" b="1" dirty="0">
                <a:solidFill>
                  <a:schemeClr val="accent5"/>
                </a:solidFill>
                <a:latin typeface="Courier New" pitchFamily="34" charset="0"/>
                <a:ea typeface="Courier New" pitchFamily="34" charset="-122"/>
                <a:cs typeface="Courier New" pitchFamily="34" charset="-120"/>
              </a:rPr>
              <a:t>보고서, 시연</a:t>
            </a:r>
            <a:endParaRPr lang="en-US" sz="1100" dirty="0"/>
          </a:p>
        </p:txBody>
      </p:sp>
      <p:sp>
        <p:nvSpPr>
          <p:cNvPr id="35" name="Text 33"/>
          <p:cNvSpPr txBox="1"/>
          <p:nvPr/>
        </p:nvSpPr>
        <p:spPr>
          <a:xfrm>
            <a:off x="548640" y="1371600"/>
            <a:ext cx="1691640" cy="320040"/>
          </a:xfrm>
          <a:prstGeom prst="rect">
            <a:avLst/>
          </a:prstGeom>
          <a:noFill/>
          <a:ln/>
        </p:spPr>
        <p:txBody>
          <a:bodyPr wrap="square" lIns="0" tIns="0" rIns="0" bIns="0" rtlCol="0" anchor="t"/>
          <a:lstStyle/>
          <a:p>
            <a:pPr algn="ctr" indent="0" marL="0">
              <a:buNone/>
            </a:pPr>
            <a:r>
              <a:rPr lang="en-US" sz="1200" b="1" dirty="0">
                <a:solidFill>
                  <a:schemeClr val="accent2"/>
                </a:solidFill>
              </a:rPr>
              <a:t>현재 단계</a:t>
            </a:r>
            <a:endParaRPr lang="en-US" sz="1200" dirty="0"/>
          </a:p>
        </p:txBody>
      </p:sp>
      <p:sp>
        <p:nvSpPr>
          <p:cNvPr id="36" name="Text 34"/>
          <p:cNvSpPr txBox="1"/>
          <p:nvPr/>
        </p:nvSpPr>
        <p:spPr>
          <a:xfrm>
            <a:off x="548640" y="4983480"/>
            <a:ext cx="1828800" cy="365760"/>
          </a:xfrm>
          <a:prstGeom prst="rect">
            <a:avLst/>
          </a:prstGeom>
          <a:noFill/>
          <a:ln/>
        </p:spPr>
        <p:txBody>
          <a:bodyPr wrap="square" lIns="0" tIns="0" rIns="0" bIns="0" rtlCol="0" anchor="t"/>
          <a:lstStyle/>
          <a:p>
            <a:pPr indent="0" marL="0">
              <a:buNone/>
            </a:pPr>
            <a:r>
              <a:rPr lang="en-US" sz="1600" b="1" dirty="0">
                <a:solidFill>
                  <a:schemeClr val="tx1"/>
                </a:solidFill>
              </a:rPr>
              <a:t>기술 스택</a:t>
            </a:r>
            <a:endParaRPr lang="en-US" sz="1600" dirty="0"/>
          </a:p>
        </p:txBody>
      </p:sp>
      <p:sp>
        <p:nvSpPr>
          <p:cNvPr id="37" name="chip"/>
          <p:cNvSpPr/>
          <p:nvPr/>
        </p:nvSpPr>
        <p:spPr>
          <a:xfrm>
            <a:off x="548640" y="5440680"/>
            <a:ext cx="1554480" cy="502920"/>
          </a:xfrm>
          <a:prstGeom prst="roundRect">
            <a:avLst>
              <a:gd name="adj" fmla="val 49091"/>
            </a:avLst>
          </a:prstGeom>
          <a:solidFill>
            <a:srgbClr val="1F4E3D"/>
          </a:solidFill>
          <a:ln w="12700">
            <a:solidFill>
              <a:srgbClr val="1F4E3D"/>
            </a:solidFill>
            <a:prstDash val="solid"/>
          </a:ln>
        </p:spPr>
      </p:sp>
      <p:sp>
        <p:nvSpPr>
          <p:cNvPr id="38" name="Text 36"/>
          <p:cNvSpPr txBox="1"/>
          <p:nvPr/>
        </p:nvSpPr>
        <p:spPr>
          <a:xfrm>
            <a:off x="548640" y="5440680"/>
            <a:ext cx="1554480" cy="502920"/>
          </a:xfrm>
          <a:prstGeom prst="rect">
            <a:avLst/>
          </a:prstGeom>
          <a:noFill/>
          <a:ln/>
        </p:spPr>
        <p:txBody>
          <a:bodyPr wrap="square" lIns="0" tIns="0" rIns="0" bIns="0" rtlCol="0" anchor="ctr"/>
          <a:lstStyle/>
          <a:p>
            <a:pPr algn="ctr" indent="0" marL="0">
              <a:buNone/>
            </a:pPr>
            <a:r>
              <a:rPr lang="en-US" sz="1400" b="1" dirty="0">
                <a:solidFill>
                  <a:schemeClr val="bg1"/>
                </a:solidFill>
              </a:rPr>
              <a:t>PostgreSQL</a:t>
            </a:r>
            <a:endParaRPr lang="en-US" sz="1400" dirty="0"/>
          </a:p>
        </p:txBody>
      </p:sp>
      <p:sp>
        <p:nvSpPr>
          <p:cNvPr id="39" name="chip"/>
          <p:cNvSpPr/>
          <p:nvPr/>
        </p:nvSpPr>
        <p:spPr>
          <a:xfrm>
            <a:off x="2286000" y="5440680"/>
            <a:ext cx="2386584" cy="502920"/>
          </a:xfrm>
          <a:prstGeom prst="roundRect">
            <a:avLst>
              <a:gd name="adj" fmla="val 49091"/>
            </a:avLst>
          </a:prstGeom>
          <a:solidFill>
            <a:srgbClr val="EEF5F0"/>
          </a:solidFill>
          <a:ln w="12700">
            <a:solidFill>
              <a:srgbClr val="EEF5F0"/>
            </a:solidFill>
            <a:prstDash val="solid"/>
          </a:ln>
        </p:spPr>
      </p:sp>
      <p:sp>
        <p:nvSpPr>
          <p:cNvPr id="40" name="Text 38"/>
          <p:cNvSpPr txBox="1"/>
          <p:nvPr/>
        </p:nvSpPr>
        <p:spPr>
          <a:xfrm>
            <a:off x="2286000" y="5440680"/>
            <a:ext cx="2386584" cy="502920"/>
          </a:xfrm>
          <a:prstGeom prst="rect">
            <a:avLst/>
          </a:prstGeom>
          <a:noFill/>
          <a:ln/>
        </p:spPr>
        <p:txBody>
          <a:bodyPr wrap="square" lIns="0" tIns="0" rIns="0" bIns="0" rtlCol="0" anchor="ctr"/>
          <a:lstStyle/>
          <a:p>
            <a:pPr algn="ctr" indent="0" marL="0">
              <a:buNone/>
            </a:pPr>
            <a:r>
              <a:rPr lang="en-US" sz="1400" b="1" dirty="0">
                <a:solidFill>
                  <a:schemeClr val="tx1"/>
                </a:solidFill>
              </a:rPr>
              <a:t>Node.js (Express)</a:t>
            </a:r>
            <a:endParaRPr lang="en-US" sz="1400" dirty="0"/>
          </a:p>
        </p:txBody>
      </p:sp>
      <p:sp>
        <p:nvSpPr>
          <p:cNvPr id="41" name="chip"/>
          <p:cNvSpPr/>
          <p:nvPr/>
        </p:nvSpPr>
        <p:spPr>
          <a:xfrm>
            <a:off x="4855464" y="5440680"/>
            <a:ext cx="960120" cy="502920"/>
          </a:xfrm>
          <a:prstGeom prst="roundRect">
            <a:avLst>
              <a:gd name="adj" fmla="val 49091"/>
            </a:avLst>
          </a:prstGeom>
          <a:solidFill>
            <a:srgbClr val="EEF5F0"/>
          </a:solidFill>
          <a:ln w="12700">
            <a:solidFill>
              <a:srgbClr val="EEF5F0"/>
            </a:solidFill>
            <a:prstDash val="solid"/>
          </a:ln>
        </p:spPr>
      </p:sp>
      <p:sp>
        <p:nvSpPr>
          <p:cNvPr id="42" name="Text 40"/>
          <p:cNvSpPr txBox="1"/>
          <p:nvPr/>
        </p:nvSpPr>
        <p:spPr>
          <a:xfrm>
            <a:off x="4855464" y="5440680"/>
            <a:ext cx="960120" cy="502920"/>
          </a:xfrm>
          <a:prstGeom prst="rect">
            <a:avLst/>
          </a:prstGeom>
          <a:noFill/>
          <a:ln/>
        </p:spPr>
        <p:txBody>
          <a:bodyPr wrap="square" lIns="0" tIns="0" rIns="0" bIns="0" rtlCol="0" anchor="ctr"/>
          <a:lstStyle/>
          <a:p>
            <a:pPr algn="ctr" indent="0" marL="0">
              <a:buNone/>
            </a:pPr>
            <a:r>
              <a:rPr lang="en-US" sz="1400" b="1" dirty="0">
                <a:solidFill>
                  <a:schemeClr val="tx1"/>
                </a:solidFill>
              </a:rPr>
              <a:t>React</a:t>
            </a:r>
            <a:endParaRPr lang="en-US" sz="1400" dirty="0"/>
          </a:p>
        </p:txBody>
      </p:sp>
      <p:sp>
        <p:nvSpPr>
          <p:cNvPr id="43" name="chip"/>
          <p:cNvSpPr/>
          <p:nvPr/>
        </p:nvSpPr>
        <p:spPr>
          <a:xfrm>
            <a:off x="5998464" y="5440680"/>
            <a:ext cx="2670048" cy="502920"/>
          </a:xfrm>
          <a:prstGeom prst="roundRect">
            <a:avLst>
              <a:gd name="adj" fmla="val 49091"/>
            </a:avLst>
          </a:prstGeom>
          <a:solidFill>
            <a:srgbClr val="EEF5F0"/>
          </a:solidFill>
          <a:ln w="12700">
            <a:solidFill>
              <a:srgbClr val="EEF5F0"/>
            </a:solidFill>
            <a:prstDash val="solid"/>
          </a:ln>
        </p:spPr>
      </p:sp>
      <p:sp>
        <p:nvSpPr>
          <p:cNvPr id="44" name="Text 42"/>
          <p:cNvSpPr txBox="1"/>
          <p:nvPr/>
        </p:nvSpPr>
        <p:spPr>
          <a:xfrm>
            <a:off x="5998464" y="5440680"/>
            <a:ext cx="2670048" cy="502920"/>
          </a:xfrm>
          <a:prstGeom prst="rect">
            <a:avLst/>
          </a:prstGeom>
          <a:noFill/>
          <a:ln/>
        </p:spPr>
        <p:txBody>
          <a:bodyPr wrap="square" lIns="0" tIns="0" rIns="0" bIns="0" rtlCol="0" anchor="ctr"/>
          <a:lstStyle/>
          <a:p>
            <a:pPr algn="ctr" indent="0" marL="0">
              <a:buNone/>
            </a:pPr>
            <a:r>
              <a:rPr lang="en-US" sz="1400" b="1" dirty="0">
                <a:solidFill>
                  <a:schemeClr val="tx1"/>
                </a:solidFill>
              </a:rPr>
              <a:t>생성형 AI 바이브코딩</a:t>
            </a:r>
            <a:endParaRPr lang="en-US" sz="1400" dirty="0"/>
          </a:p>
        </p:txBody>
      </p:sp>
      <p:sp>
        <p:nvSpPr>
          <p:cNvPr id="45" name="chip"/>
          <p:cNvSpPr/>
          <p:nvPr/>
        </p:nvSpPr>
        <p:spPr>
          <a:xfrm>
            <a:off x="8851392" y="5440680"/>
            <a:ext cx="1078992" cy="502920"/>
          </a:xfrm>
          <a:prstGeom prst="roundRect">
            <a:avLst>
              <a:gd name="adj" fmla="val 49091"/>
            </a:avLst>
          </a:prstGeom>
          <a:solidFill>
            <a:srgbClr val="EEF5F0"/>
          </a:solidFill>
          <a:ln w="12700">
            <a:solidFill>
              <a:srgbClr val="EEF5F0"/>
            </a:solidFill>
            <a:prstDash val="solid"/>
          </a:ln>
        </p:spPr>
      </p:sp>
      <p:sp>
        <p:nvSpPr>
          <p:cNvPr id="46" name="Text 44"/>
          <p:cNvSpPr txBox="1"/>
          <p:nvPr/>
        </p:nvSpPr>
        <p:spPr>
          <a:xfrm>
            <a:off x="8851392" y="5440680"/>
            <a:ext cx="1078992" cy="502920"/>
          </a:xfrm>
          <a:prstGeom prst="rect">
            <a:avLst/>
          </a:prstGeom>
          <a:noFill/>
          <a:ln/>
        </p:spPr>
        <p:txBody>
          <a:bodyPr wrap="square" lIns="0" tIns="0" rIns="0" bIns="0" rtlCol="0" anchor="ctr"/>
          <a:lstStyle/>
          <a:p>
            <a:pPr algn="ctr" indent="0" marL="0">
              <a:buNone/>
            </a:pPr>
            <a:r>
              <a:rPr lang="en-US" sz="1400" b="1" dirty="0">
                <a:solidFill>
                  <a:schemeClr val="tx1"/>
                </a:solidFill>
              </a:rPr>
              <a:t>GitHub</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B8C"/>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731520" y="1463040"/>
            <a:ext cx="6949440" cy="457200"/>
          </a:xfrm>
          <a:prstGeom prst="rect">
            <a:avLst/>
          </a:prstGeom>
          <a:noFill/>
          <a:ln/>
        </p:spPr>
        <p:txBody>
          <a:bodyPr wrap="square" lIns="0" tIns="0" rIns="0" bIns="0" rtlCol="0"/>
          <a:lstStyle/>
          <a:p>
            <a:pPr indent="0" marL="0">
              <a:buNone/>
            </a:pPr>
            <a:r>
              <a:rPr lang="en-US" sz="1600" b="1" dirty="0">
                <a:solidFill>
                  <a:schemeClr val="accent3"/>
                </a:solidFill>
              </a:rPr>
              <a:t>다시, 캠퍼스</a:t>
            </a:r>
            <a:endParaRPr lang="en-US" sz="1600" dirty="0"/>
          </a:p>
        </p:txBody>
      </p:sp>
      <p:sp>
        <p:nvSpPr>
          <p:cNvPr id="3" name="Text 0"/>
          <p:cNvSpPr/>
          <p:nvPr>
            <p:ph idx="101" type="title" hasCustomPrompt="1"/>
          </p:nvPr>
        </p:nvSpPr>
        <p:spPr>
          <a:xfrm>
            <a:off x="731520" y="2011680"/>
            <a:ext cx="6949440" cy="2194560"/>
          </a:xfrm>
          <a:prstGeom prst="rect">
            <a:avLst/>
          </a:prstGeom>
          <a:noFill/>
          <a:ln/>
        </p:spPr>
        <p:txBody>
          <a:bodyPr wrap="square" lIns="0" tIns="0" rIns="0" bIns="0" rtlCol="0" anchor="t"/>
          <a:lstStyle/>
          <a:p>
            <a:pPr algn="l" indent="0" marL="0">
              <a:buNone/>
            </a:pPr>
            <a:r>
              <a:rPr lang="en-US" sz="4800" b="1" dirty="0">
                <a:solidFill>
                  <a:schemeClr val="bg1"/>
                </a:solidFill>
              </a:rPr>
              <a:t>버려질 물건을</a:t>
            </a:r>
            <a:endParaRPr lang="en-US" sz="4800" dirty="0"/>
          </a:p>
          <a:p>
            <a:pPr algn="l" indent="0" marL="0">
              <a:buNone/>
            </a:pPr>
            <a:r>
              <a:rPr lang="en-US" sz="4800" b="1" dirty="0">
                <a:solidFill>
                  <a:schemeClr val="bg1"/>
                </a:solidFill>
              </a:rPr>
              <a:t>다음 학생에게</a:t>
            </a:r>
            <a:endParaRPr lang="en-US" sz="4800" dirty="0"/>
          </a:p>
        </p:txBody>
      </p:sp>
      <p:sp>
        <p:nvSpPr>
          <p:cNvPr id="4" name="Text 0"/>
          <p:cNvSpPr/>
          <p:nvPr>
            <p:ph idx="102" type="body" hasCustomPrompt="1"/>
          </p:nvPr>
        </p:nvSpPr>
        <p:spPr>
          <a:xfrm>
            <a:off x="731520" y="4389120"/>
            <a:ext cx="6949440" cy="731520"/>
          </a:xfrm>
          <a:prstGeom prst="rect">
            <a:avLst/>
          </a:prstGeom>
          <a:noFill/>
          <a:ln/>
        </p:spPr>
        <p:txBody>
          <a:bodyPr wrap="square" lIns="0" tIns="0" rIns="0" bIns="0" rtlCol="0" anchor="t"/>
          <a:lstStyle/>
          <a:p>
            <a:pPr indent="0" marL="0">
              <a:buNone/>
            </a:pPr>
            <a:r>
              <a:rPr lang="en-US" sz="2000" dirty="0">
                <a:solidFill>
                  <a:schemeClr val="bg2"/>
                </a:solidFill>
              </a:rPr>
              <a:t>감사합니다. 질문 받겠습니다.</a:t>
            </a:r>
            <a:endParaRPr lang="en-US" sz="2000" dirty="0"/>
          </a:p>
        </p:txBody>
      </p:sp>
      <p:sp>
        <p:nvSpPr>
          <p:cNvPr id="5" name="hero-circle"/>
          <p:cNvSpPr/>
          <p:nvPr/>
        </p:nvSpPr>
        <p:spPr>
          <a:xfrm>
            <a:off x="8138160" y="1463040"/>
            <a:ext cx="3291840" cy="3291840"/>
          </a:xfrm>
          <a:prstGeom prst="ellipse">
            <a:avLst/>
          </a:prstGeom>
          <a:solidFill>
            <a:srgbClr val="FFFFFF">
              <a:alpha val="8000"/>
            </a:srgbClr>
          </a:solidFill>
          <a:ln w="25400">
            <a:solidFill>
              <a:schemeClr val="accent3"/>
            </a:solidFill>
            <a:prstDash val="solid"/>
          </a:ln>
        </p:spPr>
      </p:sp>
      <p:pic>
        <p:nvPicPr>
          <p:cNvPr id="6" name="hero-icon" descr="preencoded.png">    </p:cNvPr>
          <p:cNvPicPr>
            <a:picLocks noChangeAspect="1"/>
          </p:cNvPicPr>
          <p:nvPr/>
        </p:nvPicPr>
        <p:blipFill>
          <a:blip r:embed="rId1"/>
          <a:stretch>
            <a:fillRect/>
          </a:stretch>
        </p:blipFill>
        <p:spPr>
          <a:xfrm>
            <a:off x="8869680" y="2194560"/>
            <a:ext cx="1828800" cy="1828800"/>
          </a:xfrm>
          <a:prstGeom prst="rect">
            <a:avLst/>
          </a:prstGeom>
        </p:spPr>
      </p:pic>
    </p:spTree>
  </p:cSld>
  <p:clrMapOvr>
    <a:masterClrMapping/>
  </p:clrMapOvr>
</p:sld>
</file>

<file path=ppt/theme/theme1.xml><?xml version="1.0" encoding="utf-8"?>
<a:theme xmlns:a="http://schemas.openxmlformats.org/drawingml/2006/main" name="ReCampus">
  <a:themeElements>
    <a:clrScheme name="ReCampus">
      <a:dk1>
        <a:srgbClr val="1B2B26"/>
      </a:dk1>
      <a:lt1>
        <a:srgbClr val="FFFFFF"/>
      </a:lt1>
      <a:dk2>
        <a:srgbClr val="1F4E3D"/>
      </a:dk2>
      <a:lt2>
        <a:srgbClr val="EEF5F0"/>
      </a:lt2>
      <a:accent1>
        <a:srgbClr val="2E7D5B"/>
      </a:accent1>
      <a:accent2>
        <a:srgbClr val="F08A3C"/>
      </a:accent2>
      <a:accent3>
        <a:srgbClr val="8DBFA5"/>
      </a:accent3>
      <a:accent4>
        <a:srgbClr val="E2B93B"/>
      </a:accent4>
      <a:accent5>
        <a:srgbClr val="5B7B8C"/>
      </a:accent5>
      <a:accent6>
        <a:srgbClr val="C0504D"/>
      </a:accent6>
      <a:hlink>
        <a:srgbClr val="2E7D5B"/>
      </a:hlink>
      <a:folHlink>
        <a:srgbClr val="5B7B8C"/>
      </a:folHlink>
    </a:clrScheme>
    <a:fontScheme name="ReCampus">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다시, 캠퍼스 (ReCampus) 1차 기획 발표</dc:title>
  <dc:subject>PptxGenJS Presentation</dc:subject>
  <dc:creator>이연주</dc:creator>
  <cp:lastModifiedBy>이연주</cp:lastModifiedBy>
  <cp:revision>1</cp:revision>
  <dcterms:created xsi:type="dcterms:W3CDTF">2026-10-09T16:58:23Z</dcterms:created>
  <dcterms:modified xsi:type="dcterms:W3CDTF">2026-10-09T16:58:23Z</dcterms:modified>
</cp:coreProperties>
</file>